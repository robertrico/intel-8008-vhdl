
<file path=[Content_Types].xml><?xml version="1.0" encoding="utf-8"?>
<Types xmlns="http://schemas.openxmlformats.org/package/2006/content-types">
  <Default Extension="ashx" ContentType="image/pn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62"/>
    <p:restoredTop sz="94672"/>
  </p:normalViewPr>
  <p:slideViewPr>
    <p:cSldViewPr snapToGrid="0" snapToObjects="1">
      <p:cViewPr varScale="1">
        <p:scale>
          <a:sx n="251" d="100"/>
          <a:sy n="251" d="100"/>
        </p:scale>
        <p:origin x="208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57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One-liner intro. "In 1972 Intel shipped the first 8-bit microprocessor. I spent 8 months bringing it back — and tonight it’s running on the table." Deck color story: Intel blue until we reach the FPGA; charcoal+yellow (Lattice) from there — the theme itself says whose world we’re in. Never say it out loud. Chip photo: Konstantin Lanzet, Wikimedia Commons, CC BY-SA 3.0.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18 pins — that single number causes most of the weirdness coming up. Modern context: an ATtiny has more pins. Chip photo: Konstantin Lanzet, Wikimedia Commons, CC BY-SA 3.0.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ISA was CTC’s design, not Intel’s. TI beat everyone to silicon but never productized — the 8008 outlasted it by shipping.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Bridge slide — plants SCELBI now so the demos later have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scope shots are from my bench — this is the FPGA generating the two phases. In 1972 you built this from discrete logic before the CPU would even blink.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"Tri-plexed" bus. Every memory access is a little three-act play. The CPU also broadcasts its internal state on pins S0-S2 so external logic can follow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why "just wire up the CPU" was never an option — in 1972 or now. The support glue is half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Remember this one — it becomes the heart of the final design later. Implemented structurally, exactly as drawn, the stack-wrap behavior falls out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THEME FLIP: we just left Intel’s world (blue) and entered Lattice’s (charcoal + yellow) — the deck stays this way to the end. Numbers from the real b8008_basic build reports: 1,672/43,848 LUT4s (3%), 8/108 block RAMs (7%), fmax ~95 MHz vs 25 MHz system clock. The chip is comically oversized for the job — the whole 1972 rack fits in a corner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the software folks: the 8008 design isn’t simulated on the board — the board is wired up as an 8008. All that 1972 support glue — clocks, latches, ROM, RAM, UART — fits inside the same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Don’t linger. "Verbose but strict — it catches a class of mistakes at compile time, which matters when your collaborator is an AI."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 honestly: this was NOT "AI, build me an 8008." Eight months of iteration, and I threw the whole thing away twice. Here’s what the first two attempts taught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failure defined the whole methodology afterward: sim-pass is a hypothesis, hardware is the proof. The v8008 rewrite then failed differently — too clever, too entangled. Two failures, one diagnosis: complexity nobody could reason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transferable lesson for this audience: AI collaboration shifts your work from writing to specifying and verifying. You must know enough to catch it being confidently wrong — and it will be. SEGUE: "So attempt #3 needed a design that a human AND an AI could each fully reason about. Turns out Intel drew it for us in 1972."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two failures from complexity, the answer was radical simplicity: stop inventing an architecture and copy the one on the datasheet. Walk the diagram: address stack, scratchpad registers, ALU, instruction register/decoder, timing &amp; control. Every box becomes a VHDL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Direct answer to the s8008 postmortem: when a module can’t know about instructions, it can’t harbor an instruction-specific bug. Debugging becomes: which control signal was wrong, and when? Also the AI payoff: a 70-line module with one job is something Claude gets right — and something I can fully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CALL/RET/RST semantics — even the stack-wrap behavior from Weirdness #4 — emerge from structure, not from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 self-modifying 1973 game and a floating-point interpreter both run, the CPU is right in ways no directed test can claim. This software exercised corners I’d never have thought to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"Cycle-exact" means: not just the right answer — the right answer in exactly the number of clock states the 1972 datasheet specifies, for every instruction class. Optional: swap table for green run_all_tests.sh terminal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Rig (rig slide cut — say it here): Versa board, minicom 115200 8N1, local echo off, DEL for rubout; monitor commands D/W/L/G; DIP switches = interrupts + READY/WAIT.</a:t>
            </a:r>
          </a:p>
          <a:p>
            <a:r>
              <a:t>DEMO CHEAT SHEET (verify commands before talk):</a:t>
            </a:r>
          </a:p>
          <a:p>
            <a:r>
              <a:t>• Pi: L in monitor → send hex via send_hex.py → G 0040. ~75 s at 500 kHz for 50 digits — narrate history while it grinds. 49/50 digits correct; the 50th is the ORIGINAL program’s guard-byte truncation — great trivia beat.</a:t>
            </a:r>
          </a:p>
          <a:p>
            <a:r>
              <a:t>• Calc: load, G, type 12.2 X 2.2 = live.</a:t>
            </a:r>
          </a:p>
          <a:p>
            <a:r>
              <a:t>• HEXPAWN: play 2 quick games, point out it stops making the losing move. DROP CANDIDATE if running long.</a:t>
            </a:r>
          </a:p>
          <a:p>
            <a:r>
              <a:t>• Tiny OS: power-cycle board into b8008_basic bitstream. Type a 3-line FOR/NEXT program, RUN, MON, D the program region, G 1FB6, LIST — program survived.</a:t>
            </a:r>
          </a:p>
          <a:p>
            <a:r>
              <a:t>• Fallback: pre-recorded terminal captures of all four in case hardware misbehaves.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human point: the 8008’s designers had no simulator, no regression suite, no second chances on a mask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Fill in real repo URL if/when public. Invite people to type at the machine — most memorable 8-bit demo is the one they 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ash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ashx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2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tel_c8008_chi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975" y="1787001"/>
            <a:ext cx="5120640" cy="3283997"/>
          </a:xfrm>
          <a:prstGeom prst="rect">
            <a:avLst/>
          </a:prstGeom>
          <a:ln w="9525">
            <a:solidFill>
              <a:srgbClr val="8D8D8D"/>
            </a:solidFill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640080" y="2011680"/>
            <a:ext cx="5852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C7FD"/>
                </a:solidFill>
                <a:latin typeface="Aptos Mono"/>
              </a:rPr>
              <a:t>b8008</a:t>
            </a:r>
          </a:p>
          <a:p>
            <a:pPr>
              <a:spcBef>
                <a:spcPts val="600"/>
              </a:spcBef>
            </a:pPr>
            <a:r>
              <a:rPr sz="3000" b="1">
                <a:solidFill>
                  <a:srgbClr val="F2F2F2"/>
                </a:solidFill>
                <a:latin typeface="Aptos"/>
              </a:rPr>
              <a:t>Resurrecting the World’s First
8-Bit Microprocessor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C9D6E2"/>
                </a:solidFill>
                <a:latin typeface="Aptos"/>
              </a:rPr>
              <a:t>A cycle-exact Intel 8008 in VHDL,
built with an AI pair programmer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F2F2F2"/>
                </a:solidFill>
                <a:latin typeface="Aptos"/>
              </a:rPr>
              <a:t>Robert 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65960"/>
            <a:ext cx="1463040" cy="41148"/>
          </a:xfrm>
          <a:prstGeom prst="rect">
            <a:avLst/>
          </a:prstGeom>
          <a:solidFill>
            <a:srgbClr val="00C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ntel_1968_on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806440"/>
            <a:ext cx="803515" cy="457200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713232" y="6373368"/>
            <a:ext cx="803514" cy="41148"/>
          </a:xfrm>
          <a:prstGeom prst="rect">
            <a:avLst/>
          </a:prstGeom>
          <a:solidFill>
            <a:srgbClr val="00C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attice_logo_on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2546" y="5888736"/>
            <a:ext cx="1605942" cy="292608"/>
          </a:xfrm>
          <a:prstGeom prst="rect">
            <a:avLst/>
          </a:prstGeom>
          <a:effectLst/>
        </p:spPr>
      </p:pic>
      <p:sp>
        <p:nvSpPr>
          <p:cNvPr id="8" name="Rectangle 7"/>
          <p:cNvSpPr/>
          <p:nvPr/>
        </p:nvSpPr>
        <p:spPr>
          <a:xfrm>
            <a:off x="2202546" y="6373368"/>
            <a:ext cx="1605941" cy="41148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8B5"/>
                </a:solidFill>
                <a:latin typeface="Aptos"/>
              </a:rPr>
              <a:t>ACT I —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68B5"/>
                </a:solidFill>
                <a:latin typeface="Aptos"/>
              </a:rPr>
              <a:t>The Intel 8008 (April 1972)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ntel_1968_on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3119" y="320040"/>
            <a:ext cx="835656" cy="475488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548640" y="173736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World’s first 8-bit microprocessor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3,500 transistors, 10 µm PMOS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</a:t>
            </a:r>
            <a:r>
              <a:rPr sz="1900" b="1">
                <a:solidFill>
                  <a:srgbClr val="333333"/>
                </a:solidFill>
                <a:latin typeface="Aptos"/>
              </a:rPr>
              <a:t>18 pins</a:t>
            </a:r>
            <a:r>
              <a:rPr sz="1900" b="0">
                <a:solidFill>
                  <a:srgbClr val="333333"/>
                </a:solidFill>
                <a:latin typeface="Aptos"/>
              </a:rPr>
              <a:t> — for a CPU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500 kHz clock; instructions take 5, 8, or 11 T-states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16 KB address space (14-bit)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Seven 8-bit registers (A, B, C, D, E, H, L)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48 instructions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B47517-8BA0-7395-98C3-F96F5CE32FE8}"/>
              </a:ext>
            </a:extLst>
          </p:cNvPr>
          <p:cNvSpPr/>
          <p:nvPr/>
        </p:nvSpPr>
        <p:spPr>
          <a:xfrm>
            <a:off x="7183120" y="1205865"/>
            <a:ext cx="3434080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977D20-F678-33D7-8E6E-92A499B113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649" r="29177"/>
          <a:stretch>
            <a:fillRect/>
          </a:stretch>
        </p:blipFill>
        <p:spPr>
          <a:xfrm>
            <a:off x="7299959" y="1305560"/>
            <a:ext cx="3200401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8B5"/>
                </a:solidFill>
                <a:latin typeface="Aptos"/>
              </a:rPr>
              <a:t>ACT I —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68B5"/>
                </a:solidFill>
                <a:latin typeface="Aptos"/>
              </a:rPr>
              <a:t>Built for a terminal, rejected by its buyer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•  1969-70: </a:t>
            </a:r>
            <a:r>
              <a:rPr sz="1800" b="1">
                <a:solidFill>
                  <a:srgbClr val="333333"/>
                </a:solidFill>
                <a:latin typeface="Aptos"/>
              </a:rPr>
              <a:t>CTC (Computer Terminal Corp., later Datapoint)</a:t>
            </a:r>
            <a:r>
              <a:rPr sz="1800" b="0">
                <a:solidFill>
                  <a:srgbClr val="333333"/>
                </a:solidFill>
                <a:latin typeface="Aptos"/>
              </a:rPr>
              <a:t> designs the Datapoint 2200 "programmable terminal" — CPU built from ~100 TTL chips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•  CTC asks </a:t>
            </a:r>
            <a:r>
              <a:rPr sz="1800" b="1">
                <a:solidFill>
                  <a:srgbClr val="333333"/>
                </a:solidFill>
                <a:latin typeface="Aptos"/>
              </a:rPr>
              <a:t>Intel</a:t>
            </a:r>
            <a:r>
              <a:rPr sz="1800" b="0">
                <a:solidFill>
                  <a:srgbClr val="333333"/>
                </a:solidFill>
                <a:latin typeface="Aptos"/>
              </a:rPr>
              <a:t> and </a:t>
            </a:r>
            <a:r>
              <a:rPr sz="1800" b="1">
                <a:solidFill>
                  <a:srgbClr val="333333"/>
                </a:solidFill>
                <a:latin typeface="Aptos"/>
              </a:rPr>
              <a:t>Texas Instruments</a:t>
            </a:r>
            <a:r>
              <a:rPr sz="1800" b="0">
                <a:solidFill>
                  <a:srgbClr val="333333"/>
                </a:solidFill>
                <a:latin typeface="Aptos"/>
              </a:rPr>
              <a:t> to shrink it to one chip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•  TI’s </a:t>
            </a:r>
            <a:r>
              <a:rPr sz="1800" b="1">
                <a:solidFill>
                  <a:srgbClr val="333333"/>
                </a:solidFill>
                <a:latin typeface="Aptos"/>
              </a:rPr>
              <a:t>TMX 1795</a:t>
            </a:r>
            <a:r>
              <a:rPr sz="1800" b="0">
                <a:solidFill>
                  <a:srgbClr val="333333"/>
                </a:solidFill>
                <a:latin typeface="Aptos"/>
              </a:rPr>
              <a:t> (1971): technically first 8-bit CPU chip — never shipped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•  Intel’s chip: late, and slower than CTC’s TTL board — </a:t>
            </a:r>
            <a:r>
              <a:rPr sz="1800" b="1">
                <a:solidFill>
                  <a:srgbClr val="333333"/>
                </a:solidFill>
                <a:latin typeface="Aptos"/>
              </a:rPr>
              <a:t>CTC walks away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•  Intel keeps the rights in trade, sells it as the </a:t>
            </a:r>
            <a:r>
              <a:rPr sz="1800" b="1">
                <a:solidFill>
                  <a:srgbClr val="333333"/>
                </a:solidFill>
                <a:latin typeface="Aptos"/>
              </a:rPr>
              <a:t>8008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BA3EDC-9A3B-EF62-E7EA-11C409C5D737}"/>
              </a:ext>
            </a:extLst>
          </p:cNvPr>
          <p:cNvSpPr/>
          <p:nvPr/>
        </p:nvSpPr>
        <p:spPr>
          <a:xfrm>
            <a:off x="7401560" y="2021840"/>
            <a:ext cx="4648200" cy="3114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3722AE-74F7-84F5-4F7B-9D0DC2FAE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210" y="2118360"/>
            <a:ext cx="44069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8B5"/>
                </a:solidFill>
                <a:latin typeface="Aptos"/>
              </a:rPr>
              <a:t>ACT I —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68B5"/>
                </a:solidFill>
                <a:latin typeface="Aptos"/>
              </a:rPr>
              <a:t>Your laptop still carries its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965960" cy="1051560"/>
          </a:xfrm>
          <a:prstGeom prst="round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800" b="1">
                <a:solidFill>
                  <a:srgbClr val="F2F2F2"/>
                </a:solidFill>
                <a:latin typeface="Aptos"/>
              </a:rPr>
              <a:t>8008</a:t>
            </a:r>
          </a:p>
          <a:p>
            <a:pPr algn="ctr"/>
            <a:r>
              <a:rPr sz="1800" b="1">
                <a:solidFill>
                  <a:srgbClr val="F2F2F2"/>
                </a:solidFill>
                <a:latin typeface="Aptos"/>
              </a:rPr>
              <a:t>1972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39" y="2487168"/>
            <a:ext cx="731521" cy="0"/>
          </a:xfrm>
          <a:prstGeom prst="bentConnector3">
            <a:avLst/>
          </a:prstGeom>
          <a:ln w="28575">
            <a:solidFill>
              <a:srgbClr val="0068B5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66160" y="1965960"/>
            <a:ext cx="1965960" cy="1051560"/>
          </a:xfrm>
          <a:prstGeom prst="round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800" b="1">
                <a:solidFill>
                  <a:srgbClr val="F2F2F2"/>
                </a:solidFill>
                <a:latin typeface="Aptos"/>
              </a:rPr>
              <a:t>8080</a:t>
            </a:r>
          </a:p>
          <a:p>
            <a:pPr algn="ctr"/>
            <a:r>
              <a:rPr sz="1800" b="1">
                <a:solidFill>
                  <a:srgbClr val="F2F2F2"/>
                </a:solidFill>
                <a:latin typeface="Aptos"/>
              </a:rPr>
              <a:t>1974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0" y="2487168"/>
            <a:ext cx="731519" cy="0"/>
          </a:xfrm>
          <a:prstGeom prst="bentConnector3">
            <a:avLst/>
          </a:prstGeom>
          <a:ln w="28575">
            <a:solidFill>
              <a:srgbClr val="0068B5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1965960"/>
            <a:ext cx="1965960" cy="1051560"/>
          </a:xfrm>
          <a:prstGeom prst="round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800" b="1">
                <a:solidFill>
                  <a:srgbClr val="F2F2F2"/>
                </a:solidFill>
                <a:latin typeface="Aptos"/>
              </a:rPr>
              <a:t>8086</a:t>
            </a:r>
          </a:p>
          <a:p>
            <a:pPr algn="ctr"/>
            <a:r>
              <a:rPr sz="1800" b="1">
                <a:solidFill>
                  <a:srgbClr val="F2F2F2"/>
                </a:solidFill>
                <a:latin typeface="Aptos"/>
              </a:rPr>
              <a:t>1978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21040" y="2487168"/>
            <a:ext cx="731520" cy="0"/>
          </a:xfrm>
          <a:prstGeom prst="bentConnector3">
            <a:avLst/>
          </a:prstGeom>
          <a:ln w="28575">
            <a:solidFill>
              <a:srgbClr val="0068B5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52560" y="1965960"/>
            <a:ext cx="1965960" cy="1051560"/>
          </a:xfrm>
          <a:prstGeom prst="roundRect">
            <a:avLst/>
          </a:prstGeom>
          <a:solidFill>
            <a:srgbClr val="004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800" b="1">
                <a:solidFill>
                  <a:srgbClr val="00C7FD"/>
                </a:solidFill>
                <a:latin typeface="Aptos"/>
              </a:rPr>
              <a:t>x86</a:t>
            </a:r>
          </a:p>
          <a:p>
            <a:pPr algn="ctr"/>
            <a:r>
              <a:rPr sz="1800" b="1">
                <a:solidFill>
                  <a:srgbClr val="00C7FD"/>
                </a:solidFill>
                <a:latin typeface="Aptos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The instruction-set lineage in every PC today traces back to a terminal company in San Antonio, Texas.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And in 1974, the </a:t>
            </a:r>
            <a:r>
              <a:rPr sz="1800" b="1">
                <a:solidFill>
                  <a:srgbClr val="333333"/>
                </a:solidFill>
                <a:latin typeface="Aptos"/>
              </a:rPr>
              <a:t>SCELBI-8H</a:t>
            </a:r>
            <a:r>
              <a:rPr sz="1800" b="0">
                <a:solidFill>
                  <a:srgbClr val="333333"/>
                </a:solidFill>
                <a:latin typeface="Aptos"/>
              </a:rPr>
              <a:t> — arguably the first personal computer — was built around this chip. That’s where our demo software comes from.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0529E2-B44B-6D64-3572-4D3AFFF901B8}"/>
              </a:ext>
            </a:extLst>
          </p:cNvPr>
          <p:cNvSpPr/>
          <p:nvPr/>
        </p:nvSpPr>
        <p:spPr>
          <a:xfrm>
            <a:off x="8869680" y="4393224"/>
            <a:ext cx="2468880" cy="2372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B03D3B-0307-0997-B960-A35E21D27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4770" y="4486615"/>
            <a:ext cx="2288540" cy="21824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8B5"/>
                </a:solidFill>
                <a:latin typeface="Aptos"/>
              </a:rPr>
              <a:t>ACT I — THE QUIRKS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68B5"/>
                </a:solidFill>
                <a:latin typeface="Aptos"/>
              </a:rPr>
              <a:t>Weirdness #1 — Two clocks, never high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The 8008 needs </a:t>
            </a:r>
            <a:r>
              <a:rPr sz="1800" b="1">
                <a:solidFill>
                  <a:srgbClr val="333333"/>
                </a:solidFill>
                <a:latin typeface="Aptos"/>
              </a:rPr>
              <a:t>two non-overlapping clock phases</a:t>
            </a:r>
            <a:r>
              <a:rPr sz="1800" b="0">
                <a:solidFill>
                  <a:srgbClr val="333333"/>
                </a:solidFill>
                <a:latin typeface="Aptos"/>
              </a:rPr>
              <a:t> (φ1, φ2).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No single clock pin. External circuitry must generate both phases with guaranteed dead time between them.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Get the overlap wrong → internal buses fight → </a:t>
            </a:r>
            <a:r>
              <a:rPr sz="1800" b="1">
                <a:solidFill>
                  <a:srgbClr val="333333"/>
                </a:solidFill>
                <a:latin typeface="Aptos"/>
              </a:rPr>
              <a:t>undefined behavior</a:t>
            </a:r>
            <a:r>
              <a:rPr sz="1800" b="0">
                <a:solidFill>
                  <a:srgbClr val="333333"/>
                </a:solidFill>
                <a:latin typeface="Aptos"/>
              </a:rPr>
              <a:t>.</a:t>
            </a:r>
          </a:p>
        </p:txBody>
      </p:sp>
      <p:pic>
        <p:nvPicPr>
          <p:cNvPr id="6" name="Picture 5" descr="two_phase_oscope_cap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37360"/>
            <a:ext cx="3733800" cy="2240280"/>
          </a:xfrm>
          <a:prstGeom prst="rect">
            <a:avLst/>
          </a:prstGeom>
          <a:ln w="9525">
            <a:solidFill>
              <a:srgbClr val="8D8D8D"/>
            </a:solidFill>
          </a:ln>
          <a:effectLst/>
        </p:spPr>
      </p:pic>
      <p:pic>
        <p:nvPicPr>
          <p:cNvPr id="7" name="Picture 6" descr="two_phase_oscope_cap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178807"/>
            <a:ext cx="3733800" cy="2240280"/>
          </a:xfrm>
          <a:prstGeom prst="rect">
            <a:avLst/>
          </a:prstGeom>
          <a:ln w="9525">
            <a:solidFill>
              <a:srgbClr val="8D8D8D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943600" y="64922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8D8D8D"/>
                </a:solidFill>
                <a:latin typeface="Aptos"/>
              </a:rPr>
              <a:t>Real capture: the FPGA generating φ1/φ2 on my bench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8B5"/>
                </a:solidFill>
                <a:latin typeface="Aptos"/>
              </a:rPr>
              <a:t>ACT I — THE QUIRKS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68B5"/>
                </a:solidFill>
                <a:latin typeface="Aptos"/>
              </a:rPr>
              <a:t>Weirdness #2 — One bus, three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18 pins means </a:t>
            </a:r>
            <a:r>
              <a:rPr sz="1800" b="1">
                <a:solidFill>
                  <a:srgbClr val="333333"/>
                </a:solidFill>
                <a:latin typeface="Aptos"/>
              </a:rPr>
              <a:t>8 data pins total</a:t>
            </a:r>
            <a:r>
              <a:rPr sz="1800" b="0">
                <a:solidFill>
                  <a:srgbClr val="333333"/>
                </a:solidFill>
                <a:latin typeface="Aptos"/>
              </a:rPr>
              <a:t>. So the bus is time-multiplexed, three ways, every machine cycle: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834640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T-state</a:t>
                      </a:r>
                    </a:p>
                  </a:txBody>
                  <a:tcPr marL="109728" marR="109728" anchor="ctr">
                    <a:solidFill>
                      <a:srgbClr val="0068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What’s on the 8 pins</a:t>
                      </a:r>
                    </a:p>
                  </a:txBody>
                  <a:tcPr marL="109728" marR="109728" anchor="ctr">
                    <a:solidFill>
                      <a:srgbClr val="0068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Aptos"/>
                        </a:rPr>
                        <a:t>T1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Aptos"/>
                        </a:rPr>
                        <a:t>Address, low byte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Aptos"/>
                        </a:rPr>
                        <a:t>T2</a:t>
                      </a:r>
                    </a:p>
                  </a:txBody>
                  <a:tcPr marL="109728" marR="10972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Aptos"/>
                        </a:rPr>
                        <a:t>Address high 6 bits + cycle type</a:t>
                      </a:r>
                    </a:p>
                  </a:txBody>
                  <a:tcPr marL="109728" marR="109728" anchor="ctr">
                    <a:solidFill>
                      <a:srgbClr val="ED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Aptos"/>
                        </a:rPr>
                        <a:t>T3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Aptos"/>
                        </a:rPr>
                        <a:t>The actual data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749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External latches must grab each piece at the right instant.</a:t>
            </a:r>
          </a:p>
        </p:txBody>
      </p:sp>
      <p:pic>
        <p:nvPicPr>
          <p:cNvPr id="8" name="Picture 7" descr="8008_instruction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577840" cy="3758393"/>
          </a:xfrm>
          <a:prstGeom prst="rect">
            <a:avLst/>
          </a:prstGeom>
          <a:ln w="9525">
            <a:solidFill>
              <a:srgbClr val="8D8D8D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17920" y="552318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8D8D8D"/>
                </a:solidFill>
                <a:latin typeface="Aptos"/>
              </a:rPr>
              <a:t>Fig. 1, 8008 User’s Manual — one instruction 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8B5"/>
                </a:solidFill>
                <a:latin typeface="Aptos"/>
              </a:rPr>
              <a:t>ACT I — THE QUIRKS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68B5"/>
                </a:solidFill>
                <a:latin typeface="Aptos"/>
              </a:rPr>
              <a:t>Weirdness #3 — It boots by being interrupted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•  No reset vector. At power-on the PC is garbage.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•  The *only* way to start it: assert the interrupt line and </a:t>
            </a:r>
            <a:r>
              <a:rPr sz="1700" b="1">
                <a:solidFill>
                  <a:srgbClr val="333333"/>
                </a:solidFill>
                <a:latin typeface="Aptos"/>
              </a:rPr>
              <a:t>jam an instruction onto the bus</a:t>
            </a:r>
            <a:r>
              <a:rPr sz="1700" b="0">
                <a:solidFill>
                  <a:srgbClr val="333333"/>
                </a:solidFill>
                <a:latin typeface="Aptos"/>
              </a:rPr>
              <a:t> (typically </a:t>
            </a:r>
            <a:r>
              <a:rPr sz="1700" b="0">
                <a:solidFill>
                  <a:srgbClr val="0068B5"/>
                </a:solidFill>
                <a:latin typeface="Aptos Mono"/>
              </a:rPr>
              <a:t>RST 0</a:t>
            </a:r>
            <a:r>
              <a:rPr sz="1700" b="0">
                <a:solidFill>
                  <a:srgbClr val="333333"/>
                </a:solidFill>
                <a:latin typeface="Aptos"/>
              </a:rPr>
              <a:t>)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•  Startup is an interrupt. Interrupts are instruction injection. It’s injection all the way down.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•  Intel’s own reference design (SIM8-01) needed </a:t>
            </a:r>
            <a:r>
              <a:rPr sz="1700" b="1">
                <a:solidFill>
                  <a:srgbClr val="333333"/>
                </a:solidFill>
                <a:latin typeface="Aptos"/>
              </a:rPr>
              <a:t>dozens of TTL support chips</a:t>
            </a:r>
            <a:r>
              <a:rPr sz="1700" b="0">
                <a:solidFill>
                  <a:srgbClr val="333333"/>
                </a:solidFill>
                <a:latin typeface="Aptos"/>
              </a:rPr>
              <a:t> just to make the CPU usable.</a:t>
            </a:r>
          </a:p>
        </p:txBody>
      </p:sp>
      <p:pic>
        <p:nvPicPr>
          <p:cNvPr id="6" name="Picture 5" descr="sim8_01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37360"/>
            <a:ext cx="5852160" cy="3831201"/>
          </a:xfrm>
          <a:prstGeom prst="rect">
            <a:avLst/>
          </a:prstGeom>
          <a:ln w="9525">
            <a:solidFill>
              <a:srgbClr val="8D8D8D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943600" y="5641713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8D8D8D"/>
                </a:solidFill>
                <a:latin typeface="Aptos"/>
              </a:rPr>
              <a:t>SIM8-01: find the CPU. (Hint: the small box in the middle.)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8B5"/>
                </a:solidFill>
                <a:latin typeface="Aptos"/>
              </a:rPr>
              <a:t>ACT I — THE QUIRKS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68B5"/>
                </a:solidFill>
                <a:latin typeface="Aptos"/>
              </a:rPr>
              <a:t>Weirdness #4 — There is no program counter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…there are </a:t>
            </a:r>
            <a:r>
              <a:rPr sz="1700" b="1">
                <a:solidFill>
                  <a:srgbClr val="333333"/>
                </a:solidFill>
                <a:latin typeface="Aptos"/>
              </a:rPr>
              <a:t>eight</a:t>
            </a:r>
            <a:r>
              <a:rPr sz="1700" b="0">
                <a:solidFill>
                  <a:srgbClr val="333333"/>
                </a:solidFill>
                <a:latin typeface="Aptos"/>
              </a:rPr>
              <a:t> of them.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The PC is whichever slot of an 8 × 14-bit address stack the stack pointer selects.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•  </a:t>
            </a:r>
            <a:r>
              <a:rPr sz="1700" b="1">
                <a:solidFill>
                  <a:srgbClr val="333333"/>
                </a:solidFill>
                <a:latin typeface="Aptos"/>
              </a:rPr>
              <a:t>CALL</a:t>
            </a:r>
            <a:r>
              <a:rPr sz="1700" b="0">
                <a:solidFill>
                  <a:srgbClr val="333333"/>
                </a:solidFill>
                <a:latin typeface="Aptos"/>
              </a:rPr>
              <a:t> = SP moves forward (old slot keeps the return address)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•  </a:t>
            </a:r>
            <a:r>
              <a:rPr sz="1700" b="1">
                <a:solidFill>
                  <a:srgbClr val="333333"/>
                </a:solidFill>
                <a:latin typeface="Aptos"/>
              </a:rPr>
              <a:t>RET</a:t>
            </a:r>
            <a:r>
              <a:rPr sz="1700" b="0">
                <a:solidFill>
                  <a:srgbClr val="333333"/>
                </a:solidFill>
                <a:latin typeface="Aptos"/>
              </a:rPr>
              <a:t> = SP moves back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•  7 levels of nesting; the 8th CALL silently wraps onto the oldest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No stack in memory. No PUSH/POP of data. </a:t>
            </a:r>
            <a:r>
              <a:rPr sz="1700" b="1">
                <a:solidFill>
                  <a:srgbClr val="333333"/>
                </a:solidFill>
                <a:latin typeface="Aptos"/>
              </a:rPr>
              <a:t>1972 had opinions.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600200"/>
            <a:ext cx="2743200" cy="530352"/>
          </a:xfrm>
          <a:prstGeom prst="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0">
                <a:solidFill>
                  <a:srgbClr val="333333"/>
                </a:solidFill>
                <a:latin typeface="Aptos"/>
              </a:rPr>
              <a:t>slot 7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2185415"/>
            <a:ext cx="2743200" cy="530352"/>
          </a:xfrm>
          <a:prstGeom prst="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0">
                <a:solidFill>
                  <a:srgbClr val="333333"/>
                </a:solidFill>
                <a:latin typeface="Aptos"/>
              </a:rPr>
              <a:t>slot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770632"/>
            <a:ext cx="2743200" cy="530352"/>
          </a:xfrm>
          <a:prstGeom prst="rect">
            <a:avLst/>
          </a:prstGeom>
          <a:solidFill>
            <a:srgbClr val="CDEBFA"/>
          </a:solidFill>
          <a:ln w="19050">
            <a:solidFill>
              <a:srgbClr val="006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0068B5"/>
                </a:solidFill>
                <a:latin typeface="Aptos"/>
              </a:rPr>
              <a:t>slot 5   ← SP  (this IS the PC)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3355848"/>
            <a:ext cx="2743200" cy="530352"/>
          </a:xfrm>
          <a:prstGeom prst="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0">
                <a:solidFill>
                  <a:srgbClr val="333333"/>
                </a:solidFill>
                <a:latin typeface="Aptos"/>
              </a:rPr>
              <a:t>slot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3941063"/>
            <a:ext cx="2743200" cy="530352"/>
          </a:xfrm>
          <a:prstGeom prst="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0">
                <a:solidFill>
                  <a:srgbClr val="333333"/>
                </a:solidFill>
                <a:latin typeface="Aptos"/>
              </a:rPr>
              <a:t>slot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4526279"/>
            <a:ext cx="2743200" cy="530352"/>
          </a:xfrm>
          <a:prstGeom prst="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0">
                <a:solidFill>
                  <a:srgbClr val="333333"/>
                </a:solidFill>
                <a:latin typeface="Aptos"/>
              </a:rPr>
              <a:t>slot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5111496"/>
            <a:ext cx="2743200" cy="530352"/>
          </a:xfrm>
          <a:prstGeom prst="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0">
                <a:solidFill>
                  <a:srgbClr val="333333"/>
                </a:solidFill>
                <a:latin typeface="Aptos"/>
              </a:rPr>
              <a:t>slot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5696712"/>
            <a:ext cx="2743200" cy="530352"/>
          </a:xfrm>
          <a:prstGeom prst="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0">
                <a:solidFill>
                  <a:srgbClr val="333333"/>
                </a:solidFill>
                <a:latin typeface="Aptos"/>
              </a:rPr>
              <a:t>slot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27647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8D8D8D"/>
                </a:solidFill>
                <a:latin typeface="Aptos"/>
              </a:rPr>
              <a:t>8 × 14-bit address stack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C220"/>
                </a:solidFill>
                <a:latin typeface="Aptos"/>
              </a:rPr>
              <a:t>ACT II — FPGA PRIMER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2F2F2"/>
                </a:solidFill>
                <a:latin typeface="Aptos"/>
              </a:rPr>
              <a:t>The FPGA I chose: Lattice ECP5-5G Versa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attice_logo_on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462" y="320040"/>
            <a:ext cx="1706313" cy="310896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548640" y="1737360"/>
            <a:ext cx="6309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F2F2F2"/>
                </a:solidFill>
                <a:latin typeface="Aptos"/>
              </a:rPr>
              <a:t>•  </a:t>
            </a:r>
            <a:r>
              <a:rPr sz="1700" b="1">
                <a:solidFill>
                  <a:srgbClr val="F2F2F2"/>
                </a:solidFill>
                <a:latin typeface="Aptos"/>
              </a:rPr>
              <a:t>LFE5UM5G-45F</a:t>
            </a:r>
            <a:r>
              <a:rPr sz="1700" b="0">
                <a:solidFill>
                  <a:srgbClr val="F2F2F2"/>
                </a:solidFill>
                <a:latin typeface="Aptos"/>
              </a:rPr>
              <a:t> — 44K LUTs, 1.9 Mb block RAM, 5 Gbps SerDes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F2F2F2"/>
                </a:solidFill>
                <a:latin typeface="Aptos"/>
              </a:rPr>
              <a:t>•  Dev board: DIP switches + LEDs become the 8008’s </a:t>
            </a:r>
            <a:r>
              <a:rPr sz="1700" b="1">
                <a:solidFill>
                  <a:srgbClr val="F2F2F2"/>
                </a:solidFill>
                <a:latin typeface="Aptos"/>
              </a:rPr>
              <a:t>front panel</a:t>
            </a:r>
            <a:r>
              <a:rPr sz="1700" b="0">
                <a:solidFill>
                  <a:srgbClr val="F2F2F2"/>
                </a:solidFill>
                <a:latin typeface="Aptos"/>
              </a:rPr>
              <a:t>; UART over USB is the terminal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F2F2F2"/>
                </a:solidFill>
                <a:latin typeface="Aptos"/>
              </a:rPr>
              <a:t>•  Best-in-class </a:t>
            </a:r>
            <a:r>
              <a:rPr sz="1700" b="1">
                <a:solidFill>
                  <a:srgbClr val="F2F2F2"/>
                </a:solidFill>
                <a:latin typeface="Aptos"/>
              </a:rPr>
              <a:t>open-source toolchain</a:t>
            </a:r>
            <a:r>
              <a:rPr sz="1700" b="0">
                <a:solidFill>
                  <a:srgbClr val="F2F2F2"/>
                </a:solidFill>
                <a:latin typeface="Aptos"/>
              </a:rPr>
              <a:t> support: Yosys + nextpnr know this chip inside out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F2F2F2"/>
                </a:solidFill>
                <a:latin typeface="Aptos"/>
              </a:rPr>
              <a:t>•  Design runs at 25 MHz system clock; timing closes at ~95 MHz. The 8008 needs </a:t>
            </a:r>
            <a:r>
              <a:rPr sz="1700" b="1">
                <a:solidFill>
                  <a:srgbClr val="F2F2F2"/>
                </a:solidFill>
                <a:latin typeface="Aptos"/>
              </a:rPr>
              <a:t>500 kHz</a:t>
            </a:r>
            <a:r>
              <a:rPr sz="1700" b="0">
                <a:solidFill>
                  <a:srgbClr val="F2F2F2"/>
                </a:solidFill>
                <a:latin typeface="Aptos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77840"/>
            <a:ext cx="6309360" cy="777240"/>
          </a:xfrm>
          <a:prstGeom prst="rect">
            <a:avLst/>
          </a:prstGeom>
          <a:solidFill>
            <a:srgbClr val="3B3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2F2F2"/>
                </a:solidFill>
                <a:latin typeface="Aptos"/>
              </a:rPr>
              <a:t>The entire 1972 computer system: 1,672 LUTs — </a:t>
            </a:r>
            <a:r>
              <a:rPr sz="1600" b="1">
                <a:solidFill>
                  <a:srgbClr val="FFC220"/>
                </a:solidFill>
                <a:latin typeface="Aptos"/>
              </a:rPr>
              <a:t>3% of the chip</a:t>
            </a:r>
          </a:p>
        </p:txBody>
      </p:sp>
      <p:pic>
        <p:nvPicPr>
          <p:cNvPr id="9" name="Picture 8" descr="ECP5-5G Versa Development Kit | Lattice Kits &amp; Boards">
            <a:extLst>
              <a:ext uri="{FF2B5EF4-FFF2-40B4-BE49-F238E27FC236}">
                <a16:creationId xmlns:a16="http://schemas.microsoft.com/office/drawing/2014/main" id="{CF3D32E1-9167-94B0-6959-3BF1CD7A1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8157" y="1864536"/>
            <a:ext cx="4250618" cy="31289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C220"/>
                </a:solidFill>
                <a:latin typeface="Aptos"/>
              </a:rPr>
              <a:t>ACT II — FPGA PRIMER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2F2F2"/>
                </a:solidFill>
                <a:latin typeface="Aptos"/>
              </a:rPr>
              <a:t>30-second FPGA primer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F2F2F2"/>
                </a:solidFill>
                <a:latin typeface="Aptos"/>
              </a:rPr>
              <a:t>•  A chip full of uncommitted logic blocks and programmable wiring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2F2F2"/>
                </a:solidFill>
                <a:latin typeface="Aptos"/>
              </a:rPr>
              <a:t>•  You describe a circuit; the toolchain configures the chip to *become* it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2F2F2"/>
                </a:solidFill>
                <a:latin typeface="Aptos"/>
              </a:rPr>
              <a:t>•  Not emulation, not software — it </a:t>
            </a:r>
            <a:r>
              <a:rPr sz="1800" b="1">
                <a:solidFill>
                  <a:srgbClr val="F2F2F2"/>
                </a:solidFill>
                <a:latin typeface="Aptos"/>
              </a:rPr>
              <a:t>is</a:t>
            </a:r>
            <a:r>
              <a:rPr sz="1800" b="0">
                <a:solidFill>
                  <a:srgbClr val="F2F2F2"/>
                </a:solidFill>
                <a:latin typeface="Aptos"/>
              </a:rPr>
              <a:t> the circuit, in real silicon, in parallel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2F2F2"/>
                </a:solidFill>
                <a:latin typeface="Aptos"/>
              </a:rPr>
              <a:t>•  This project targets a </a:t>
            </a:r>
            <a:r>
              <a:rPr sz="1800" b="1">
                <a:solidFill>
                  <a:srgbClr val="F2F2F2"/>
                </a:solidFill>
                <a:latin typeface="Aptos"/>
              </a:rPr>
              <a:t>Lattice ECP5-5G</a:t>
            </a:r>
            <a:r>
              <a:rPr sz="1800" b="0">
                <a:solidFill>
                  <a:srgbClr val="F2F2F2"/>
                </a:solidFill>
                <a:latin typeface="Aptos"/>
              </a:rPr>
              <a:t> using a fully open-source toolchain (GHDL + Yosys + nextpnr)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17972E-EBDA-743D-45A7-D667A4645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160" y="1737360"/>
            <a:ext cx="4027259" cy="26758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3F44"/>
                </a:solidFill>
                <a:latin typeface="Aptos"/>
              </a:rPr>
              <a:t>ACT II — FPGA PRIMER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Aptos"/>
              </a:rPr>
              <a:t>Hardware description languages in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Two mainstream ways to describe digital hardware — same job: describe registers and logic; tools synthesize real gates.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Aptos"/>
              </a:rPr>
              <a:t>Verilog</a:t>
            </a:r>
            <a:r>
              <a:rPr sz="1600" b="0">
                <a:solidFill>
                  <a:srgbClr val="333333"/>
                </a:solidFill>
                <a:latin typeface="Aptos"/>
              </a:rPr>
              <a:t> — C-flavored, terse, dominant in US industry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5303520" cy="2103120"/>
          </a:xfrm>
          <a:prstGeom prst="rect">
            <a:avLst/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37160" rIns="137160" bIns="109728" rtlCol="0" anchor="ctr"/>
          <a:lstStyle/>
          <a:p>
            <a:r>
              <a:rPr sz="1500">
                <a:solidFill>
                  <a:srgbClr val="F2F2F2"/>
                </a:solidFill>
                <a:latin typeface="Aptos Mono"/>
              </a:rPr>
              <a:t>always @(posedge clk)</a:t>
            </a:r>
          </a:p>
          <a:p>
            <a:r>
              <a:rPr sz="1500">
                <a:solidFill>
                  <a:srgbClr val="F2F2F2"/>
                </a:solidFill>
                <a:latin typeface="Aptos Mono"/>
              </a:rPr>
              <a:t>  if (en)</a:t>
            </a:r>
          </a:p>
          <a:p>
            <a:r>
              <a:rPr sz="1500">
                <a:solidFill>
                  <a:srgbClr val="F2F2F2"/>
                </a:solidFill>
                <a:latin typeface="Aptos Mono"/>
              </a:rPr>
              <a:t>    count &lt;= count + 1;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651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Aptos"/>
              </a:rPr>
              <a:t>VHDL</a:t>
            </a:r>
            <a:r>
              <a:rPr sz="1600" b="0">
                <a:solidFill>
                  <a:srgbClr val="333333"/>
                </a:solidFill>
                <a:latin typeface="Aptos"/>
              </a:rPr>
              <a:t> — Ada-flavored, verbose, strongly typed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063240"/>
            <a:ext cx="5303520" cy="2651760"/>
          </a:xfrm>
          <a:prstGeom prst="rect">
            <a:avLst/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37160" rIns="137160" bIns="109728" rtlCol="0" anchor="ctr"/>
          <a:lstStyle/>
          <a:p>
            <a:r>
              <a:rPr sz="1500">
                <a:solidFill>
                  <a:srgbClr val="F2F2F2"/>
                </a:solidFill>
                <a:latin typeface="Aptos Mono"/>
              </a:rPr>
              <a:t>process(clk) begin</a:t>
            </a:r>
          </a:p>
          <a:p>
            <a:r>
              <a:rPr sz="1500">
                <a:solidFill>
                  <a:srgbClr val="F2F2F2"/>
                </a:solidFill>
                <a:latin typeface="Aptos Mono"/>
              </a:rPr>
              <a:t>  if rising_edge(clk) then</a:t>
            </a:r>
          </a:p>
          <a:p>
            <a:r>
              <a:rPr sz="1500">
                <a:solidFill>
                  <a:srgbClr val="F2F2F2"/>
                </a:solidFill>
                <a:latin typeface="Aptos Mono"/>
              </a:rPr>
              <a:t>    if en = '1' then</a:t>
            </a:r>
          </a:p>
          <a:p>
            <a:r>
              <a:rPr sz="1500">
                <a:solidFill>
                  <a:srgbClr val="F2F2F2"/>
                </a:solidFill>
                <a:latin typeface="Aptos Mono"/>
              </a:rPr>
              <a:t>      count &lt;= count + 1;</a:t>
            </a:r>
          </a:p>
          <a:p>
            <a:r>
              <a:rPr sz="1500">
                <a:solidFill>
                  <a:srgbClr val="F2F2F2"/>
                </a:solidFill>
                <a:latin typeface="Aptos Mono"/>
              </a:rPr>
              <a:t>    end if;</a:t>
            </a:r>
          </a:p>
          <a:p>
            <a:r>
              <a:rPr sz="1500">
                <a:solidFill>
                  <a:srgbClr val="F2F2F2"/>
                </a:solidFill>
                <a:latin typeface="Aptos Mono"/>
              </a:rPr>
              <a:t>  end if;</a:t>
            </a:r>
          </a:p>
          <a:p>
            <a:r>
              <a:rPr sz="1500">
                <a:solidFill>
                  <a:srgbClr val="F2F2F2"/>
                </a:solidFill>
                <a:latin typeface="Aptos Mono"/>
              </a:rPr>
              <a:t>end process;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This project: </a:t>
            </a:r>
            <a:r>
              <a:rPr sz="1800" b="1">
                <a:solidFill>
                  <a:srgbClr val="333333"/>
                </a:solidFill>
                <a:latin typeface="Aptos"/>
              </a:rPr>
              <a:t>VHDL</a:t>
            </a:r>
            <a:r>
              <a:rPr sz="1800" b="0">
                <a:solidFill>
                  <a:srgbClr val="333333"/>
                </a:solidFill>
                <a:latin typeface="Aptos"/>
              </a:rPr>
              <a:t>, one file per functional block.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3F44"/>
                </a:solidFill>
                <a:latin typeface="Aptos"/>
              </a:rPr>
              <a:t>ACT III — THE AI-AIDED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Aptos"/>
              </a:rPr>
              <a:t>The project: 8 months, 3 attempts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333333"/>
                </a:solidFill>
                <a:latin typeface="Aptos"/>
              </a:rPr>
              <a:t>Nov 2025 → Jul 2026</a:t>
            </a:r>
            <a:r>
              <a:rPr sz="1900" b="0">
                <a:solidFill>
                  <a:srgbClr val="333333"/>
                </a:solidFill>
                <a:latin typeface="Aptos"/>
              </a:rPr>
              <a:t> — 297 commits. </a:t>
            </a:r>
            <a:r>
              <a:rPr sz="1900" b="1">
                <a:solidFill>
                  <a:srgbClr val="333333"/>
                </a:solidFill>
                <a:latin typeface="Aptos"/>
              </a:rPr>
              <a:t>3 iterations, 2 complete bottom-to-top rewrites.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3108960" cy="1691640"/>
          </a:xfrm>
          <a:prstGeom prst="round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3B3F44"/>
                </a:solidFill>
                <a:latin typeface="Aptos Mono"/>
              </a:rPr>
              <a:t>✗  s8008</a:t>
            </a:r>
          </a:p>
          <a:p>
            <a:pPr algn="ctr"/>
            <a:r>
              <a:rPr sz="1250">
                <a:solidFill>
                  <a:srgbClr val="333333"/>
                </a:solidFill>
                <a:latin typeface="Aptos"/>
              </a:rPr>
              <a:t>monolithic, single-cycle</a:t>
            </a:r>
          </a:p>
          <a:p>
            <a:pPr algn="ctr"/>
            <a:r>
              <a:rPr sz="1250">
                <a:solidFill>
                  <a:srgbClr val="333333"/>
                </a:solidFill>
                <a:latin typeface="Aptos"/>
              </a:rPr>
              <a:t>Worked in simulation.</a:t>
            </a:r>
          </a:p>
          <a:p>
            <a:pPr algn="ctr"/>
            <a:r>
              <a:rPr sz="1250">
                <a:solidFill>
                  <a:srgbClr val="333333"/>
                </a:solidFill>
                <a:latin typeface="Aptos"/>
              </a:rPr>
              <a:t>Broke on hardware.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67912" y="3721608"/>
            <a:ext cx="356616" cy="0"/>
          </a:xfrm>
          <a:prstGeom prst="bentConnector3">
            <a:avLst/>
          </a:prstGeom>
          <a:ln w="28575">
            <a:solidFill>
              <a:srgbClr val="33333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51960" y="2880360"/>
            <a:ext cx="3108960" cy="1691640"/>
          </a:xfrm>
          <a:prstGeom prst="round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3B3F44"/>
                </a:solidFill>
                <a:latin typeface="Aptos Mono"/>
              </a:rPr>
              <a:t>✗  v8008</a:t>
            </a:r>
          </a:p>
          <a:p>
            <a:pPr algn="ctr"/>
            <a:r>
              <a:rPr sz="1250">
                <a:solidFill>
                  <a:srgbClr val="333333"/>
                </a:solidFill>
                <a:latin typeface="Aptos"/>
              </a:rPr>
              <a:t>multi-cycle rewrite</a:t>
            </a:r>
          </a:p>
          <a:p>
            <a:pPr algn="ctr"/>
            <a:r>
              <a:rPr sz="1250">
                <a:solidFill>
                  <a:srgbClr val="333333"/>
                </a:solidFill>
                <a:latin typeface="Aptos"/>
              </a:rPr>
              <a:t>Collapsed under its own</a:t>
            </a:r>
          </a:p>
          <a:p>
            <a:pPr algn="ctr"/>
            <a:r>
              <a:rPr sz="1250">
                <a:solidFill>
                  <a:srgbClr val="333333"/>
                </a:solidFill>
                <a:latin typeface="Aptos"/>
              </a:rPr>
              <a:t>complexity.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88352" y="3721608"/>
            <a:ext cx="356616" cy="0"/>
          </a:xfrm>
          <a:prstGeom prst="bentConnector3">
            <a:avLst/>
          </a:prstGeom>
          <a:ln w="28575">
            <a:solidFill>
              <a:srgbClr val="33333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0" y="2880360"/>
            <a:ext cx="3840480" cy="1691640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FFC220"/>
                </a:solidFill>
                <a:latin typeface="Aptos Mono"/>
              </a:rPr>
              <a:t>✓  b8008</a:t>
            </a:r>
          </a:p>
          <a:p>
            <a:pPr algn="ctr"/>
            <a:r>
              <a:rPr sz="1250">
                <a:solidFill>
                  <a:srgbClr val="F2F2F2"/>
                </a:solidFill>
                <a:latin typeface="Aptos"/>
              </a:rPr>
              <a:t>block-based, cycle-exact</a:t>
            </a:r>
          </a:p>
          <a:p>
            <a:pPr algn="ctr"/>
            <a:r>
              <a:rPr sz="1250">
                <a:solidFill>
                  <a:srgbClr val="F2F2F2"/>
                </a:solidFill>
                <a:latin typeface="Aptos"/>
              </a:rPr>
              <a:t>SILICON VALIDATED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Built in collaboration with </a:t>
            </a:r>
            <a:r>
              <a:rPr sz="1900" b="1">
                <a:solidFill>
                  <a:srgbClr val="333333"/>
                </a:solidFill>
                <a:latin typeface="Aptos"/>
              </a:rPr>
              <a:t>Claude</a:t>
            </a:r>
            <a:r>
              <a:rPr sz="1900" b="0">
                <a:solidFill>
                  <a:srgbClr val="333333"/>
                </a:solidFill>
                <a:latin typeface="Aptos"/>
              </a:rPr>
              <a:t> (Anthropic’s AI) — every line reviewed, tested, and frequently rejected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3F44"/>
                </a:solidFill>
                <a:latin typeface="Aptos"/>
              </a:rPr>
              <a:t>ACT III — THE AI-AIDED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Aptos"/>
              </a:rPr>
              <a:t>s8008: when "all tests pass" lies to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The monolithic version </a:t>
            </a:r>
            <a:r>
              <a:rPr sz="1900" b="1">
                <a:solidFill>
                  <a:srgbClr val="333333"/>
                </a:solidFill>
                <a:latin typeface="Aptos"/>
              </a:rPr>
              <a:t>passed its whole simulation suite</a:t>
            </a:r>
            <a:r>
              <a:rPr sz="1900" b="0">
                <a:solidFill>
                  <a:srgbClr val="333333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On the FPGA, ALU operations returned garbage.</a:t>
            </a:r>
          </a:p>
          <a:p>
            <a:pPr>
              <a:spcAft>
                <a:spcPts val="13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Single-cycle timing masked bugs simulation couldn’t see</a:t>
            </a:r>
          </a:p>
          <a:p>
            <a:pPr>
              <a:spcAft>
                <a:spcPts val="13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One 1,500-line file nobody — human or AI — could fully reason about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46320"/>
            <a:ext cx="10881360" cy="914400"/>
          </a:xfrm>
          <a:prstGeom prst="rect">
            <a:avLst/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000" b="1">
                <a:solidFill>
                  <a:srgbClr val="333333"/>
                </a:solidFill>
                <a:latin typeface="Aptos"/>
              </a:rPr>
              <a:t>Rule adopted: nothing is "done" until it’s proven on silicon.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3F44"/>
                </a:solidFill>
                <a:latin typeface="Aptos"/>
              </a:rPr>
              <a:t>ACT III — THE AI-AIDED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Aptos"/>
              </a:rPr>
              <a:t>The AI wrote most of the VHDL. Here’s why that worked.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>
                <a:solidFill>
                  <a:srgbClr val="333333"/>
                </a:solidFill>
                <a:latin typeface="Aptos"/>
              </a:rPr>
              <a:t>It worked because </a:t>
            </a:r>
            <a:r>
              <a:rPr sz="1650" b="1">
                <a:solidFill>
                  <a:srgbClr val="333333"/>
                </a:solidFill>
                <a:latin typeface="Aptos"/>
              </a:rPr>
              <a:t>I could tell when it was wrong</a:t>
            </a:r>
            <a:r>
              <a:rPr sz="1650" b="0">
                <a:solidFill>
                  <a:srgbClr val="333333"/>
                </a:solidFill>
                <a:latin typeface="Aptos"/>
              </a:rPr>
              <a:t>.</a:t>
            </a:r>
          </a:p>
          <a:p>
            <a:pPr>
              <a:spcAft>
                <a:spcPts val="1100"/>
              </a:spcAft>
            </a:pPr>
            <a:r>
              <a:rPr sz="1650" b="0">
                <a:solidFill>
                  <a:srgbClr val="333333"/>
                </a:solidFill>
                <a:latin typeface="Aptos"/>
              </a:rPr>
              <a:t>•  I had to learn the 8008 cold: T-states, machine cycles, every ISA quirk</a:t>
            </a:r>
          </a:p>
          <a:p>
            <a:pPr>
              <a:spcAft>
                <a:spcPts val="1100"/>
              </a:spcAft>
            </a:pPr>
            <a:r>
              <a:rPr sz="1650" b="0">
                <a:solidFill>
                  <a:srgbClr val="333333"/>
                </a:solidFill>
                <a:latin typeface="Aptos"/>
              </a:rPr>
              <a:t>•  Built </a:t>
            </a:r>
            <a:r>
              <a:rPr sz="1650" b="0">
                <a:solidFill>
                  <a:srgbClr val="1F9DD8"/>
                </a:solidFill>
                <a:latin typeface="Aptos Mono"/>
              </a:rPr>
              <a:t>isa.json</a:t>
            </a:r>
            <a:r>
              <a:rPr sz="1650" b="0">
                <a:solidFill>
                  <a:srgbClr val="333333"/>
                </a:solidFill>
                <a:latin typeface="Aptos"/>
              </a:rPr>
              <a:t> — every opcode mapped to its documented T-state sequence — as ground truth</a:t>
            </a:r>
          </a:p>
          <a:p>
            <a:pPr>
              <a:spcAft>
                <a:spcPts val="1100"/>
              </a:spcAft>
            </a:pPr>
            <a:r>
              <a:rPr sz="1650" b="0">
                <a:solidFill>
                  <a:srgbClr val="333333"/>
                </a:solidFill>
                <a:latin typeface="Aptos"/>
              </a:rPr>
              <a:t>•  Wrote a Python "oracle" emulator to cross-check behavior before touching hardware</a:t>
            </a:r>
          </a:p>
          <a:p>
            <a:pPr>
              <a:spcAft>
                <a:spcPts val="1100"/>
              </a:spcAft>
            </a:pPr>
            <a:r>
              <a:rPr sz="1650" b="0">
                <a:solidFill>
                  <a:srgbClr val="333333"/>
                </a:solidFill>
                <a:latin typeface="Aptos"/>
              </a:rPr>
              <a:t>•  28-test regression suite; cycle counts diffed against the datasheet automatically</a:t>
            </a:r>
          </a:p>
          <a:p>
            <a:pPr>
              <a:spcAft>
                <a:spcPts val="1100"/>
              </a:spcAft>
            </a:pPr>
            <a:r>
              <a:rPr sz="1650" b="1">
                <a:solidFill>
                  <a:srgbClr val="333333"/>
                </a:solidFill>
                <a:latin typeface="Aptos"/>
              </a:rPr>
              <a:t>The AI multiplied effort. The verification was the job.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737360"/>
            <a:ext cx="4480560" cy="4480560"/>
          </a:xfrm>
          <a:prstGeom prst="rect">
            <a:avLst/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37160" rIns="137160" bIns="109728" rtlCol="0" anchor="ctr"/>
          <a:lstStyle/>
          <a:p>
            <a:r>
              <a:rPr sz="1250">
                <a:solidFill>
                  <a:srgbClr val="6FC2EA"/>
                </a:solidFill>
                <a:latin typeface="Aptos Mono"/>
              </a:rPr>
              <a:t>// docs/isa.json - ground truth</a:t>
            </a:r>
          </a:p>
          <a:p>
            <a:r>
              <a:rPr sz="1250">
                <a:solidFill>
                  <a:srgbClr val="F2F2F2"/>
                </a:solidFill>
                <a:latin typeface="Aptos Mono"/>
              </a:rPr>
              <a:t>{ </a:t>
            </a:r>
            <a:endParaRPr lang="en-US" sz="1250">
              <a:solidFill>
                <a:srgbClr val="F2F2F2"/>
              </a:solidFill>
              <a:latin typeface="Aptos Mono"/>
            </a:endParaRPr>
          </a:p>
          <a:p>
            <a:r>
              <a:rPr lang="en-US" sz="1250">
                <a:solidFill>
                  <a:srgbClr val="F2F2F2"/>
                </a:solidFill>
                <a:latin typeface="Aptos Mono"/>
              </a:rPr>
              <a:t>  </a:t>
            </a:r>
            <a:r>
              <a:rPr sz="1250">
                <a:solidFill>
                  <a:srgbClr val="F2F2F2"/>
                </a:solidFill>
                <a:latin typeface="Aptos Mono"/>
              </a:rPr>
              <a:t>"operation": "CAL",</a:t>
            </a:r>
          </a:p>
          <a:p>
            <a:r>
              <a:rPr sz="1250">
                <a:solidFill>
                  <a:srgbClr val="F2F2F2"/>
                </a:solidFill>
                <a:latin typeface="Aptos Mono"/>
              </a:rPr>
              <a:t>  "D[7:0]": "01XXX110",</a:t>
            </a:r>
          </a:p>
          <a:p>
            <a:r>
              <a:rPr sz="1250">
                <a:solidFill>
                  <a:srgbClr val="F2F2F2"/>
                </a:solidFill>
                <a:latin typeface="Aptos Mono"/>
              </a:rPr>
              <a:t>  "num_states_execution": 11,</a:t>
            </a:r>
          </a:p>
          <a:p>
            <a:r>
              <a:rPr sz="1250">
                <a:solidFill>
                  <a:srgbClr val="F2F2F2"/>
                </a:solidFill>
                <a:latin typeface="Aptos Mono"/>
              </a:rPr>
              <a:t>  "num_cycles": 3,</a:t>
            </a:r>
          </a:p>
          <a:p>
            <a:r>
              <a:rPr sz="1250">
                <a:solidFill>
                  <a:srgbClr val="F2F2F2"/>
                </a:solidFill>
                <a:latin typeface="Aptos Mono"/>
              </a:rPr>
              <a:t>  "cycle_1": {</a:t>
            </a:r>
          </a:p>
          <a:p>
            <a:r>
              <a:rPr sz="1250">
                <a:solidFill>
                  <a:srgbClr val="F2F2F2"/>
                </a:solidFill>
                <a:latin typeface="Aptos Mono"/>
              </a:rPr>
              <a:t>    "T1": "PCL OUT",</a:t>
            </a:r>
          </a:p>
          <a:p>
            <a:r>
              <a:rPr sz="1250">
                <a:solidFill>
                  <a:srgbClr val="F2F2F2"/>
                </a:solidFill>
                <a:latin typeface="Aptos Mono"/>
              </a:rPr>
              <a:t>    "T2": "PCH OUT",</a:t>
            </a:r>
          </a:p>
          <a:p>
            <a:r>
              <a:rPr sz="1250">
                <a:solidFill>
                  <a:srgbClr val="F2F2F2"/>
                </a:solidFill>
                <a:latin typeface="Aptos Mono"/>
              </a:rPr>
              <a:t>    "T3": "FETCH INSTR.",</a:t>
            </a:r>
          </a:p>
          <a:p>
            <a:r>
              <a:rPr sz="1250">
                <a:solidFill>
                  <a:srgbClr val="F2F2F2"/>
                </a:solidFill>
                <a:latin typeface="Aptos Mono"/>
              </a:rPr>
              <a:t>    ...</a:t>
            </a:r>
          </a:p>
          <a:p>
            <a:r>
              <a:rPr sz="1250">
                <a:solidFill>
                  <a:srgbClr val="F2F2F2"/>
                </a:solidFill>
                <a:latin typeface="Aptos Mono"/>
              </a:rPr>
              <a:t>  "cycle_3": {</a:t>
            </a:r>
          </a:p>
          <a:p>
            <a:r>
              <a:rPr sz="1250">
                <a:solidFill>
                  <a:srgbClr val="F2F2F2"/>
                </a:solidFill>
                <a:latin typeface="Aptos Mono"/>
              </a:rPr>
              <a:t>    ...</a:t>
            </a:r>
          </a:p>
          <a:p>
            <a:r>
              <a:rPr sz="1250">
                <a:solidFill>
                  <a:srgbClr val="F2F2F2"/>
                </a:solidFill>
                <a:latin typeface="Aptos Mono"/>
              </a:rPr>
              <a:t>    "T4": "REG.a TO PCH",</a:t>
            </a:r>
          </a:p>
          <a:p>
            <a:r>
              <a:rPr sz="1250">
                <a:solidFill>
                  <a:srgbClr val="F2F2F2"/>
                </a:solidFill>
                <a:latin typeface="Aptos Mono"/>
              </a:rPr>
              <a:t>    "T5": "REG.b TO PCL" 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3F44"/>
                </a:solidFill>
                <a:latin typeface="Aptos"/>
              </a:rPr>
              <a:t>ACT IV — THE DESIGN THE FAILURES FORCED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Aptos"/>
              </a:rPr>
              <a:t>The fix: build Intel’s own block diagram. Literally.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8008_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468250" cy="4572000"/>
          </a:xfrm>
          <a:prstGeom prst="rect">
            <a:avLst/>
          </a:prstGeom>
          <a:ln w="9525">
            <a:solidFill>
              <a:srgbClr val="8D8D8D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336930" y="2103120"/>
            <a:ext cx="427594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Attempt #3:</a:t>
            </a:r>
          </a:p>
          <a:p>
            <a:pPr>
              <a:spcAft>
                <a:spcPts val="1200"/>
              </a:spcAft>
            </a:pPr>
            <a:r>
              <a:rPr lang="en-US" sz="1700" b="1">
                <a:solidFill>
                  <a:srgbClr val="333333"/>
                </a:solidFill>
                <a:latin typeface="Aptos"/>
              </a:rPr>
              <a:t>O</a:t>
            </a:r>
            <a:r>
              <a:rPr sz="1700" b="1">
                <a:solidFill>
                  <a:srgbClr val="333333"/>
                </a:solidFill>
                <a:latin typeface="Aptos"/>
              </a:rPr>
              <a:t>ne module per block.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33333"/>
                </a:solidFill>
                <a:latin typeface="Aptos"/>
              </a:rPr>
              <a:t>No cleverness.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Fig. 3, 8008 User’s Manual (1973)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3F44"/>
                </a:solidFill>
                <a:latin typeface="Aptos"/>
              </a:rPr>
              <a:t>ACT IV — THE DESIGN THE FAILURES FORCED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Aptos"/>
              </a:rPr>
              <a:t>Design rule: every module is dumb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33333"/>
                </a:solidFill>
                <a:latin typeface="Aptos"/>
              </a:rPr>
              <a:t>29 VHDL files.</a:t>
            </a:r>
            <a:r>
              <a:rPr sz="1700" b="0">
                <a:solidFill>
                  <a:srgbClr val="333333"/>
                </a:solidFill>
                <a:latin typeface="Aptos"/>
              </a:rPr>
              <a:t> Each block: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•  Does </a:t>
            </a:r>
            <a:r>
              <a:rPr sz="1700" b="1">
                <a:solidFill>
                  <a:srgbClr val="333333"/>
                </a:solidFill>
                <a:latin typeface="Aptos"/>
              </a:rPr>
              <a:t>one job</a:t>
            </a:r>
            <a:r>
              <a:rPr sz="1700" b="0">
                <a:solidFill>
                  <a:srgbClr val="333333"/>
                </a:solidFill>
                <a:latin typeface="Aptos"/>
              </a:rPr>
              <a:t>, ~50–100 lines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•  Knows </a:t>
            </a:r>
            <a:r>
              <a:rPr sz="1700" b="1">
                <a:solidFill>
                  <a:srgbClr val="333333"/>
                </a:solidFill>
                <a:latin typeface="Aptos"/>
              </a:rPr>
              <a:t>nothing</a:t>
            </a:r>
            <a:r>
              <a:rPr sz="1700" b="0">
                <a:solidFill>
                  <a:srgbClr val="333333"/>
                </a:solidFill>
                <a:latin typeface="Aptos"/>
              </a:rPr>
              <a:t> about instructions, interrupts, or other modules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•  Responds only to explicit control signals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•  Has its own testbench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333333"/>
                </a:solidFill>
                <a:latin typeface="Aptos"/>
              </a:rPr>
              <a:t>All the intelligence lives in one place: the </a:t>
            </a:r>
            <a:r>
              <a:rPr sz="1700" b="1">
                <a:solidFill>
                  <a:srgbClr val="333333"/>
                </a:solidFill>
                <a:latin typeface="Aptos"/>
              </a:rPr>
              <a:t>timing &amp; control unit</a:t>
            </a:r>
            <a:r>
              <a:rPr sz="1700" b="0">
                <a:solidFill>
                  <a:srgbClr val="333333"/>
                </a:solidFill>
                <a:latin typeface="Aptos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91640"/>
            <a:ext cx="4846320" cy="777240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FFC220"/>
                </a:solidFill>
                <a:latin typeface="Aptos"/>
              </a:rPr>
              <a:t>Timing &amp; Control Unit</a:t>
            </a:r>
          </a:p>
          <a:p>
            <a:pPr algn="ctr"/>
            <a:r>
              <a:rPr sz="1300" b="1">
                <a:solidFill>
                  <a:srgbClr val="FFC220"/>
                </a:solidFill>
                <a:latin typeface="Aptos"/>
              </a:rPr>
              <a:t>(the only smart module)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18604" y="2514600"/>
            <a:ext cx="0" cy="548640"/>
          </a:xfrm>
          <a:prstGeom prst="bentConnector3">
            <a:avLst/>
          </a:prstGeom>
          <a:ln w="19050">
            <a:solidFill>
              <a:srgbClr val="33333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675120" y="3108960"/>
            <a:ext cx="886968" cy="868680"/>
          </a:xfrm>
          <a:prstGeom prst="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Aptos"/>
              </a:rPr>
              <a:t>address</a:t>
            </a:r>
          </a:p>
          <a:p>
            <a:pPr algn="ctr"/>
            <a:r>
              <a:rPr sz="1100" b="1">
                <a:solidFill>
                  <a:srgbClr val="333333"/>
                </a:solidFill>
                <a:latin typeface="Aptos"/>
              </a:rPr>
              <a:t>stack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10727" y="2514600"/>
            <a:ext cx="0" cy="548640"/>
          </a:xfrm>
          <a:prstGeom prst="bentConnector3">
            <a:avLst/>
          </a:prstGeom>
          <a:ln w="19050">
            <a:solidFill>
              <a:srgbClr val="33333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67244" y="3108960"/>
            <a:ext cx="886968" cy="868680"/>
          </a:xfrm>
          <a:prstGeom prst="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Aptos"/>
              </a:rPr>
              <a:t>stack</a:t>
            </a:r>
          </a:p>
          <a:p>
            <a:pPr algn="ctr"/>
            <a:r>
              <a:rPr sz="1100" b="1">
                <a:solidFill>
                  <a:srgbClr val="333333"/>
                </a:solidFill>
                <a:latin typeface="Aptos"/>
              </a:rPr>
              <a:t>pointer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02851" y="2514600"/>
            <a:ext cx="0" cy="548640"/>
          </a:xfrm>
          <a:prstGeom prst="bentConnector3">
            <a:avLst/>
          </a:prstGeom>
          <a:ln w="19050">
            <a:solidFill>
              <a:srgbClr val="33333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659367" y="3108960"/>
            <a:ext cx="886968" cy="868680"/>
          </a:xfrm>
          <a:prstGeom prst="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Aptos"/>
              </a:rPr>
              <a:t>register</a:t>
            </a:r>
          </a:p>
          <a:p>
            <a:pPr algn="ctr"/>
            <a:r>
              <a:rPr sz="1100" b="1">
                <a:solidFill>
                  <a:srgbClr val="333333"/>
                </a:solidFill>
                <a:latin typeface="Aptos"/>
              </a:rPr>
              <a:t>file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94976" y="2514600"/>
            <a:ext cx="0" cy="548640"/>
          </a:xfrm>
          <a:prstGeom prst="bentConnector3">
            <a:avLst/>
          </a:prstGeom>
          <a:ln w="19050">
            <a:solidFill>
              <a:srgbClr val="33333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51492" y="3108960"/>
            <a:ext cx="886968" cy="868680"/>
          </a:xfrm>
          <a:prstGeom prst="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Aptos"/>
              </a:rPr>
              <a:t>ALU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087100" y="2514600"/>
            <a:ext cx="0" cy="548640"/>
          </a:xfrm>
          <a:prstGeom prst="bentConnector3">
            <a:avLst/>
          </a:prstGeom>
          <a:ln w="19050">
            <a:solidFill>
              <a:srgbClr val="33333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643616" y="3108960"/>
            <a:ext cx="886968" cy="868680"/>
          </a:xfrm>
          <a:prstGeom prst="rect">
            <a:avLst/>
          </a:prstGeom>
          <a:solidFill>
            <a:srgbClr val="E9ECF0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Aptos"/>
              </a:rPr>
              <a:t>instr.</a:t>
            </a:r>
          </a:p>
          <a:p>
            <a:pPr algn="ctr"/>
            <a:r>
              <a:rPr sz="1100" b="1">
                <a:solidFill>
                  <a:srgbClr val="333333"/>
                </a:solidFill>
                <a:latin typeface="Aptos"/>
              </a:rPr>
              <a:t>decoder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8D8D8D"/>
                </a:solidFill>
                <a:latin typeface="Aptos"/>
              </a:rPr>
              <a:t>control signals only — no module knows what a "JMP" 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5029200"/>
            <a:ext cx="4846320" cy="914400"/>
          </a:xfrm>
          <a:prstGeom prst="rect">
            <a:avLst/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>
                <a:solidFill>
                  <a:srgbClr val="333333"/>
                </a:solidFill>
                <a:latin typeface="Aptos"/>
              </a:rPr>
              <a:t>Mirrors Fig. 3 box-for-box —</a:t>
            </a:r>
          </a:p>
          <a:p>
            <a:pPr algn="ctr"/>
            <a:r>
              <a:rPr sz="1400" b="1">
                <a:solidFill>
                  <a:srgbClr val="333333"/>
                </a:solidFill>
                <a:latin typeface="Aptos"/>
              </a:rPr>
              <a:t>the diagram IS the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3F44"/>
                </a:solidFill>
                <a:latin typeface="Aptos"/>
              </a:rPr>
              <a:t>ACT IV — THE DESIGN THE FAILURES FORCED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Aptos"/>
              </a:rPr>
              <a:t>The whole stack pointer. All of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949440" cy="4206240"/>
          </a:xfrm>
          <a:prstGeom prst="rect">
            <a:avLst/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37160" rIns="137160" bIns="109728" rtlCol="0" anchor="ctr"/>
          <a:lstStyle/>
          <a:p>
            <a:r>
              <a:rPr sz="1700">
                <a:solidFill>
                  <a:srgbClr val="F2F2F2"/>
                </a:solidFill>
                <a:latin typeface="Aptos Mono"/>
              </a:rPr>
              <a:t>if reset = '1' then</a:t>
            </a:r>
          </a:p>
          <a:p>
            <a:r>
              <a:rPr sz="1700">
                <a:solidFill>
                  <a:srgbClr val="F2F2F2"/>
                </a:solidFill>
                <a:latin typeface="Aptos Mono"/>
              </a:rPr>
              <a:t>    sp &lt;= (others =&gt; '0');</a:t>
            </a:r>
          </a:p>
          <a:p>
            <a:r>
              <a:rPr sz="1700">
                <a:solidFill>
                  <a:srgbClr val="F2F2F2"/>
                </a:solidFill>
                <a:latin typeface="Aptos Mono"/>
              </a:rPr>
              <a:t>elsif rising_edge(clk) then</a:t>
            </a:r>
          </a:p>
          <a:p>
            <a:r>
              <a:rPr sz="1700">
                <a:solidFill>
                  <a:srgbClr val="F2F2F2"/>
                </a:solidFill>
                <a:latin typeface="Aptos Mono"/>
              </a:rPr>
              <a:t>    if phi1_rising = '1' then</a:t>
            </a:r>
          </a:p>
          <a:p>
            <a:r>
              <a:rPr sz="1700">
                <a:solidFill>
                  <a:srgbClr val="F2F2F2"/>
                </a:solidFill>
                <a:latin typeface="Aptos Mono"/>
              </a:rPr>
              <a:t>        if stack_push = '1' then</a:t>
            </a:r>
          </a:p>
          <a:p>
            <a:r>
              <a:rPr sz="1700">
                <a:solidFill>
                  <a:srgbClr val="F2F2F2"/>
                </a:solidFill>
                <a:latin typeface="Aptos Mono"/>
              </a:rPr>
              <a:t>            sp &lt;= sp + 1;   </a:t>
            </a:r>
            <a:r>
              <a:rPr sz="1700">
                <a:solidFill>
                  <a:srgbClr val="6FC2EA"/>
                </a:solidFill>
                <a:latin typeface="Aptos Mono"/>
              </a:rPr>
              <a:t>-- wraps 7 -&gt; 0</a:t>
            </a:r>
          </a:p>
          <a:p>
            <a:r>
              <a:rPr sz="1700">
                <a:solidFill>
                  <a:srgbClr val="F2F2F2"/>
                </a:solidFill>
                <a:latin typeface="Aptos Mono"/>
              </a:rPr>
              <a:t>        elsif stack_pop = '1' then</a:t>
            </a:r>
          </a:p>
          <a:p>
            <a:r>
              <a:rPr sz="1700">
                <a:solidFill>
                  <a:srgbClr val="F2F2F2"/>
                </a:solidFill>
                <a:latin typeface="Aptos Mono"/>
              </a:rPr>
              <a:t>            sp &lt;= sp - 1;   </a:t>
            </a:r>
            <a:r>
              <a:rPr sz="1700">
                <a:solidFill>
                  <a:srgbClr val="6FC2EA"/>
                </a:solidFill>
                <a:latin typeface="Aptos Mono"/>
              </a:rPr>
              <a:t>-- wraps 0 -&gt; 7</a:t>
            </a:r>
          </a:p>
          <a:p>
            <a:r>
              <a:rPr sz="1700">
                <a:solidFill>
                  <a:srgbClr val="F2F2F2"/>
                </a:solidFill>
                <a:latin typeface="Aptos Mono"/>
              </a:rPr>
              <a:t>        end if;</a:t>
            </a:r>
          </a:p>
          <a:p>
            <a:r>
              <a:rPr sz="1700">
                <a:solidFill>
                  <a:srgbClr val="F2F2F2"/>
                </a:solidFill>
                <a:latin typeface="Aptos Mono"/>
              </a:rPr>
              <a:t>    end if;</a:t>
            </a:r>
          </a:p>
          <a:p>
            <a:r>
              <a:rPr sz="1700">
                <a:solidFill>
                  <a:srgbClr val="F2F2F2"/>
                </a:solidFill>
                <a:latin typeface="Aptos Mono"/>
              </a:rPr>
              <a:t>end if;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92024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1F9DD8"/>
                </a:solidFill>
                <a:latin typeface="Aptos Mono"/>
              </a:rPr>
              <a:t>src/b8008/stack_pointer.vhdl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333333"/>
                </a:solidFill>
                <a:latin typeface="Aptos"/>
              </a:rPr>
              <a:t>69 lines</a:t>
            </a:r>
            <a:r>
              <a:rPr sz="1600" b="0">
                <a:solidFill>
                  <a:srgbClr val="333333"/>
                </a:solidFill>
                <a:latin typeface="Aptos"/>
              </a:rPr>
              <a:t> including comments.</a:t>
            </a:r>
          </a:p>
          <a:p>
            <a:pPr>
              <a:spcAft>
                <a:spcPts val="1300"/>
              </a:spcAft>
            </a:pPr>
            <a:r>
              <a:rPr sz="1600" b="0">
                <a:solidFill>
                  <a:srgbClr val="333333"/>
                </a:solidFill>
                <a:latin typeface="Aptos"/>
              </a:rPr>
              <a:t>It has never had a bug.</a:t>
            </a:r>
          </a:p>
          <a:p>
            <a:pPr>
              <a:spcAft>
                <a:spcPts val="1300"/>
              </a:spcAft>
            </a:pPr>
            <a:r>
              <a:rPr sz="1600" b="0">
                <a:solidFill>
                  <a:srgbClr val="333333"/>
                </a:solidFill>
                <a:latin typeface="Aptos"/>
              </a:rPr>
              <a:t>It doesn’t know what CALL is. It doesn’t know interrupts exist.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333333"/>
                </a:solidFill>
                <a:latin typeface="Aptos"/>
              </a:rPr>
              <a:t>It counts.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3F44"/>
                </a:solidFill>
                <a:latin typeface="Aptos"/>
              </a:rPr>
              <a:t>ACT V — HOW DO I KNOW IT WORKS?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Aptos"/>
              </a:rPr>
              <a:t>The real test suite was written in 1974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858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Directed tests prove what you thought to test.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333333"/>
                </a:solidFill>
                <a:latin typeface="Aptos"/>
              </a:rPr>
              <a:t>Period software proves the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•  SCELBI floating-point calculator (1974)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•  HEXPAWN — self-modifying learning game (1973)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•  STARS (Byte magazine, 1976)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•  Pi digit generator, Mandelbrot renderer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•  SCELBAL BASIC (1976)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Aptos"/>
              </a:rPr>
              <a:t>Each ported with a minimal, documented change ledger — I/O shims and memory-map constants only.</a:t>
            </a:r>
          </a:p>
        </p:txBody>
      </p:sp>
      <p:pic>
        <p:nvPicPr>
          <p:cNvPr id="9" name="Picture 8" descr="images (388×515)">
            <a:extLst>
              <a:ext uri="{FF2B5EF4-FFF2-40B4-BE49-F238E27FC236}">
                <a16:creationId xmlns:a16="http://schemas.microsoft.com/office/drawing/2014/main" id="{9A3446B5-F4C0-5CDB-3EBC-05312BF1E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1093810"/>
            <a:ext cx="3045460" cy="4034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3F44"/>
                </a:solidFill>
                <a:latin typeface="Aptos"/>
              </a:rPr>
              <a:t>ACT V — HOW DO I KNOW IT WORKS?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Aptos"/>
              </a:rPr>
              <a:t>Verification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828800"/>
          <a:ext cx="9966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109728" marR="109728" anchor="ctr">
                    <a:solidFill>
                      <a:srgbClr val="3B3F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marL="109728" marR="109728" anchor="ctr">
                    <a:solidFill>
                      <a:srgbClr val="3B3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Aptos"/>
                        </a:rPr>
                        <a:t>Regression suite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Aptos"/>
                        </a:rPr>
                        <a:t>28/28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Aptos"/>
                        </a:rPr>
                        <a:t>Cycle-exact T-states vs datasheet (all 27 timing classes)</a:t>
                      </a:r>
                    </a:p>
                  </a:txBody>
                  <a:tcPr marL="109728" marR="10972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Aptos"/>
                        </a:rPr>
                        <a:t>27/27</a:t>
                      </a:r>
                    </a:p>
                  </a:txBody>
                  <a:tcPr marL="109728" marR="109728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Aptos"/>
                        </a:rPr>
                        <a:t>Interrupt suite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Aptos"/>
                        </a:rPr>
                        <a:t>10/10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Aptos"/>
                        </a:rPr>
                        <a:t>Hardware ISA self-test, running on the board</a:t>
                      </a:r>
                    </a:p>
                  </a:txBody>
                  <a:tcPr marL="109728" marR="10972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Aptos"/>
                        </a:rPr>
                        <a:t>46/46</a:t>
                      </a:r>
                    </a:p>
                  </a:txBody>
                  <a:tcPr marL="109728" marR="109728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Aptos"/>
                        </a:rPr>
                        <a:t>Flags spec-exact (INR/DCR preserve carry; rotates carry-only)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Aptos"/>
                        </a:rPr>
                        <a:t>Interrupts at instruction boundaries only (User’s Manual Fig. 2)</a:t>
                      </a:r>
                    </a:p>
                  </a:txBody>
                  <a:tcPr marL="109728" marR="10972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109728" marR="109728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3F44"/>
                </a:solidFill>
                <a:latin typeface="Aptos"/>
              </a:rPr>
              <a:t>ACT VI — LIVE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Aptos"/>
              </a:rPr>
              <a:t>Live: 1970s software on the 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966960" y="502920"/>
            <a:ext cx="1645920" cy="5029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000" b="1">
                <a:solidFill>
                  <a:srgbClr val="333333"/>
                </a:solidFill>
                <a:latin typeface="Aptos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1.  </a:t>
            </a:r>
            <a:r>
              <a:rPr sz="1800" b="1">
                <a:solidFill>
                  <a:srgbClr val="333333"/>
                </a:solidFill>
                <a:latin typeface="Aptos"/>
              </a:rPr>
              <a:t>Pi</a:t>
            </a:r>
            <a:r>
              <a:rPr sz="1800" b="0">
                <a:solidFill>
                  <a:srgbClr val="333333"/>
                </a:solidFill>
                <a:latin typeface="Aptos"/>
              </a:rPr>
              <a:t> — 50 digits via Machin’s formula, multiprecision arithmetic (2013 program for SCELBI hardware)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2.  </a:t>
            </a:r>
            <a:r>
              <a:rPr sz="1800" b="1">
                <a:solidFill>
                  <a:srgbClr val="333333"/>
                </a:solidFill>
                <a:latin typeface="Aptos"/>
              </a:rPr>
              <a:t>SCELBI Calculator (1974)</a:t>
            </a:r>
            <a:r>
              <a:rPr sz="1800" b="0">
                <a:solidFill>
                  <a:srgbClr val="333333"/>
                </a:solidFill>
                <a:latin typeface="Aptos"/>
              </a:rPr>
              <a:t> — 23-bit floating point:  </a:t>
            </a:r>
            <a:r>
              <a:rPr sz="1800" b="0">
                <a:solidFill>
                  <a:srgbClr val="1F9DD8"/>
                </a:solidFill>
                <a:latin typeface="Aptos Mono"/>
              </a:rPr>
              <a:t>12.2 X 2.2 = 26.84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3.  </a:t>
            </a:r>
            <a:r>
              <a:rPr sz="1800" b="1">
                <a:solidFill>
                  <a:srgbClr val="333333"/>
                </a:solidFill>
                <a:latin typeface="Aptos"/>
              </a:rPr>
              <a:t>HEXPAWN (1973)</a:t>
            </a:r>
            <a:r>
              <a:rPr sz="1800" b="0">
                <a:solidFill>
                  <a:srgbClr val="333333"/>
                </a:solidFill>
                <a:latin typeface="Aptos"/>
              </a:rPr>
              <a:t> — self-modifying code: it learns as it loses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333333"/>
                </a:solidFill>
                <a:latin typeface="Aptos"/>
              </a:rPr>
              <a:t>4.  </a:t>
            </a:r>
            <a:r>
              <a:rPr sz="1800" b="1">
                <a:solidFill>
                  <a:srgbClr val="333333"/>
                </a:solidFill>
                <a:latin typeface="Aptos"/>
              </a:rPr>
              <a:t>Finale — the tiny OS:</a:t>
            </a:r>
            <a:r>
              <a:rPr sz="1800" b="0">
                <a:solidFill>
                  <a:srgbClr val="333333"/>
                </a:solidFill>
                <a:latin typeface="Aptos"/>
              </a:rPr>
              <a:t>  power on → BASIC → </a:t>
            </a:r>
            <a:r>
              <a:rPr sz="1800" b="0">
                <a:solidFill>
                  <a:srgbClr val="1F9DD8"/>
                </a:solidFill>
                <a:latin typeface="Aptos Mono"/>
              </a:rPr>
              <a:t>MON</a:t>
            </a:r>
            <a:r>
              <a:rPr sz="1800" b="0">
                <a:solidFill>
                  <a:srgbClr val="333333"/>
                </a:solidFill>
                <a:latin typeface="Aptos"/>
              </a:rPr>
              <a:t> → monitor dumps the tokenized program from RAM → </a:t>
            </a:r>
            <a:r>
              <a:rPr sz="1800" b="0">
                <a:solidFill>
                  <a:srgbClr val="1F9DD8"/>
                </a:solidFill>
                <a:latin typeface="Aptos Mono"/>
              </a:rPr>
              <a:t>G 1FB6</a:t>
            </a:r>
            <a:r>
              <a:rPr sz="1800" b="0">
                <a:solidFill>
                  <a:srgbClr val="333333"/>
                </a:solidFill>
                <a:latin typeface="Aptos"/>
              </a:rPr>
              <a:t> → back in BASIC, program intact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3F44"/>
                </a:solidFill>
                <a:latin typeface="Aptos"/>
              </a:rPr>
              <a:t>ACT VI —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Aptos"/>
              </a:rPr>
              <a:t>What I’d tell you to steal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</a:t>
            </a:r>
            <a:r>
              <a:rPr sz="1900" b="1">
                <a:solidFill>
                  <a:srgbClr val="333333"/>
                </a:solidFill>
                <a:latin typeface="Aptos"/>
              </a:rPr>
              <a:t>Dumb modules, smart control</a:t>
            </a:r>
            <a:r>
              <a:rPr sz="1900" b="0">
                <a:solidFill>
                  <a:srgbClr val="333333"/>
                </a:solidFill>
                <a:latin typeface="Aptos"/>
              </a:rPr>
              <a:t> — structure beats cleverness; the block diagram was right all along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</a:t>
            </a:r>
            <a:r>
              <a:rPr sz="1900" b="1">
                <a:solidFill>
                  <a:srgbClr val="333333"/>
                </a:solidFill>
                <a:latin typeface="Aptos"/>
              </a:rPr>
              <a:t>Simulation passing is a hypothesis. Hardware is the proof.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</a:t>
            </a:r>
            <a:r>
              <a:rPr sz="1900" b="1">
                <a:solidFill>
                  <a:srgbClr val="333333"/>
                </a:solidFill>
                <a:latin typeface="Aptos"/>
              </a:rPr>
              <a:t>AI pair programming works when you own the ground truth</a:t>
            </a:r>
            <a:r>
              <a:rPr sz="1900" b="0">
                <a:solidFill>
                  <a:srgbClr val="333333"/>
                </a:solidFill>
                <a:latin typeface="Aptos"/>
              </a:rPr>
              <a:t> — I specified and verified; it multiplied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</a:t>
            </a:r>
            <a:r>
              <a:rPr sz="1900" b="1">
                <a:solidFill>
                  <a:srgbClr val="333333"/>
                </a:solidFill>
                <a:latin typeface="Aptos"/>
              </a:rPr>
              <a:t>Old software is the best test suite</a:t>
            </a:r>
            <a:r>
              <a:rPr sz="1900" b="0">
                <a:solidFill>
                  <a:srgbClr val="333333"/>
                </a:solidFill>
                <a:latin typeface="Aptos"/>
              </a:rPr>
              <a:t> — it encodes assumptions no one thinks to write down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333333"/>
                </a:solidFill>
                <a:latin typeface="Aptos"/>
              </a:rPr>
              <a:t>•  1972 engineers did all of this with 3,500 transistors. </a:t>
            </a:r>
            <a:r>
              <a:rPr sz="1900" b="1">
                <a:solidFill>
                  <a:srgbClr val="333333"/>
                </a:solidFill>
                <a:latin typeface="Aptos"/>
              </a:rPr>
              <a:t>Respect.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0058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2F2F2"/>
                </a:solidFill>
                <a:latin typeface="Aptos"/>
              </a:rP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19072"/>
            <a:ext cx="1463040" cy="50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6949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2F2F2"/>
                </a:solidFill>
                <a:latin typeface="Aptos"/>
              </a:rPr>
              <a:t>Robert Rico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2F2"/>
                </a:solidFill>
                <a:latin typeface="Aptos"/>
              </a:rPr>
              <a:t>Project: </a:t>
            </a:r>
            <a:r>
              <a:rPr sz="1600" b="0">
                <a:solidFill>
                  <a:srgbClr val="FFC220"/>
                </a:solidFill>
                <a:latin typeface="Aptos Mono"/>
              </a:rPr>
              <a:t>github.com/robertrico/intel-8008-vhdl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2F2"/>
                </a:solidFill>
                <a:latin typeface="Aptos"/>
              </a:rPr>
              <a:t>SCELBAL: Jim Loos (</a:t>
            </a:r>
            <a:r>
              <a:rPr sz="1600" b="0">
                <a:solidFill>
                  <a:srgbClr val="FFC220"/>
                </a:solidFill>
                <a:latin typeface="Aptos Mono"/>
              </a:rPr>
              <a:t>jim11662418/8008-SBC</a:t>
            </a:r>
            <a:r>
              <a:rPr sz="1600" b="0">
                <a:solidFill>
                  <a:srgbClr val="F2F2F2"/>
                </a:solidFill>
                <a:latin typeface="Aptos"/>
              </a:rPr>
              <a:t>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2F2"/>
                </a:solidFill>
                <a:latin typeface="Aptos"/>
              </a:rPr>
              <a:t>Period software: Mike Willegal’s SCELBI archive (willegal.net)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2F2"/>
                </a:solidFill>
                <a:latin typeface="Aptos"/>
              </a:rPr>
              <a:t>Original SCELBAL: Arnold &amp; Wadsworth, 1976</a:t>
            </a:r>
          </a:p>
        </p:txBody>
      </p:sp>
      <p:pic>
        <p:nvPicPr>
          <p:cNvPr id="6" name="Picture 5" descr="tiny_os_scel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095" y="1256224"/>
            <a:ext cx="5419876" cy="3793296"/>
          </a:xfrm>
          <a:prstGeom prst="rect">
            <a:avLst/>
          </a:prstGeom>
          <a:ln w="9525">
            <a:solidFill>
              <a:srgbClr val="8D8D8D"/>
            </a:solidFill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2988</Words>
  <Application>Microsoft Macintosh PowerPoint</Application>
  <PresentationFormat>Widescreen</PresentationFormat>
  <Paragraphs>269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 Rico</cp:lastModifiedBy>
  <cp:revision>7</cp:revision>
  <dcterms:created xsi:type="dcterms:W3CDTF">2013-01-27T09:14:16Z</dcterms:created>
  <dcterms:modified xsi:type="dcterms:W3CDTF">2026-07-04T19:01:42Z</dcterms:modified>
  <cp:category/>
</cp:coreProperties>
</file>