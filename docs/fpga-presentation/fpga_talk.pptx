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211" d="100"/>
          <a:sy n="211" d="100"/>
        </p:scale>
        <p:origin x="56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59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naming the real subject: this is an FPGA and HDL talk. The 8008 is the payload — it is what makes the FPGA content concrete instead of abstract. One sentence of setup: "I built a 1972 microprocessor out of an empty chip, and along the way I had to learn what that chip actually is. That is the talk."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contract. Software people get 1–2; hardware people get 3–4; question 5 is the one that starts arguments, so flag it early and honestly rather than springing it. Say out loud: "I had never used an FPGA and could not read VHDL when I started. I am going to show you what worked and, more usefully, what did not."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most useful framing for a software audience. An FPGA is not a fast CPU and it is not a simulator — it is a bag of gates you get to arrange, and then rearrange tomorrow. That "rearrange tomorrow" is the whole value proposition; ASIC people only get one shot.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two ideas: (1) the chip is homogeneous — the same tile, tens of thousands of times; (2) the interesting part is the routing between them. When a design fails timing it is almost always routing delay, not logic delay. Point at the highlighted tile and say: next slide, we open that LUT.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"oh!" slide for anyone who has never seen inside an FPGA. Key point to say out loud: all 16 cells are identical memory bits — none of them is special, none of them is "active". At runtime the four inputs d,c,b,a form a 4-bit address and the multiplexer copies exactly ONE cell to q, whether it holds 0 or 1. Walk one concrete lookup: a=1, b=1, c=0, d=0 → address dcba=0011 → that is the 4th cell of the top row, which stores 1 → q=1. Then walk a zero: a=0, b=1, c=0, d=1 → dcba=1010 → 3rd cell of 3rd row, stores 0 → q=0. Same mechanism both times; the LUT does not "know" AND or OR, it just remembers answers. How the grid was filled: the synthesizer evaluated q = (a AND b) OR (c AND NOT d) for all 16 addresses. Row 2 is all 1s because c=1,d=0 makes the second term true no matter what a,b are; the last column of the other rows is 1 because those are the addresses where a=b=1. Punchline: reconfiguring an FPGA is literally rewriting these tables. The ECP5 has ~44,000 of them, and a real LUT4 also has a fast path to its neighbour so wide functions chain cheaply.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numbers from this project’s nextpnr report — utilization.txt in projects/b8008_basic/reports/. The DP16KD row is the one to dwell on: 8 block RAMs hold the entire 1970s software library. The PLL row sets up the clocking slide later.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Kill the most common misconception in the room: the bitstream is not a program and the FPGA is not executing it. The bitstream is the *wiring diagram*, written into memory cells that hold switches open or closed. After that it is inert — the circuit just 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parallelism point is the reason people use FPGAs at all — SDR, video, HFT, protocol bridges. Here it also buys authenticity: the timing is real, so period software that depends on cycle counts just works. If you want one sentence for the software folks: in HDL, every line you write runs on every clock edge, forever, at the same time as every other 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reason for ECP5: open toolchain. Xilinx/Intel parts are bigger and faster but you are inside a closed binary. On ECP5 I could read the synthesis log, read the packer, and — as you will see — file a bug against Yosys when it ate my ROM. Optional: hold up the board 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hardest unlearning for a software engineer. My own worst early bugs were all this: assuming sequence where there was none. A good check when reviewing HDL — ask "what gate is this line?" If you cannot answer, it probably will not synthesize the way you think.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turn this into a language war — 60 seconds. The point is that HDLs are interchangeable at this level, and that the *type strictness* of VHDL was a deliberate safety choice for this particular project. Modern tools mix both freely: this design is VHDL that gets translated to Verilog on the way to the chip anyway.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Demystifying move: HDL has a small synthesizable core. Most of a VHDL textbook is simulation-only constructs that never reach the chip. If you can read these three patterns you can read this entire project. Note the comments: I want the audience already thinking in "what does it become".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payoffs, both worth naming. (1) Verification: a module this small is exhaustively testable. (2) It is the unit an AI assistant gets right and a human can fully review — which mattered, because most of this VHDL was drafted by Claude and reviewed by me. The 8008’s wrap-around stack semantics fall out of the 3-bit width; I never wrote code for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three are where a 1972 datasheet collides with 2013 silicon. The tri-state one is the fun one: the 8008’s entire personality is a time-multiplexed bus, and the FPGA simply does not have that primitive internally — so the tool rebuilds the same behavior out of muxes. Faithful function, completely different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spine of the talk for hardware-curious folks: the abstraction stack is only four levels deep and you can inspect all of it. Mention that `build/*.v` and `build/*.json` are readable — I have debugged real problems by grepping the Yosys JSON. Contrast with a closed vendor flow where the intermediate is a binary blob.</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real commands out of projects/project.mk. Worth calling out `tribuf -logic` — that is the tri-state rewrite from two slides ago, sitting right there in the flow. And `ghdl_gates.v` is a 40-line shim I had to write because GHDL emits two primitives Yosys does not know. Both are the kind of seam you only get to see, let alone fix, in an open toolchain.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Manage expectations for anyone who might try this: the edit-compile-test loop is minutes, not seconds, and it is stochastic. That changes how you work — you batch changes, you lean much harder on simulation, and you do not chase a 3% fmax difference between two runs because it is noise.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land. (1) What "fmax" means physically — it is a race between a signal and the next clock edge. (2) This path starts in the ROM block RAM, wanders through instruction decode and the register file, and ends at a data-bus pin — 24 hops, and the routing between tiles costs more than all the logic. Note for honesty: nextpnr prints fmax twice, once after placement (94.58 MHz) and again after routing. 115.66 is the final one. If someone asks how you fix a failing path: add a pipeline register and let the tool re-place 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Best single example of "HDL is not software". Both versions simulate identically and both are correct. One fits in 7% of the block RAM; the other does not fit at all. This is why HDL people talk about "coding styles" — they are not style, they are load-bearing. Also note the deliberate design comment in ram_sync.vhdl: the one-cycle read latency is invisible to the 8008 because the address is latched at T1/T2 and data is not consumed until T3.</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"wow" beat, and an honest one — those numbers are straight from reports/utilization.txt. The follow-up question you will get is "so what would you do with the other 96%?" Real answer: a 6502, a Z80, and a video generator, all running at once, sharing nothing. That is what the parallelism slide meant in practice.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keystone slide and it is worth slowing down for. Two separate claims, kept separate. First, provenance: Intel drew a conceptual block diagram; turning those boxes into 25 synthesizable, independently testable modules with explicit control signals is an RTL partition, and that work is mine. Second, the survey: eighteen months of searching turned up only instruction-set simulators. Make the invitation genuinely — you want the counterexample if it exists. Do NOT bring up the AI/training-data angle here — that diagnosis belongs to Part 6, where the survey fact gets cashed in.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"system on chip" slide. The point for an FPGA audience: the CPU is the small part. Memory, clocking, serial, and debug infrastructure are most of the engineering — same as any real SoC. Call out debug_clock_control: being able to freeze the CPU with a DIP switch and single-step it is a debugging superpower you simply cannot have with a physical 1972 chip.</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Best transferable FPGA lesson in the deck. The general rule: derive clocks in a PLL or not at all; everything else is an enable. Divided/gated clocks are the classic beginner mistake and they produce bugs that only show up on hardware, because simulation has no clock skew. The scope captures on the next-to-last slide show the real φ1/φ2 coming out of the FPGA — those are outputs, not internal clocks.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this one as a detective story; it is the most memorable slide in the deck for a technical audience. The moral is not "Yosys is bad" — it is that below your RTL there is a compiler with bugs, and when simulation and hardware disagree, the toolchain is a legitimate suspect. Days lost: about three. Characters changed: 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Generalizable well beyond this project: if your design has a soft CPU or a lookup table in BRAM, you almost certainly do not need to resynthesize to change its contents. Every vendor has an equivalent (Xilinx updatemem, Intel mif-update). It turns a 90-second loop into an interactive one, which changes how you write firmware.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the war stories to the demo. The exhaustive ALU sweep is worth a beat — 1,049,600 cases is every operand pair × every op × carry-in, checked against an independent model. You can do that for an 8-bit ALU; that is a real advantage of working at this scale. Then: sim-versus-silicon, which is the lesson every single one of these war stories converges 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paragraph per row, no deep dive. SBY: the solver proves the assertion for ALL input sequences, not sampled ones — math, not test vectors. Equivalence: the exact netlist headed for the FPGA is proven to match the RTL, so synthesis cannot silently change behavior — the 0xFF war story is why this exists. Exhaustive: every ALU input combination, every opcode, against models written from the datasheet, not from the VHDL. Mutation-tested = plant a bug, watch the checker fail, revert — a checker that cannot fail proves nothing. Anecdote: the bus monitor found a real RTL bug — two machine-cycle type codes transposed on the external bus. The fuzzer runs the same random program on the RTL core and the synthesized-netlist core and diffs the traces.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cheat sheet — verify before the talk. Scope: probe the phi1_out/phi2_out pins so the audience sees Part 1 made physical. Pi: L in monitor, send_hex.py, G 0040; narrate while it grinds; 49/50 digits — the 50th is the original 1970s program’s guard-byte truncation, good trivia. Calc: load, G, type the sum live. Finale: power-cycle into the b8008_basic bitstream, type a 3-line FOR/NEXT, RUN, MON, D the program region, G 1FB6, LIST. Fallback recordings ready for all four.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whole story lands in one place. 367 commits, two complete rewrites. The diagnosis in the bar is the important sentence and it is not a metaphor: ask a model to implement an 8008 and everything it has ever seen is an emulator — sequential software, one opcode at a time. So its instinct pulls that way, and for two versions I followed it. s8008 is literally an instruction-set simulator expressed in VHDL. What broke the pattern was going back to the primary source and building the picture Intel drew.</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promise from the signpost being kept. Walk it, do not read it. Row one is the least flattering to the AI and it is the one that makes the rest credible: for foundations it is a tempting shortcut that does not work. You can get a perfect explanation of a LUT and still not understand FPGAs. Row two is the honest credit — drafting is real leverage when you can read the output. Row three is the sharpest concrete example in the talk.</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payoff. The bar at the bottom is the answer to the question posed back at the signpost, and it should be said slowly. Row four is the keystone — it ties to the block-diagram slide and it is the reason the third attempt is different in kind, not just in quality. Row five is the sentence people write down: grading its homework with its own answer key. If you are short on time, cut rows one and two here; four and five carry the argument.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last line — it lands, and it is true. Everything that made this project possible (simulation, regression tests, a rewritable chip, undo, and an AI assistant) is something the original team did not have. The six above are the transferable answer to "can you learn a hard skill this way": yes, and the conditions are specific and non-optional.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Fill in the repo URL when public. Likely questions: "why not Verilog/SystemVerilog" (taste + type strictness), "why not a Xilinx board" (open toolchain), "how much did the AI actually write" (most of the VHDL drafts; all of the specification, verification, and rejection was mine), "could you run it faster" (yes — 190× headroom — but then the period software’s timing loops break).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685800" y="1691640"/>
            <a:ext cx="6949440" cy="3474720"/>
          </a:xfrm>
          <a:prstGeom prst="rect">
            <a:avLst/>
          </a:prstGeom>
          <a:noFill/>
        </p:spPr>
        <p:txBody>
          <a:bodyPr wrap="square">
            <a:spAutoFit/>
          </a:bodyPr>
          <a:lstStyle/>
          <a:p>
            <a:r>
              <a:rPr sz="4600" b="1">
                <a:solidFill>
                  <a:srgbClr val="FFC220"/>
                </a:solidFill>
                <a:latin typeface="Aptos Mono"/>
              </a:rPr>
              <a:t>Nothing → CPU</a:t>
            </a:r>
          </a:p>
          <a:p>
            <a:pPr>
              <a:spcBef>
                <a:spcPts val="1000"/>
              </a:spcBef>
            </a:pPr>
            <a:r>
              <a:rPr sz="3000" b="1">
                <a:solidFill>
                  <a:srgbClr val="F2F2F2"/>
                </a:solidFill>
                <a:latin typeface="Aptos"/>
              </a:rPr>
              <a:t>What an FPGA actually is,
and what your HDL becomes inside it</a:t>
            </a:r>
          </a:p>
          <a:p>
            <a:pPr>
              <a:spcBef>
                <a:spcPts val="2000"/>
              </a:spcBef>
            </a:pPr>
            <a:r>
              <a:rPr sz="1700">
                <a:solidFill>
                  <a:srgbClr val="C9CED6"/>
                </a:solidFill>
                <a:latin typeface="Aptos"/>
              </a:rPr>
              <a:t>Told through a working Intel 8008 in VHDL on a Lattice ECP5 —
built with a fully open-source toolchain</a:t>
            </a:r>
          </a:p>
          <a:p>
            <a:pPr>
              <a:spcBef>
                <a:spcPts val="2400"/>
              </a:spcBef>
            </a:pPr>
            <a:r>
              <a:rPr sz="1600" b="1">
                <a:solidFill>
                  <a:srgbClr val="F2F2F2"/>
                </a:solidFill>
                <a:latin typeface="Aptos"/>
              </a:rPr>
              <a:t>Robert Rico</a:t>
            </a:r>
          </a:p>
        </p:txBody>
      </p:sp>
      <p:sp>
        <p:nvSpPr>
          <p:cNvPr id="3" name="Rectangle 2"/>
          <p:cNvSpPr/>
          <p:nvPr/>
        </p:nvSpPr>
        <p:spPr>
          <a:xfrm>
            <a:off x="731520" y="1627632"/>
            <a:ext cx="1463040" cy="4114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attice_logo_ondark.png"/>
          <p:cNvPicPr>
            <a:picLocks noChangeAspect="1"/>
          </p:cNvPicPr>
          <p:nvPr/>
        </p:nvPicPr>
        <p:blipFill>
          <a:blip r:embed="rId3"/>
          <a:stretch>
            <a:fillRect/>
          </a:stretch>
        </p:blipFill>
        <p:spPr>
          <a:xfrm>
            <a:off x="8183879" y="1783080"/>
            <a:ext cx="2107798" cy="384048"/>
          </a:xfrm>
          <a:prstGeom prst="rect">
            <a:avLst/>
          </a:prstGeom>
          <a:effectLst/>
        </p:spPr>
      </p:pic>
      <p:pic>
        <p:nvPicPr>
          <p:cNvPr id="5" name="Picture 4" descr="tiny_os_scelbal.png"/>
          <p:cNvPicPr>
            <a:picLocks noChangeAspect="1"/>
          </p:cNvPicPr>
          <p:nvPr/>
        </p:nvPicPr>
        <p:blipFill>
          <a:blip r:embed="rId4"/>
          <a:stretch>
            <a:fillRect/>
          </a:stretch>
        </p:blipFill>
        <p:spPr>
          <a:xfrm>
            <a:off x="8183879" y="2743200"/>
            <a:ext cx="3520440" cy="2463907"/>
          </a:xfrm>
          <a:prstGeom prst="rect">
            <a:avLst/>
          </a:prstGeom>
          <a:ln w="9525">
            <a:solidFill>
              <a:srgbClr val="8D8D8D"/>
            </a:solidFill>
          </a:ln>
          <a:effectLst/>
        </p:spPr>
      </p:pic>
      <p:sp>
        <p:nvSpPr>
          <p:cNvPr id="6" name="TextBox 5"/>
          <p:cNvSpPr txBox="1"/>
          <p:nvPr/>
        </p:nvSpPr>
        <p:spPr>
          <a:xfrm>
            <a:off x="8183879" y="5261971"/>
            <a:ext cx="3520440" cy="365760"/>
          </a:xfrm>
          <a:prstGeom prst="rect">
            <a:avLst/>
          </a:prstGeom>
          <a:noFill/>
        </p:spPr>
        <p:txBody>
          <a:bodyPr wrap="square">
            <a:spAutoFit/>
          </a:bodyPr>
          <a:lstStyle/>
          <a:p>
            <a:r>
              <a:rPr sz="1200" i="1">
                <a:solidFill>
                  <a:srgbClr val="9AA0A8"/>
                </a:solidFill>
                <a:latin typeface="Aptos"/>
              </a:rPr>
              <a:t>The finish line: it boots into BASIC.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ROADMAP</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Five questions, in order</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828800"/>
            <a:ext cx="2148840" cy="40233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82880" tIns="237744" rIns="128016" rtlCol="0" anchor="ctr"/>
          <a:lstStyle/>
          <a:p>
            <a:pPr algn="l"/>
            <a:r>
              <a:rPr sz="3000" b="1">
                <a:solidFill>
                  <a:srgbClr val="C9CED6"/>
                </a:solidFill>
                <a:latin typeface="Aptos Mono"/>
              </a:rPr>
              <a:t>1</a:t>
            </a:r>
          </a:p>
          <a:p>
            <a:pPr algn="l">
              <a:spcBef>
                <a:spcPts val="600"/>
              </a:spcBef>
            </a:pPr>
            <a:r>
              <a:rPr sz="1650" b="1">
                <a:solidFill>
                  <a:srgbClr val="333333"/>
                </a:solidFill>
                <a:latin typeface="Aptos"/>
              </a:rPr>
              <a:t>What IS an
FPGA?</a:t>
            </a:r>
          </a:p>
          <a:p>
            <a:pPr algn="l">
              <a:spcBef>
                <a:spcPts val="1000"/>
              </a:spcBef>
            </a:pPr>
            <a:r>
              <a:rPr sz="1250">
                <a:solidFill>
                  <a:srgbClr val="5A6068"/>
                </a:solidFill>
                <a:latin typeface="Aptos"/>
              </a:rPr>
              <a:t>LUTs, flip-flops,
routing, hard blocks,
bitstreams. No
hand-waving.</a:t>
            </a:r>
          </a:p>
        </p:txBody>
      </p:sp>
      <p:sp>
        <p:nvSpPr>
          <p:cNvPr id="6" name="Rectangle 5"/>
          <p:cNvSpPr/>
          <p:nvPr/>
        </p:nvSpPr>
        <p:spPr>
          <a:xfrm>
            <a:off x="548640" y="1828800"/>
            <a:ext cx="21488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816352" y="1828800"/>
            <a:ext cx="2148840" cy="40233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82880" tIns="237744" rIns="128016" rtlCol="0" anchor="ctr"/>
          <a:lstStyle/>
          <a:p>
            <a:pPr algn="l"/>
            <a:r>
              <a:rPr sz="3000" b="1">
                <a:solidFill>
                  <a:srgbClr val="C9CED6"/>
                </a:solidFill>
                <a:latin typeface="Aptos Mono"/>
              </a:rPr>
              <a:t>2</a:t>
            </a:r>
          </a:p>
          <a:p>
            <a:pPr algn="l">
              <a:spcBef>
                <a:spcPts val="600"/>
              </a:spcBef>
            </a:pPr>
            <a:r>
              <a:rPr sz="1650" b="1">
                <a:solidFill>
                  <a:srgbClr val="333333"/>
                </a:solidFill>
                <a:latin typeface="Aptos"/>
              </a:rPr>
              <a:t>What does HDL
actually say?</a:t>
            </a:r>
          </a:p>
          <a:p>
            <a:pPr algn="l">
              <a:spcBef>
                <a:spcPts val="1000"/>
              </a:spcBef>
            </a:pPr>
            <a:r>
              <a:rPr sz="1250">
                <a:solidFill>
                  <a:srgbClr val="5A6068"/>
                </a:solidFill>
                <a:latin typeface="Aptos"/>
              </a:rPr>
              <a:t>VHDL vs Verilog, the
three things you write,
and what each becomes
in silicon.</a:t>
            </a:r>
          </a:p>
        </p:txBody>
      </p:sp>
      <p:sp>
        <p:nvSpPr>
          <p:cNvPr id="8" name="Rectangle 7"/>
          <p:cNvSpPr/>
          <p:nvPr/>
        </p:nvSpPr>
        <p:spPr>
          <a:xfrm>
            <a:off x="2816352" y="1828800"/>
            <a:ext cx="21488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84064" y="1828800"/>
            <a:ext cx="2148840" cy="40233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82880" tIns="237744" rIns="128016" rtlCol="0" anchor="ctr"/>
          <a:lstStyle/>
          <a:p>
            <a:pPr algn="l"/>
            <a:r>
              <a:rPr sz="3000" b="1">
                <a:solidFill>
                  <a:srgbClr val="C9CED6"/>
                </a:solidFill>
                <a:latin typeface="Aptos Mono"/>
              </a:rPr>
              <a:t>3</a:t>
            </a:r>
          </a:p>
          <a:p>
            <a:pPr algn="l">
              <a:spcBef>
                <a:spcPts val="600"/>
              </a:spcBef>
            </a:pPr>
            <a:r>
              <a:rPr sz="1650" b="1">
                <a:solidFill>
                  <a:srgbClr val="333333"/>
                </a:solidFill>
                <a:latin typeface="Aptos"/>
              </a:rPr>
              <a:t>What does the
toolchain do?</a:t>
            </a:r>
          </a:p>
          <a:p>
            <a:pPr algn="l">
              <a:spcBef>
                <a:spcPts val="1000"/>
              </a:spcBef>
            </a:pPr>
            <a:r>
              <a:rPr sz="1250">
                <a:solidFill>
                  <a:srgbClr val="5A6068"/>
                </a:solidFill>
                <a:latin typeface="Aptos"/>
              </a:rPr>
              <a:t>GHDL → Yosys → nextpnr
→ bitstream. Place, route,
timing closure — and
inference’s sharp edge.</a:t>
            </a:r>
          </a:p>
        </p:txBody>
      </p:sp>
      <p:sp>
        <p:nvSpPr>
          <p:cNvPr id="10" name="Rectangle 9"/>
          <p:cNvSpPr/>
          <p:nvPr/>
        </p:nvSpPr>
        <p:spPr>
          <a:xfrm>
            <a:off x="5084064" y="1828800"/>
            <a:ext cx="21488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51776" y="1828800"/>
            <a:ext cx="2148840" cy="40233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82880" tIns="237744" rIns="128016" rtlCol="0" anchor="ctr"/>
          <a:lstStyle/>
          <a:p>
            <a:pPr algn="l"/>
            <a:r>
              <a:rPr sz="3000" b="1">
                <a:solidFill>
                  <a:srgbClr val="C9CED6"/>
                </a:solidFill>
                <a:latin typeface="Aptos Mono"/>
              </a:rPr>
              <a:t>4</a:t>
            </a:r>
          </a:p>
          <a:p>
            <a:pPr algn="l">
              <a:spcBef>
                <a:spcPts val="600"/>
              </a:spcBef>
            </a:pPr>
            <a:r>
              <a:rPr sz="1650" b="1">
                <a:solidFill>
                  <a:srgbClr val="333333"/>
                </a:solidFill>
                <a:latin typeface="Aptos"/>
              </a:rPr>
              <a:t>Where does it
bite you?</a:t>
            </a:r>
          </a:p>
          <a:p>
            <a:pPr algn="l">
              <a:spcBef>
                <a:spcPts val="1000"/>
              </a:spcBef>
            </a:pPr>
            <a:r>
              <a:rPr sz="1250">
                <a:solidFill>
                  <a:srgbClr val="5A6068"/>
                </a:solidFill>
                <a:latin typeface="Aptos"/>
              </a:rPr>
              <a:t>The clocking trap, the
day the toolchain ate
my ROM, and how you
prove gateware is right.</a:t>
            </a:r>
          </a:p>
        </p:txBody>
      </p:sp>
      <p:sp>
        <p:nvSpPr>
          <p:cNvPr id="12" name="Rectangle 11"/>
          <p:cNvSpPr/>
          <p:nvPr/>
        </p:nvSpPr>
        <p:spPr>
          <a:xfrm>
            <a:off x="7351776" y="1828800"/>
            <a:ext cx="21488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619488" y="1828800"/>
            <a:ext cx="2148840" cy="40233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82880" tIns="237744" rIns="128016" rtlCol="0" anchor="ctr"/>
          <a:lstStyle/>
          <a:p>
            <a:pPr algn="l"/>
            <a:r>
              <a:rPr sz="3000" b="1">
                <a:solidFill>
                  <a:srgbClr val="C9CED6"/>
                </a:solidFill>
                <a:latin typeface="Aptos Mono"/>
              </a:rPr>
              <a:t>5</a:t>
            </a:r>
          </a:p>
          <a:p>
            <a:pPr algn="l">
              <a:spcBef>
                <a:spcPts val="600"/>
              </a:spcBef>
            </a:pPr>
            <a:r>
              <a:rPr sz="1650" b="1">
                <a:solidFill>
                  <a:srgbClr val="333333"/>
                </a:solidFill>
                <a:latin typeface="Aptos"/>
              </a:rPr>
              <a:t>Can you learn
this with an AI?</a:t>
            </a:r>
          </a:p>
          <a:p>
            <a:pPr algn="l">
              <a:spcBef>
                <a:spcPts val="1000"/>
              </a:spcBef>
            </a:pPr>
            <a:r>
              <a:rPr sz="1250">
                <a:solidFill>
                  <a:srgbClr val="5A6068"/>
                </a:solidFill>
                <a:latin typeface="Aptos"/>
              </a:rPr>
              <a:t>Yes. I did. And the two
attempts I threw away
show exactly how
not to.</a:t>
            </a:r>
          </a:p>
        </p:txBody>
      </p:sp>
      <p:sp>
        <p:nvSpPr>
          <p:cNvPr id="14" name="Rectangle 13"/>
          <p:cNvSpPr/>
          <p:nvPr/>
        </p:nvSpPr>
        <p:spPr>
          <a:xfrm>
            <a:off x="9619488" y="1828800"/>
            <a:ext cx="21488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6080760"/>
            <a:ext cx="11155680" cy="640080"/>
          </a:xfrm>
          <a:prstGeom prst="rect">
            <a:avLst/>
          </a:prstGeom>
          <a:noFill/>
        </p:spPr>
        <p:txBody>
          <a:bodyPr wrap="square">
            <a:spAutoFit/>
          </a:bodyPr>
          <a:lstStyle/>
          <a:p>
            <a:pPr>
              <a:spcAft>
                <a:spcPts val="800"/>
              </a:spcAft>
            </a:pPr>
            <a:r>
              <a:rPr sz="1700" b="0">
                <a:solidFill>
                  <a:srgbClr val="333333"/>
                </a:solidFill>
                <a:latin typeface="Aptos"/>
              </a:rPr>
              <a:t>Then: a live 1972 machine, running as a circuit inside a 2013 chip.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Three ways to build a digital system</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783080"/>
          <a:ext cx="11064240" cy="29260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487680">
                <a:tc>
                  <a:txBody>
                    <a:bodyPr/>
                    <a:lstStyle/>
                    <a:p>
                      <a:endParaRPr/>
                    </a:p>
                  </a:txBody>
                  <a:tcPr marL="109728" marR="109728" marT="36576" marB="36576" anchor="ctr">
                    <a:solidFill>
                      <a:srgbClr val="3B3F44"/>
                    </a:solidFill>
                  </a:tcPr>
                </a:tc>
                <a:tc>
                  <a:txBody>
                    <a:bodyPr/>
                    <a:lstStyle/>
                    <a:p>
                      <a:r>
                        <a:rPr sz="1400" b="1">
                          <a:solidFill>
                            <a:srgbClr val="FFFFFF"/>
                          </a:solidFill>
                          <a:latin typeface="Aptos"/>
                        </a:rPr>
                        <a:t>CPU + software</a:t>
                      </a:r>
                    </a:p>
                  </a:txBody>
                  <a:tcPr marL="109728" marR="109728" marT="36576" marB="36576" anchor="ctr">
                    <a:solidFill>
                      <a:srgbClr val="3B3F44"/>
                    </a:solidFill>
                  </a:tcPr>
                </a:tc>
                <a:tc>
                  <a:txBody>
                    <a:bodyPr/>
                    <a:lstStyle/>
                    <a:p>
                      <a:r>
                        <a:rPr sz="1400" b="1">
                          <a:solidFill>
                            <a:srgbClr val="FFFFFF"/>
                          </a:solidFill>
                          <a:latin typeface="Aptos"/>
                        </a:rPr>
                        <a:t>FPGA</a:t>
                      </a:r>
                    </a:p>
                  </a:txBody>
                  <a:tcPr marL="109728" marR="109728" marT="36576" marB="36576" anchor="ctr">
                    <a:solidFill>
                      <a:srgbClr val="3B3F44"/>
                    </a:solidFill>
                  </a:tcPr>
                </a:tc>
                <a:tc>
                  <a:txBody>
                    <a:bodyPr/>
                    <a:lstStyle/>
                    <a:p>
                      <a:r>
                        <a:rPr sz="1400" b="1">
                          <a:solidFill>
                            <a:srgbClr val="FFFFFF"/>
                          </a:solidFill>
                          <a:latin typeface="Aptos"/>
                        </a:rPr>
                        <a:t>ASIC</a:t>
                      </a:r>
                    </a:p>
                  </a:txBody>
                  <a:tcPr marL="109728" marR="109728" marT="36576" marB="36576" anchor="ctr">
                    <a:solidFill>
                      <a:srgbClr val="3B3F44"/>
                    </a:solidFill>
                  </a:tcPr>
                </a:tc>
                <a:extLst>
                  <a:ext uri="{0D108BD9-81ED-4DB2-BD59-A6C34878D82A}">
                    <a16:rowId xmlns:a16="http://schemas.microsoft.com/office/drawing/2014/main" val="10000"/>
                  </a:ext>
                </a:extLst>
              </a:tr>
              <a:tr h="487680">
                <a:tc>
                  <a:txBody>
                    <a:bodyPr/>
                    <a:lstStyle/>
                    <a:p>
                      <a:r>
                        <a:rPr sz="1400" b="0">
                          <a:solidFill>
                            <a:srgbClr val="333333"/>
                          </a:solidFill>
                          <a:latin typeface="Aptos"/>
                        </a:rPr>
                        <a:t>What it is</a:t>
                      </a:r>
                    </a:p>
                  </a:txBody>
                  <a:tcPr marL="109728" marR="109728" marT="36576" marB="36576" anchor="ctr">
                    <a:solidFill>
                      <a:srgbClr val="FFFFFF"/>
                    </a:solidFill>
                  </a:tcPr>
                </a:tc>
                <a:tc>
                  <a:txBody>
                    <a:bodyPr/>
                    <a:lstStyle/>
                    <a:p>
                      <a:r>
                        <a:rPr sz="1400" b="0">
                          <a:solidFill>
                            <a:srgbClr val="333333"/>
                          </a:solidFill>
                          <a:latin typeface="Aptos"/>
                        </a:rPr>
                        <a:t>Fixed circuit, running instructions</a:t>
                      </a:r>
                    </a:p>
                  </a:txBody>
                  <a:tcPr marL="109728" marR="109728" marT="36576" marB="36576" anchor="ctr">
                    <a:solidFill>
                      <a:srgbClr val="FFFFFF"/>
                    </a:solidFill>
                  </a:tcPr>
                </a:tc>
                <a:tc>
                  <a:txBody>
                    <a:bodyPr/>
                    <a:lstStyle/>
                    <a:p>
                      <a:r>
                        <a:rPr sz="1400" b="1">
                          <a:solidFill>
                            <a:srgbClr val="333333"/>
                          </a:solidFill>
                          <a:latin typeface="Aptos"/>
                        </a:rPr>
                        <a:t>Blank circuit you configure</a:t>
                      </a:r>
                    </a:p>
                  </a:txBody>
                  <a:tcPr marL="109728" marR="109728" marT="36576" marB="36576" anchor="ctr">
                    <a:solidFill>
                      <a:srgbClr val="FFFFFF"/>
                    </a:solidFill>
                  </a:tcPr>
                </a:tc>
                <a:tc>
                  <a:txBody>
                    <a:bodyPr/>
                    <a:lstStyle/>
                    <a:p>
                      <a:r>
                        <a:rPr sz="1400" b="0">
                          <a:solidFill>
                            <a:srgbClr val="333333"/>
                          </a:solidFill>
                          <a:latin typeface="Aptos"/>
                        </a:rPr>
                        <a:t>Custom-etched silicon</a:t>
                      </a:r>
                    </a:p>
                  </a:txBody>
                  <a:tcPr marL="109728" marR="109728" marT="36576" marB="36576" anchor="ctr">
                    <a:solidFill>
                      <a:srgbClr val="FFFFFF"/>
                    </a:solidFill>
                  </a:tcPr>
                </a:tc>
                <a:extLst>
                  <a:ext uri="{0D108BD9-81ED-4DB2-BD59-A6C34878D82A}">
                    <a16:rowId xmlns:a16="http://schemas.microsoft.com/office/drawing/2014/main" val="10001"/>
                  </a:ext>
                </a:extLst>
              </a:tr>
              <a:tr h="487680">
                <a:tc>
                  <a:txBody>
                    <a:bodyPr/>
                    <a:lstStyle/>
                    <a:p>
                      <a:r>
                        <a:rPr sz="1400" b="0">
                          <a:solidFill>
                            <a:srgbClr val="333333"/>
                          </a:solidFill>
                          <a:latin typeface="Aptos"/>
                        </a:rPr>
                        <a:t>Change it by</a:t>
                      </a:r>
                    </a:p>
                  </a:txBody>
                  <a:tcPr marL="109728" marR="109728" marT="36576" marB="36576" anchor="ctr">
                    <a:solidFill>
                      <a:srgbClr val="EFEFEF"/>
                    </a:solidFill>
                  </a:tcPr>
                </a:tc>
                <a:tc>
                  <a:txBody>
                    <a:bodyPr/>
                    <a:lstStyle/>
                    <a:p>
                      <a:r>
                        <a:rPr sz="1400" b="0">
                          <a:solidFill>
                            <a:srgbClr val="333333"/>
                          </a:solidFill>
                          <a:latin typeface="Aptos"/>
                        </a:rPr>
                        <a:t>Recompiling (seconds)</a:t>
                      </a:r>
                    </a:p>
                  </a:txBody>
                  <a:tcPr marL="109728" marR="109728" marT="36576" marB="36576" anchor="ctr">
                    <a:solidFill>
                      <a:srgbClr val="EFEFEF"/>
                    </a:solidFill>
                  </a:tcPr>
                </a:tc>
                <a:tc>
                  <a:txBody>
                    <a:bodyPr/>
                    <a:lstStyle/>
                    <a:p>
                      <a:r>
                        <a:rPr sz="1400" b="0">
                          <a:solidFill>
                            <a:srgbClr val="333333"/>
                          </a:solidFill>
                          <a:latin typeface="Aptos"/>
                        </a:rPr>
                        <a:t>Re-synthesizing (minutes)</a:t>
                      </a:r>
                    </a:p>
                  </a:txBody>
                  <a:tcPr marL="109728" marR="109728" marT="36576" marB="36576" anchor="ctr">
                    <a:solidFill>
                      <a:srgbClr val="EFEFEF"/>
                    </a:solidFill>
                  </a:tcPr>
                </a:tc>
                <a:tc>
                  <a:txBody>
                    <a:bodyPr/>
                    <a:lstStyle/>
                    <a:p>
                      <a:r>
                        <a:rPr sz="1400" b="0">
                          <a:solidFill>
                            <a:srgbClr val="333333"/>
                          </a:solidFill>
                          <a:latin typeface="Aptos"/>
                        </a:rPr>
                        <a:t>A new mask set ($$$, months)</a:t>
                      </a:r>
                    </a:p>
                  </a:txBody>
                  <a:tcPr marL="109728" marR="109728" marT="36576" marB="36576" anchor="ctr">
                    <a:solidFill>
                      <a:srgbClr val="EFEFEF"/>
                    </a:solidFill>
                  </a:tcPr>
                </a:tc>
                <a:extLst>
                  <a:ext uri="{0D108BD9-81ED-4DB2-BD59-A6C34878D82A}">
                    <a16:rowId xmlns:a16="http://schemas.microsoft.com/office/drawing/2014/main" val="10002"/>
                  </a:ext>
                </a:extLst>
              </a:tr>
              <a:tr h="487680">
                <a:tc>
                  <a:txBody>
                    <a:bodyPr/>
                    <a:lstStyle/>
                    <a:p>
                      <a:r>
                        <a:rPr sz="1400" b="0">
                          <a:solidFill>
                            <a:srgbClr val="333333"/>
                          </a:solidFill>
                          <a:latin typeface="Aptos"/>
                        </a:rPr>
                        <a:t>Concurrency</a:t>
                      </a:r>
                    </a:p>
                  </a:txBody>
                  <a:tcPr marL="109728" marR="109728" marT="36576" marB="36576" anchor="ctr">
                    <a:solidFill>
                      <a:srgbClr val="FFFFFF"/>
                    </a:solidFill>
                  </a:tcPr>
                </a:tc>
                <a:tc>
                  <a:txBody>
                    <a:bodyPr/>
                    <a:lstStyle/>
                    <a:p>
                      <a:r>
                        <a:rPr sz="1400" b="0">
                          <a:solidFill>
                            <a:srgbClr val="333333"/>
                          </a:solidFill>
                          <a:latin typeface="Aptos"/>
                        </a:rPr>
                        <a:t>A few cores</a:t>
                      </a:r>
                    </a:p>
                  </a:txBody>
                  <a:tcPr marL="109728" marR="109728" marT="36576" marB="36576" anchor="ctr">
                    <a:solidFill>
                      <a:srgbClr val="FFFFFF"/>
                    </a:solidFill>
                  </a:tcPr>
                </a:tc>
                <a:tc>
                  <a:txBody>
                    <a:bodyPr/>
                    <a:lstStyle/>
                    <a:p>
                      <a:r>
                        <a:rPr sz="1400" b="1">
                          <a:solidFill>
                            <a:srgbClr val="333333"/>
                          </a:solidFill>
                          <a:latin typeface="Aptos"/>
                        </a:rPr>
                        <a:t>Everything, at once</a:t>
                      </a:r>
                    </a:p>
                  </a:txBody>
                  <a:tcPr marL="109728" marR="109728" marT="36576" marB="36576" anchor="ctr">
                    <a:solidFill>
                      <a:srgbClr val="FFFFFF"/>
                    </a:solidFill>
                  </a:tcPr>
                </a:tc>
                <a:tc>
                  <a:txBody>
                    <a:bodyPr/>
                    <a:lstStyle/>
                    <a:p>
                      <a:r>
                        <a:rPr sz="1400" b="0">
                          <a:solidFill>
                            <a:srgbClr val="333333"/>
                          </a:solidFill>
                          <a:latin typeface="Aptos"/>
                        </a:rPr>
                        <a:t>Everything, at once</a:t>
                      </a:r>
                    </a:p>
                  </a:txBody>
                  <a:tcPr marL="109728" marR="109728" marT="36576" marB="36576" anchor="ctr">
                    <a:solidFill>
                      <a:srgbClr val="FFFFFF"/>
                    </a:solidFill>
                  </a:tcPr>
                </a:tc>
                <a:extLst>
                  <a:ext uri="{0D108BD9-81ED-4DB2-BD59-A6C34878D82A}">
                    <a16:rowId xmlns:a16="http://schemas.microsoft.com/office/drawing/2014/main" val="10003"/>
                  </a:ext>
                </a:extLst>
              </a:tr>
              <a:tr h="487680">
                <a:tc>
                  <a:txBody>
                    <a:bodyPr/>
                    <a:lstStyle/>
                    <a:p>
                      <a:r>
                        <a:rPr sz="1400" b="0">
                          <a:solidFill>
                            <a:srgbClr val="333333"/>
                          </a:solidFill>
                          <a:latin typeface="Aptos"/>
                        </a:rPr>
                        <a:t>Cost to start</a:t>
                      </a:r>
                    </a:p>
                  </a:txBody>
                  <a:tcPr marL="109728" marR="109728" marT="36576" marB="36576" anchor="ctr">
                    <a:solidFill>
                      <a:srgbClr val="EFEFEF"/>
                    </a:solidFill>
                  </a:tcPr>
                </a:tc>
                <a:tc>
                  <a:txBody>
                    <a:bodyPr/>
                    <a:lstStyle/>
                    <a:p>
                      <a:r>
                        <a:rPr sz="1400" b="0">
                          <a:solidFill>
                            <a:srgbClr val="333333"/>
                          </a:solidFill>
                          <a:latin typeface="Aptos"/>
                        </a:rPr>
                        <a:t>$0</a:t>
                      </a:r>
                    </a:p>
                  </a:txBody>
                  <a:tcPr marL="109728" marR="109728" marT="36576" marB="36576" anchor="ctr">
                    <a:solidFill>
                      <a:srgbClr val="EFEFEF"/>
                    </a:solidFill>
                  </a:tcPr>
                </a:tc>
                <a:tc>
                  <a:txBody>
                    <a:bodyPr/>
                    <a:lstStyle/>
                    <a:p>
                      <a:r>
                        <a:rPr sz="1400" b="0">
                          <a:solidFill>
                            <a:srgbClr val="333333"/>
                          </a:solidFill>
                          <a:latin typeface="Aptos"/>
                        </a:rPr>
                        <a:t>$50 – $5,000 board</a:t>
                      </a:r>
                    </a:p>
                  </a:txBody>
                  <a:tcPr marL="109728" marR="109728" marT="36576" marB="36576" anchor="ctr">
                    <a:solidFill>
                      <a:srgbClr val="EFEFEF"/>
                    </a:solidFill>
                  </a:tcPr>
                </a:tc>
                <a:tc>
                  <a:txBody>
                    <a:bodyPr/>
                    <a:lstStyle/>
                    <a:p>
                      <a:r>
                        <a:rPr sz="1400" b="0">
                          <a:solidFill>
                            <a:srgbClr val="333333"/>
                          </a:solidFill>
                          <a:latin typeface="Aptos"/>
                        </a:rPr>
                        <a:t>$1M+</a:t>
                      </a:r>
                    </a:p>
                  </a:txBody>
                  <a:tcPr marL="109728" marR="109728" marT="36576" marB="36576" anchor="ctr">
                    <a:solidFill>
                      <a:srgbClr val="EFEFEF"/>
                    </a:solidFill>
                  </a:tcPr>
                </a:tc>
                <a:extLst>
                  <a:ext uri="{0D108BD9-81ED-4DB2-BD59-A6C34878D82A}">
                    <a16:rowId xmlns:a16="http://schemas.microsoft.com/office/drawing/2014/main" val="10004"/>
                  </a:ext>
                </a:extLst>
              </a:tr>
              <a:tr h="487680">
                <a:tc>
                  <a:txBody>
                    <a:bodyPr/>
                    <a:lstStyle/>
                    <a:p>
                      <a:r>
                        <a:rPr sz="1400" b="0">
                          <a:solidFill>
                            <a:srgbClr val="333333"/>
                          </a:solidFill>
                          <a:latin typeface="Aptos"/>
                        </a:rPr>
                        <a:t>Good for</a:t>
                      </a:r>
                    </a:p>
                  </a:txBody>
                  <a:tcPr marL="109728" marR="109728" marT="36576" marB="36576" anchor="ctr">
                    <a:solidFill>
                      <a:srgbClr val="FFFFFF"/>
                    </a:solidFill>
                  </a:tcPr>
                </a:tc>
                <a:tc>
                  <a:txBody>
                    <a:bodyPr/>
                    <a:lstStyle/>
                    <a:p>
                      <a:r>
                        <a:rPr sz="1400" b="0">
                          <a:solidFill>
                            <a:srgbClr val="333333"/>
                          </a:solidFill>
                          <a:latin typeface="Aptos"/>
                        </a:rPr>
                        <a:t>Anything sequential</a:t>
                      </a:r>
                    </a:p>
                  </a:txBody>
                  <a:tcPr marL="109728" marR="109728" marT="36576" marB="36576" anchor="ctr">
                    <a:solidFill>
                      <a:srgbClr val="FFFFFF"/>
                    </a:solidFill>
                  </a:tcPr>
                </a:tc>
                <a:tc>
                  <a:txBody>
                    <a:bodyPr/>
                    <a:lstStyle/>
                    <a:p>
                      <a:r>
                        <a:rPr sz="1400" b="0">
                          <a:solidFill>
                            <a:srgbClr val="333333"/>
                          </a:solidFill>
                          <a:latin typeface="Aptos"/>
                        </a:rPr>
                        <a:t>Parallel, timing-exact, custom I/O</a:t>
                      </a:r>
                    </a:p>
                  </a:txBody>
                  <a:tcPr marL="109728" marR="109728" marT="36576" marB="36576" anchor="ctr">
                    <a:solidFill>
                      <a:srgbClr val="FFFFFF"/>
                    </a:solidFill>
                  </a:tcPr>
                </a:tc>
                <a:tc>
                  <a:txBody>
                    <a:bodyPr/>
                    <a:lstStyle/>
                    <a:p>
                      <a:r>
                        <a:rPr sz="1400" b="0">
                          <a:solidFill>
                            <a:srgbClr val="333333"/>
                          </a:solidFill>
                          <a:latin typeface="Aptos"/>
                        </a:rPr>
                        <a:t>Volume, power, absolute speed</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548640" y="5029200"/>
            <a:ext cx="11064240" cy="105156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F2F2F2"/>
                </a:solidFill>
                <a:latin typeface="Aptos"/>
              </a:rPr>
              <a:t>An FPGA gives you </a:t>
            </a:r>
            <a:r>
              <a:rPr sz="1800" b="1">
                <a:solidFill>
                  <a:srgbClr val="F2F2F2"/>
                </a:solidFill>
                <a:latin typeface="Aptos"/>
              </a:rPr>
              <a:t>the flexibility of software with the behavior of hardware.</a:t>
            </a:r>
            <a:r>
              <a:rPr sz="1800" b="0">
                <a:solidFill>
                  <a:srgbClr val="F2F2F2"/>
                </a:solidFill>
                <a:latin typeface="Aptos"/>
              </a:rPr>
              <a:t> You do not write a program. You wire up a machine.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Inside: a grid of tiny identical tiles</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709928"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67712" y="1874519"/>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25496"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83279"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941064"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8848" y="1874519"/>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56632" y="1874519"/>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52144"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709928"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67712" y="2432303"/>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825496"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83279"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41064"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98848" y="2432303"/>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2432303"/>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52144"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709928"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67712" y="2990087"/>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25496"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83279"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941064"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498848" y="2990087"/>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56632" y="2990087"/>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152144"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709928"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267712" y="3547872"/>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825496"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383279"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941064"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498848" y="3547872"/>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056632" y="3547872"/>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94360"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52144"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709928"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267712" y="4105656"/>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825496"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383279"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941064"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498848" y="4105656"/>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56632" y="4105656"/>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94360"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52144"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709928"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267712" y="4663440"/>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825496"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383279"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941064"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498848" y="4663440"/>
            <a:ext cx="475488" cy="475488"/>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056632" y="4663440"/>
            <a:ext cx="475488" cy="475488"/>
          </a:xfrm>
          <a:prstGeom prst="rect">
            <a:avLst/>
          </a:prstGeom>
          <a:solidFill>
            <a:srgbClr val="FFFFFF"/>
          </a:solidFill>
          <a:ln w="12700">
            <a:solidFill>
              <a:srgbClr val="CFD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115568" y="2953511"/>
            <a:ext cx="548640" cy="548640"/>
          </a:xfrm>
          <a:prstGeom prst="rect">
            <a:avLst/>
          </a:prstGeom>
          <a:noFill/>
          <a:ln w="317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4360" y="5294376"/>
            <a:ext cx="5120640" cy="365760"/>
          </a:xfrm>
          <a:prstGeom prst="rect">
            <a:avLst/>
          </a:prstGeom>
          <a:noFill/>
        </p:spPr>
        <p:txBody>
          <a:bodyPr wrap="square">
            <a:spAutoFit/>
          </a:bodyPr>
          <a:lstStyle/>
          <a:p>
            <a:r>
              <a:rPr sz="1200" i="1">
                <a:solidFill>
                  <a:srgbClr val="8D8D8D"/>
                </a:solidFill>
                <a:latin typeface="Aptos"/>
              </a:rPr>
              <a:t>ECP5 fabric: logic tiles (white), block-RAM columns (yellow), I/O ring around the edge</a:t>
            </a:r>
          </a:p>
        </p:txBody>
      </p:sp>
      <p:sp>
        <p:nvSpPr>
          <p:cNvPr id="61" name="Rectangle 60"/>
          <p:cNvSpPr/>
          <p:nvPr/>
        </p:nvSpPr>
        <p:spPr>
          <a:xfrm>
            <a:off x="6035040" y="1810512"/>
            <a:ext cx="5577840" cy="3703320"/>
          </a:xfrm>
          <a:prstGeom prst="rect">
            <a:avLst/>
          </a:prstGeom>
          <a:solidFill>
            <a:srgbClr val="FFFFFF"/>
          </a:solidFill>
          <a:ln w="15875">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263640" y="1901952"/>
            <a:ext cx="5120640" cy="457200"/>
          </a:xfrm>
          <a:prstGeom prst="rect">
            <a:avLst/>
          </a:prstGeom>
          <a:noFill/>
        </p:spPr>
        <p:txBody>
          <a:bodyPr wrap="square">
            <a:spAutoFit/>
          </a:bodyPr>
          <a:lstStyle/>
          <a:p>
            <a:r>
              <a:rPr sz="1700" b="1">
                <a:solidFill>
                  <a:srgbClr val="333333"/>
                </a:solidFill>
                <a:latin typeface="Aptos"/>
              </a:rPr>
              <a:t>One tile, unpacked</a:t>
            </a:r>
          </a:p>
        </p:txBody>
      </p:sp>
      <p:sp>
        <p:nvSpPr>
          <p:cNvPr id="63" name="Rounded Rectangle 62"/>
          <p:cNvSpPr/>
          <p:nvPr/>
        </p:nvSpPr>
        <p:spPr>
          <a:xfrm>
            <a:off x="6446520" y="2606040"/>
            <a:ext cx="1691640" cy="12344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2F2F2"/>
                </a:solidFill>
                <a:latin typeface="Aptos"/>
              </a:rPr>
              <a:t>LUT4</a:t>
            </a:r>
          </a:p>
          <a:p>
            <a:pPr algn="ctr"/>
            <a:r>
              <a:rPr sz="1300" b="1">
                <a:solidFill>
                  <a:srgbClr val="F2F2F2"/>
                </a:solidFill>
                <a:latin typeface="Aptos"/>
              </a:rPr>
              <a:t>any function</a:t>
            </a:r>
          </a:p>
          <a:p>
            <a:pPr algn="ctr"/>
            <a:r>
              <a:rPr sz="1300" b="1">
                <a:solidFill>
                  <a:srgbClr val="F2F2F2"/>
                </a:solidFill>
                <a:latin typeface="Aptos"/>
              </a:rPr>
              <a:t>of 4 inputs</a:t>
            </a:r>
          </a:p>
        </p:txBody>
      </p:sp>
      <p:sp>
        <p:nvSpPr>
          <p:cNvPr id="64" name="Rounded Rectangle 63"/>
          <p:cNvSpPr/>
          <p:nvPr/>
        </p:nvSpPr>
        <p:spPr>
          <a:xfrm>
            <a:off x="8823959" y="2606040"/>
            <a:ext cx="1371600" cy="12344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2F2F2"/>
                </a:solidFill>
                <a:latin typeface="Aptos"/>
              </a:rPr>
              <a:t>FF</a:t>
            </a:r>
          </a:p>
          <a:p>
            <a:pPr algn="ctr"/>
            <a:r>
              <a:rPr sz="1300" b="1">
                <a:solidFill>
                  <a:srgbClr val="F2F2F2"/>
                </a:solidFill>
                <a:latin typeface="Aptos"/>
              </a:rPr>
              <a:t>remembers</a:t>
            </a:r>
          </a:p>
          <a:p>
            <a:pPr algn="ctr"/>
            <a:r>
              <a:rPr sz="1300" b="1">
                <a:solidFill>
                  <a:srgbClr val="F2F2F2"/>
                </a:solidFill>
                <a:latin typeface="Aptos"/>
              </a:rPr>
              <a:t>one bit</a:t>
            </a:r>
          </a:p>
        </p:txBody>
      </p:sp>
      <p:cxnSp>
        <p:nvCxnSpPr>
          <p:cNvPr id="65" name="Connector 64"/>
          <p:cNvCxnSpPr/>
          <p:nvPr/>
        </p:nvCxnSpPr>
        <p:spPr>
          <a:xfrm>
            <a:off x="8156448" y="3218688"/>
            <a:ext cx="640080"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213848" y="3218688"/>
            <a:ext cx="713232"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59" y="2724912"/>
            <a:ext cx="338329" cy="0"/>
          </a:xfrm>
          <a:prstGeom prst="bentConnector3">
            <a:avLst/>
          </a:prstGeom>
          <a:ln w="19050">
            <a:solidFill>
              <a:srgbClr val="8D8D8D"/>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080759" y="3035808"/>
            <a:ext cx="338329" cy="0"/>
          </a:xfrm>
          <a:prstGeom prst="bentConnector3">
            <a:avLst/>
          </a:prstGeom>
          <a:ln w="19050">
            <a:solidFill>
              <a:srgbClr val="8D8D8D"/>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080759" y="3346704"/>
            <a:ext cx="338329" cy="0"/>
          </a:xfrm>
          <a:prstGeom prst="bentConnector3">
            <a:avLst/>
          </a:prstGeom>
          <a:ln w="19050">
            <a:solidFill>
              <a:srgbClr val="8D8D8D"/>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080759" y="3657600"/>
            <a:ext cx="338329" cy="0"/>
          </a:xfrm>
          <a:prstGeom prst="bentConnector3">
            <a:avLst/>
          </a:prstGeom>
          <a:ln w="19050">
            <a:solidFill>
              <a:srgbClr val="8D8D8D"/>
            </a:solidFill>
            <a:tailEnd type="arrow"/>
          </a:ln>
          <a:effectLst/>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6446520" y="4069080"/>
            <a:ext cx="3749039" cy="594360"/>
          </a:xfrm>
          <a:prstGeom prst="round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333333"/>
                </a:solidFill>
                <a:latin typeface="Aptos"/>
              </a:rPr>
              <a:t>dedicated carry chain (CCU2C) — fast adders without burning LUTs</a:t>
            </a:r>
          </a:p>
        </p:txBody>
      </p:sp>
      <p:sp>
        <p:nvSpPr>
          <p:cNvPr id="72" name="TextBox 71"/>
          <p:cNvSpPr txBox="1"/>
          <p:nvPr/>
        </p:nvSpPr>
        <p:spPr>
          <a:xfrm>
            <a:off x="6446520" y="4828032"/>
            <a:ext cx="4937760" cy="548640"/>
          </a:xfrm>
          <a:prstGeom prst="rect">
            <a:avLst/>
          </a:prstGeom>
          <a:noFill/>
        </p:spPr>
        <p:txBody>
          <a:bodyPr wrap="square">
            <a:spAutoFit/>
          </a:bodyPr>
          <a:lstStyle/>
          <a:p>
            <a:pPr>
              <a:spcAft>
                <a:spcPts val="800"/>
              </a:spcAft>
            </a:pPr>
            <a:r>
              <a:rPr sz="1500" b="0">
                <a:solidFill>
                  <a:srgbClr val="333333"/>
                </a:solidFill>
                <a:latin typeface="Aptos"/>
              </a:rPr>
              <a:t>Multiply that tile by </a:t>
            </a:r>
            <a:r>
              <a:rPr sz="1500" b="1">
                <a:solidFill>
                  <a:srgbClr val="333333"/>
                </a:solidFill>
                <a:latin typeface="Aptos"/>
              </a:rPr>
              <a:t>43,848</a:t>
            </a:r>
            <a:r>
              <a:rPr sz="1500" b="0">
                <a:solidFill>
                  <a:srgbClr val="333333"/>
                </a:solidFill>
                <a:latin typeface="Aptos"/>
              </a:rPr>
              <a:t>. Add wires between all of them.</a:t>
            </a:r>
          </a:p>
        </p:txBody>
      </p:sp>
      <p:sp>
        <p:nvSpPr>
          <p:cNvPr id="73" name="TextBox 72"/>
          <p:cNvSpPr txBox="1"/>
          <p:nvPr/>
        </p:nvSpPr>
        <p:spPr>
          <a:xfrm>
            <a:off x="594360" y="5806440"/>
            <a:ext cx="11064240" cy="914400"/>
          </a:xfrm>
          <a:prstGeom prst="rect">
            <a:avLst/>
          </a:prstGeom>
          <a:noFill/>
        </p:spPr>
        <p:txBody>
          <a:bodyPr wrap="square">
            <a:spAutoFit/>
          </a:bodyPr>
          <a:lstStyle/>
          <a:p>
            <a:pPr>
              <a:spcAft>
                <a:spcPts val="800"/>
              </a:spcAft>
            </a:pPr>
            <a:r>
              <a:rPr sz="1700" b="0">
                <a:solidFill>
                  <a:srgbClr val="333333"/>
                </a:solidFill>
                <a:latin typeface="Aptos"/>
              </a:rPr>
              <a:t>The wires matter as much as the logic: most of an FPGA’s die area — and most of your timing delay — is </a:t>
            </a:r>
            <a:r>
              <a:rPr sz="1700" b="1">
                <a:solidFill>
                  <a:srgbClr val="333333"/>
                </a:solidFill>
                <a:latin typeface="Aptos"/>
              </a:rPr>
              <a:t>programmable routing</a:t>
            </a:r>
            <a:r>
              <a:rPr sz="1700" b="0">
                <a:solidFill>
                  <a:srgbClr val="333333"/>
                </a:solidFill>
                <a:latin typeface="Aptos"/>
              </a:rPr>
              <a:t>, not gates.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The LUT: a truth table you can rewrite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5029200" cy="1737360"/>
          </a:xfrm>
          <a:prstGeom prst="rect">
            <a:avLst/>
          </a:prstGeom>
          <a:noFill/>
        </p:spPr>
        <p:txBody>
          <a:bodyPr wrap="square">
            <a:spAutoFit/>
          </a:bodyPr>
          <a:lstStyle/>
          <a:p>
            <a:pPr>
              <a:spcAft>
                <a:spcPts val="1200"/>
              </a:spcAft>
            </a:pPr>
            <a:r>
              <a:rPr sz="1700" b="0">
                <a:solidFill>
                  <a:srgbClr val="333333"/>
                </a:solidFill>
                <a:latin typeface="Aptos"/>
              </a:rPr>
              <a:t>A 4-input LUT is </a:t>
            </a:r>
            <a:r>
              <a:rPr sz="1700" b="1">
                <a:solidFill>
                  <a:srgbClr val="333333"/>
                </a:solidFill>
                <a:latin typeface="Aptos"/>
              </a:rPr>
              <a:t>16 bits of memory</a:t>
            </a:r>
            <a:r>
              <a:rPr sz="1700" b="0">
                <a:solidFill>
                  <a:srgbClr val="333333"/>
                </a:solidFill>
                <a:latin typeface="Aptos"/>
              </a:rPr>
              <a:t> plus a 16-to-1 multiplexer.</a:t>
            </a:r>
          </a:p>
          <a:p>
            <a:pPr>
              <a:spcAft>
                <a:spcPts val="1200"/>
              </a:spcAft>
            </a:pPr>
            <a:r>
              <a:rPr sz="1700" b="0">
                <a:solidFill>
                  <a:srgbClr val="333333"/>
                </a:solidFill>
                <a:latin typeface="Aptos"/>
              </a:rPr>
              <a:t>The four inputs are the address. The stored bit is the answer.</a:t>
            </a:r>
          </a:p>
        </p:txBody>
      </p:sp>
      <p:sp>
        <p:nvSpPr>
          <p:cNvPr id="6" name="Rectangle 5"/>
          <p:cNvSpPr/>
          <p:nvPr/>
        </p:nvSpPr>
        <p:spPr>
          <a:xfrm>
            <a:off x="548640" y="3246120"/>
            <a:ext cx="5029200" cy="91440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500">
                <a:solidFill>
                  <a:srgbClr val="F2F2F2"/>
                </a:solidFill>
                <a:latin typeface="Aptos Mono"/>
              </a:rPr>
              <a:t>q &lt;= (a and b) or (c and not d);</a:t>
            </a:r>
          </a:p>
        </p:txBody>
      </p:sp>
      <p:sp>
        <p:nvSpPr>
          <p:cNvPr id="7" name="TextBox 6"/>
          <p:cNvSpPr txBox="1"/>
          <p:nvPr/>
        </p:nvSpPr>
        <p:spPr>
          <a:xfrm>
            <a:off x="548640" y="4343400"/>
            <a:ext cx="5029200" cy="2011680"/>
          </a:xfrm>
          <a:prstGeom prst="rect">
            <a:avLst/>
          </a:prstGeom>
          <a:noFill/>
        </p:spPr>
        <p:txBody>
          <a:bodyPr wrap="square">
            <a:spAutoFit/>
          </a:bodyPr>
          <a:lstStyle/>
          <a:p>
            <a:pPr>
              <a:spcAft>
                <a:spcPts val="1000"/>
              </a:spcAft>
            </a:pPr>
            <a:r>
              <a:rPr sz="1600" b="0">
                <a:solidFill>
                  <a:srgbClr val="333333"/>
                </a:solidFill>
                <a:latin typeface="Aptos"/>
              </a:rPr>
              <a:t>No AND gate is built. No OR gate is built.</a:t>
            </a:r>
          </a:p>
          <a:p>
            <a:pPr>
              <a:spcAft>
                <a:spcPts val="1000"/>
              </a:spcAft>
            </a:pPr>
            <a:r>
              <a:rPr sz="1600" b="0">
                <a:solidFill>
                  <a:srgbClr val="333333"/>
                </a:solidFill>
                <a:latin typeface="Aptos"/>
              </a:rPr>
              <a:t>The synthesizer </a:t>
            </a:r>
            <a:r>
              <a:rPr sz="1600" b="1">
                <a:solidFill>
                  <a:srgbClr val="333333"/>
                </a:solidFill>
                <a:latin typeface="Aptos"/>
              </a:rPr>
              <a:t>evaluates your expression for all 16 input combinations</a:t>
            </a:r>
            <a:r>
              <a:rPr sz="1600" b="0">
                <a:solidFill>
                  <a:srgbClr val="333333"/>
                </a:solidFill>
                <a:latin typeface="Aptos"/>
              </a:rPr>
              <a:t> and stores the answers.</a:t>
            </a:r>
          </a:p>
        </p:txBody>
      </p:sp>
      <p:sp>
        <p:nvSpPr>
          <p:cNvPr id="8" name="Rectangle 7"/>
          <p:cNvSpPr/>
          <p:nvPr/>
        </p:nvSpPr>
        <p:spPr>
          <a:xfrm>
            <a:off x="6126480" y="1783080"/>
            <a:ext cx="5486400" cy="4206240"/>
          </a:xfrm>
          <a:prstGeom prst="rect">
            <a:avLst/>
          </a:prstGeom>
          <a:solidFill>
            <a:srgbClr val="FFFFFF"/>
          </a:solidFill>
          <a:ln w="15875">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947672"/>
            <a:ext cx="5029200" cy="411480"/>
          </a:xfrm>
          <a:prstGeom prst="rect">
            <a:avLst/>
          </a:prstGeom>
          <a:noFill/>
        </p:spPr>
        <p:txBody>
          <a:bodyPr wrap="square">
            <a:spAutoFit/>
          </a:bodyPr>
          <a:lstStyle/>
          <a:p>
            <a:r>
              <a:rPr sz="1300" b="1">
                <a:solidFill>
                  <a:srgbClr val="333333"/>
                </a:solidFill>
                <a:latin typeface="Aptos"/>
              </a:rPr>
              <a:t>The 16 possible answers — each cell is q for one input combo</a:t>
            </a:r>
          </a:p>
        </p:txBody>
      </p:sp>
      <p:sp>
        <p:nvSpPr>
          <p:cNvPr id="10" name="Rectangle 9"/>
          <p:cNvSpPr/>
          <p:nvPr/>
        </p:nvSpPr>
        <p:spPr>
          <a:xfrm>
            <a:off x="7543800" y="24688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11" name="TextBox 10"/>
          <p:cNvSpPr txBox="1"/>
          <p:nvPr/>
        </p:nvSpPr>
        <p:spPr>
          <a:xfrm>
            <a:off x="6373368" y="2505456"/>
            <a:ext cx="1097280" cy="365760"/>
          </a:xfrm>
          <a:prstGeom prst="rect">
            <a:avLst/>
          </a:prstGeom>
          <a:noFill/>
        </p:spPr>
        <p:txBody>
          <a:bodyPr wrap="square">
            <a:spAutoFit/>
          </a:bodyPr>
          <a:lstStyle/>
          <a:p>
            <a:r>
              <a:rPr sz="1000" i="1">
                <a:solidFill>
                  <a:srgbClr val="8D8D8D"/>
                </a:solidFill>
                <a:latin typeface="Aptos"/>
              </a:rPr>
              <a:t>dcba = 0000..0011</a:t>
            </a:r>
          </a:p>
        </p:txBody>
      </p:sp>
      <p:sp>
        <p:nvSpPr>
          <p:cNvPr id="12" name="Rectangle 11"/>
          <p:cNvSpPr/>
          <p:nvPr/>
        </p:nvSpPr>
        <p:spPr>
          <a:xfrm>
            <a:off x="8092440" y="24688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13" name="Rectangle 12"/>
          <p:cNvSpPr/>
          <p:nvPr/>
        </p:nvSpPr>
        <p:spPr>
          <a:xfrm>
            <a:off x="8641080" y="24688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14" name="Rectangle 13"/>
          <p:cNvSpPr/>
          <p:nvPr/>
        </p:nvSpPr>
        <p:spPr>
          <a:xfrm>
            <a:off x="9189720" y="24688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15" name="Rectangle 14"/>
          <p:cNvSpPr/>
          <p:nvPr/>
        </p:nvSpPr>
        <p:spPr>
          <a:xfrm>
            <a:off x="7543800" y="29260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16" name="TextBox 15"/>
          <p:cNvSpPr txBox="1"/>
          <p:nvPr/>
        </p:nvSpPr>
        <p:spPr>
          <a:xfrm>
            <a:off x="6373368" y="2962656"/>
            <a:ext cx="1097280" cy="365760"/>
          </a:xfrm>
          <a:prstGeom prst="rect">
            <a:avLst/>
          </a:prstGeom>
          <a:noFill/>
        </p:spPr>
        <p:txBody>
          <a:bodyPr wrap="square">
            <a:spAutoFit/>
          </a:bodyPr>
          <a:lstStyle/>
          <a:p>
            <a:r>
              <a:rPr sz="1000" i="1">
                <a:solidFill>
                  <a:srgbClr val="8D8D8D"/>
                </a:solidFill>
                <a:latin typeface="Aptos"/>
              </a:rPr>
              <a:t>dcba = 0100..0111</a:t>
            </a:r>
          </a:p>
        </p:txBody>
      </p:sp>
      <p:sp>
        <p:nvSpPr>
          <p:cNvPr id="17" name="Rectangle 16"/>
          <p:cNvSpPr/>
          <p:nvPr/>
        </p:nvSpPr>
        <p:spPr>
          <a:xfrm>
            <a:off x="8092440" y="29260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18" name="Rectangle 17"/>
          <p:cNvSpPr/>
          <p:nvPr/>
        </p:nvSpPr>
        <p:spPr>
          <a:xfrm>
            <a:off x="8641080" y="29260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19" name="Rectangle 18"/>
          <p:cNvSpPr/>
          <p:nvPr/>
        </p:nvSpPr>
        <p:spPr>
          <a:xfrm>
            <a:off x="9189720" y="29260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20" name="Rectangle 19"/>
          <p:cNvSpPr/>
          <p:nvPr/>
        </p:nvSpPr>
        <p:spPr>
          <a:xfrm>
            <a:off x="7543800" y="33832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1" name="TextBox 20"/>
          <p:cNvSpPr txBox="1"/>
          <p:nvPr/>
        </p:nvSpPr>
        <p:spPr>
          <a:xfrm>
            <a:off x="6373368" y="3419856"/>
            <a:ext cx="1097280" cy="365760"/>
          </a:xfrm>
          <a:prstGeom prst="rect">
            <a:avLst/>
          </a:prstGeom>
          <a:noFill/>
        </p:spPr>
        <p:txBody>
          <a:bodyPr wrap="square">
            <a:spAutoFit/>
          </a:bodyPr>
          <a:lstStyle/>
          <a:p>
            <a:r>
              <a:rPr sz="1000" i="1">
                <a:solidFill>
                  <a:srgbClr val="8D8D8D"/>
                </a:solidFill>
                <a:latin typeface="Aptos"/>
              </a:rPr>
              <a:t>dcba = 1000..1011</a:t>
            </a:r>
          </a:p>
        </p:txBody>
      </p:sp>
      <p:sp>
        <p:nvSpPr>
          <p:cNvPr id="22" name="Rectangle 21"/>
          <p:cNvSpPr/>
          <p:nvPr/>
        </p:nvSpPr>
        <p:spPr>
          <a:xfrm>
            <a:off x="8092440" y="33832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3" name="Rectangle 22"/>
          <p:cNvSpPr/>
          <p:nvPr/>
        </p:nvSpPr>
        <p:spPr>
          <a:xfrm>
            <a:off x="8641080" y="33832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4" name="Rectangle 23"/>
          <p:cNvSpPr/>
          <p:nvPr/>
        </p:nvSpPr>
        <p:spPr>
          <a:xfrm>
            <a:off x="9189720" y="33832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25" name="Rectangle 24"/>
          <p:cNvSpPr/>
          <p:nvPr/>
        </p:nvSpPr>
        <p:spPr>
          <a:xfrm>
            <a:off x="7543800" y="38404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6" name="TextBox 25"/>
          <p:cNvSpPr txBox="1"/>
          <p:nvPr/>
        </p:nvSpPr>
        <p:spPr>
          <a:xfrm>
            <a:off x="6373368" y="3877056"/>
            <a:ext cx="1097280" cy="365760"/>
          </a:xfrm>
          <a:prstGeom prst="rect">
            <a:avLst/>
          </a:prstGeom>
          <a:noFill/>
        </p:spPr>
        <p:txBody>
          <a:bodyPr wrap="square">
            <a:spAutoFit/>
          </a:bodyPr>
          <a:lstStyle/>
          <a:p>
            <a:r>
              <a:rPr sz="1000" i="1">
                <a:solidFill>
                  <a:srgbClr val="8D8D8D"/>
                </a:solidFill>
                <a:latin typeface="Aptos"/>
              </a:rPr>
              <a:t>dcba = 1100..1111</a:t>
            </a:r>
          </a:p>
        </p:txBody>
      </p:sp>
      <p:sp>
        <p:nvSpPr>
          <p:cNvPr id="27" name="Rectangle 26"/>
          <p:cNvSpPr/>
          <p:nvPr/>
        </p:nvSpPr>
        <p:spPr>
          <a:xfrm>
            <a:off x="8092440" y="38404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8" name="Rectangle 27"/>
          <p:cNvSpPr/>
          <p:nvPr/>
        </p:nvSpPr>
        <p:spPr>
          <a:xfrm>
            <a:off x="8641080" y="38404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0</a:t>
            </a:r>
          </a:p>
        </p:txBody>
      </p:sp>
      <p:sp>
        <p:nvSpPr>
          <p:cNvPr id="29" name="Rectangle 28"/>
          <p:cNvSpPr/>
          <p:nvPr/>
        </p:nvSpPr>
        <p:spPr>
          <a:xfrm>
            <a:off x="9189720" y="3840480"/>
            <a:ext cx="475488" cy="384048"/>
          </a:xfrm>
          <a:prstGeom prst="rect">
            <a:avLst/>
          </a:prstGeom>
          <a:solidFill>
            <a:srgbClr val="ECEFF3"/>
          </a:solidFill>
          <a:ln w="12700">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Mono"/>
              </a:rPr>
              <a:t>1</a:t>
            </a:r>
          </a:p>
        </p:txBody>
      </p:sp>
      <p:sp>
        <p:nvSpPr>
          <p:cNvPr id="32" name="TextBox 31"/>
          <p:cNvSpPr txBox="1"/>
          <p:nvPr/>
        </p:nvSpPr>
        <p:spPr>
          <a:xfrm>
            <a:off x="7562088" y="4242816"/>
            <a:ext cx="2103120" cy="246221"/>
          </a:xfrm>
          <a:prstGeom prst="rect">
            <a:avLst/>
          </a:prstGeom>
          <a:noFill/>
        </p:spPr>
        <p:txBody>
          <a:bodyPr wrap="square">
            <a:spAutoFit/>
          </a:bodyPr>
          <a:lstStyle/>
          <a:p>
            <a:pPr algn="r"/>
            <a:r>
              <a:rPr lang="en-US" sz="1000" i="1" dirty="0">
                <a:solidFill>
                  <a:srgbClr val="8D8D8D"/>
                </a:solidFill>
                <a:latin typeface="Aptos"/>
              </a:rPr>
              <a:t>Each cell is a q output</a:t>
            </a:r>
            <a:endParaRPr sz="1000" i="1" dirty="0">
              <a:solidFill>
                <a:srgbClr val="8D8D8D"/>
              </a:solidFill>
              <a:latin typeface="Aptos"/>
            </a:endParaRPr>
          </a:p>
        </p:txBody>
      </p:sp>
      <p:sp>
        <p:nvSpPr>
          <p:cNvPr id="33" name="TextBox 32"/>
          <p:cNvSpPr txBox="1"/>
          <p:nvPr/>
        </p:nvSpPr>
        <p:spPr>
          <a:xfrm>
            <a:off x="6355080" y="5486400"/>
            <a:ext cx="5029200" cy="365760"/>
          </a:xfrm>
          <a:prstGeom prst="rect">
            <a:avLst/>
          </a:prstGeom>
          <a:noFill/>
        </p:spPr>
        <p:txBody>
          <a:bodyPr wrap="square">
            <a:spAutoFit/>
          </a:bodyPr>
          <a:lstStyle/>
          <a:p>
            <a:r>
              <a:rPr sz="1300" i="1">
                <a:solidFill>
                  <a:srgbClr val="8D8D8D"/>
                </a:solidFill>
                <a:latin typeface="Aptos"/>
              </a:rPr>
              <a:t>Change the function → change 16 bits. Same silicon.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LUTs alone would be wasteful — so: hard blocks</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91640"/>
            <a:ext cx="11155680" cy="731520"/>
          </a:xfrm>
          <a:prstGeom prst="rect">
            <a:avLst/>
          </a:prstGeom>
          <a:noFill/>
        </p:spPr>
        <p:txBody>
          <a:bodyPr wrap="square">
            <a:spAutoFit/>
          </a:bodyPr>
          <a:lstStyle/>
          <a:p>
            <a:pPr>
              <a:spcAft>
                <a:spcPts val="800"/>
              </a:spcAft>
            </a:pPr>
            <a:r>
              <a:rPr sz="1700" b="0">
                <a:solidFill>
                  <a:srgbClr val="333333"/>
                </a:solidFill>
                <a:latin typeface="Aptos"/>
              </a:rPr>
              <a:t>Some things are so common that building them from LUTs is silly. Vendors etch them in as fixed silicon, scattered through the fabric:</a:t>
            </a:r>
          </a:p>
        </p:txBody>
      </p:sp>
      <p:graphicFrame>
        <p:nvGraphicFramePr>
          <p:cNvPr id="6" name="Table 5"/>
          <p:cNvGraphicFramePr>
            <a:graphicFrameLocks noGrp="1"/>
          </p:cNvGraphicFramePr>
          <p:nvPr/>
        </p:nvGraphicFramePr>
        <p:xfrm>
          <a:off x="548640" y="2560320"/>
          <a:ext cx="11064240" cy="265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41960">
                <a:tc>
                  <a:txBody>
                    <a:bodyPr/>
                    <a:lstStyle/>
                    <a:p>
                      <a:r>
                        <a:rPr sz="1400" b="1">
                          <a:solidFill>
                            <a:srgbClr val="FFFFFF"/>
                          </a:solidFill>
                          <a:latin typeface="Aptos"/>
                        </a:rPr>
                        <a:t>Block</a:t>
                      </a:r>
                    </a:p>
                  </a:txBody>
                  <a:tcPr marL="109728" marR="109728" marT="36576" marB="36576" anchor="ctr">
                    <a:solidFill>
                      <a:srgbClr val="3B3F44"/>
                    </a:solidFill>
                  </a:tcPr>
                </a:tc>
                <a:tc>
                  <a:txBody>
                    <a:bodyPr/>
                    <a:lstStyle/>
                    <a:p>
                      <a:r>
                        <a:rPr sz="1400" b="1">
                          <a:solidFill>
                            <a:srgbClr val="FFFFFF"/>
                          </a:solidFill>
                          <a:latin typeface="Aptos"/>
                        </a:rPr>
                        <a:t>ECP5-45F has</a:t>
                      </a:r>
                    </a:p>
                  </a:txBody>
                  <a:tcPr marL="109728" marR="109728" marT="36576" marB="36576" anchor="ctr">
                    <a:solidFill>
                      <a:srgbClr val="3B3F44"/>
                    </a:solidFill>
                  </a:tcPr>
                </a:tc>
                <a:tc>
                  <a:txBody>
                    <a:bodyPr/>
                    <a:lstStyle/>
                    <a:p>
                      <a:r>
                        <a:rPr sz="1400" b="1">
                          <a:solidFill>
                            <a:srgbClr val="FFFFFF"/>
                          </a:solidFill>
                          <a:latin typeface="Aptos"/>
                        </a:rPr>
                        <a:t>What it is</a:t>
                      </a:r>
                    </a:p>
                  </a:txBody>
                  <a:tcPr marL="109728" marR="109728" marT="36576" marB="36576" anchor="ctr">
                    <a:solidFill>
                      <a:srgbClr val="3B3F44"/>
                    </a:solidFill>
                  </a:tcPr>
                </a:tc>
                <a:tc>
                  <a:txBody>
                    <a:bodyPr/>
                    <a:lstStyle/>
                    <a:p>
                      <a:r>
                        <a:rPr sz="1400" b="1">
                          <a:solidFill>
                            <a:srgbClr val="FFFFFF"/>
                          </a:solidFill>
                          <a:latin typeface="Aptos"/>
                        </a:rPr>
                        <a:t>This project uses</a:t>
                      </a:r>
                    </a:p>
                  </a:txBody>
                  <a:tcPr marL="109728" marR="109728" marT="36576" marB="36576" anchor="ctr">
                    <a:solidFill>
                      <a:srgbClr val="3B3F44"/>
                    </a:solidFill>
                  </a:tcPr>
                </a:tc>
                <a:extLst>
                  <a:ext uri="{0D108BD9-81ED-4DB2-BD59-A6C34878D82A}">
                    <a16:rowId xmlns:a16="http://schemas.microsoft.com/office/drawing/2014/main" val="10000"/>
                  </a:ext>
                </a:extLst>
              </a:tr>
              <a:tr h="441960">
                <a:tc>
                  <a:txBody>
                    <a:bodyPr/>
                    <a:lstStyle/>
                    <a:p>
                      <a:r>
                        <a:rPr sz="1400" b="1">
                          <a:solidFill>
                            <a:srgbClr val="333333"/>
                          </a:solidFill>
                          <a:latin typeface="Aptos"/>
                        </a:rPr>
                        <a:t>LUT4 / FF</a:t>
                      </a:r>
                    </a:p>
                  </a:txBody>
                  <a:tcPr marL="109728" marR="109728" marT="36576" marB="36576" anchor="ctr">
                    <a:solidFill>
                      <a:srgbClr val="FFFFFF"/>
                    </a:solidFill>
                  </a:tcPr>
                </a:tc>
                <a:tc>
                  <a:txBody>
                    <a:bodyPr/>
                    <a:lstStyle/>
                    <a:p>
                      <a:r>
                        <a:rPr sz="1400" b="0">
                          <a:solidFill>
                            <a:srgbClr val="333333"/>
                          </a:solidFill>
                          <a:latin typeface="Aptos"/>
                        </a:rPr>
                        <a:t>43,848</a:t>
                      </a:r>
                    </a:p>
                  </a:txBody>
                  <a:tcPr marL="109728" marR="109728" marT="36576" marB="36576" anchor="ctr">
                    <a:solidFill>
                      <a:srgbClr val="FFFFFF"/>
                    </a:solidFill>
                  </a:tcPr>
                </a:tc>
                <a:tc>
                  <a:txBody>
                    <a:bodyPr/>
                    <a:lstStyle/>
                    <a:p>
                      <a:r>
                        <a:rPr sz="1400" b="0">
                          <a:solidFill>
                            <a:srgbClr val="333333"/>
                          </a:solidFill>
                          <a:latin typeface="Aptos"/>
                        </a:rPr>
                        <a:t>The general-purpose fabric</a:t>
                      </a:r>
                    </a:p>
                  </a:txBody>
                  <a:tcPr marL="109728" marR="109728" marT="36576" marB="36576" anchor="ctr">
                    <a:solidFill>
                      <a:srgbClr val="FFFFFF"/>
                    </a:solidFill>
                  </a:tcPr>
                </a:tc>
                <a:tc>
                  <a:txBody>
                    <a:bodyPr/>
                    <a:lstStyle/>
                    <a:p>
                      <a:r>
                        <a:rPr sz="1400" b="0">
                          <a:solidFill>
                            <a:srgbClr val="333333"/>
                          </a:solidFill>
                          <a:latin typeface="Aptos"/>
                        </a:rPr>
                        <a:t>1,770 LUTs, 591 FFs  (4%)</a:t>
                      </a:r>
                    </a:p>
                  </a:txBody>
                  <a:tcPr marL="109728" marR="109728" marT="36576" marB="36576" anchor="ctr">
                    <a:solidFill>
                      <a:srgbClr val="FFFFFF"/>
                    </a:solidFill>
                  </a:tcPr>
                </a:tc>
                <a:extLst>
                  <a:ext uri="{0D108BD9-81ED-4DB2-BD59-A6C34878D82A}">
                    <a16:rowId xmlns:a16="http://schemas.microsoft.com/office/drawing/2014/main" val="10001"/>
                  </a:ext>
                </a:extLst>
              </a:tr>
              <a:tr h="441960">
                <a:tc>
                  <a:txBody>
                    <a:bodyPr/>
                    <a:lstStyle/>
                    <a:p>
                      <a:r>
                        <a:rPr sz="1400" b="1">
                          <a:solidFill>
                            <a:srgbClr val="333333"/>
                          </a:solidFill>
                          <a:latin typeface="Aptos"/>
                        </a:rPr>
                        <a:t>DP16KD</a:t>
                      </a:r>
                    </a:p>
                  </a:txBody>
                  <a:tcPr marL="109728" marR="109728" marT="36576" marB="36576" anchor="ctr">
                    <a:solidFill>
                      <a:srgbClr val="EFEFEF"/>
                    </a:solidFill>
                  </a:tcPr>
                </a:tc>
                <a:tc>
                  <a:txBody>
                    <a:bodyPr/>
                    <a:lstStyle/>
                    <a:p>
                      <a:r>
                        <a:rPr sz="1400" b="0">
                          <a:solidFill>
                            <a:srgbClr val="333333"/>
                          </a:solidFill>
                          <a:latin typeface="Aptos"/>
                        </a:rPr>
                        <a:t>108</a:t>
                      </a:r>
                    </a:p>
                  </a:txBody>
                  <a:tcPr marL="109728" marR="109728" marT="36576" marB="36576" anchor="ctr">
                    <a:solidFill>
                      <a:srgbClr val="EFEFEF"/>
                    </a:solidFill>
                  </a:tcPr>
                </a:tc>
                <a:tc>
                  <a:txBody>
                    <a:bodyPr/>
                    <a:lstStyle/>
                    <a:p>
                      <a:r>
                        <a:rPr sz="1400" b="0">
                          <a:solidFill>
                            <a:srgbClr val="333333"/>
                          </a:solidFill>
                          <a:latin typeface="Aptos"/>
                        </a:rPr>
                        <a:t>18 kb dual-port block RAM</a:t>
                      </a:r>
                    </a:p>
                  </a:txBody>
                  <a:tcPr marL="109728" marR="109728" marT="36576" marB="36576" anchor="ctr">
                    <a:solidFill>
                      <a:srgbClr val="EFEFEF"/>
                    </a:solidFill>
                  </a:tcPr>
                </a:tc>
                <a:tc>
                  <a:txBody>
                    <a:bodyPr/>
                    <a:lstStyle/>
                    <a:p>
                      <a:r>
                        <a:rPr sz="1400" b="1">
                          <a:solidFill>
                            <a:srgbClr val="333333"/>
                          </a:solidFill>
                          <a:latin typeface="Aptos"/>
                        </a:rPr>
                        <a:t>8</a:t>
                      </a:r>
                      <a:r>
                        <a:rPr sz="1400" b="0">
                          <a:solidFill>
                            <a:srgbClr val="333333"/>
                          </a:solidFill>
                          <a:latin typeface="Aptos"/>
                        </a:rPr>
                        <a:t> — the 8008’s ROM and RAM</a:t>
                      </a:r>
                    </a:p>
                  </a:txBody>
                  <a:tcPr marL="109728" marR="109728" marT="36576" marB="36576" anchor="ctr">
                    <a:solidFill>
                      <a:srgbClr val="EFEFEF"/>
                    </a:solidFill>
                  </a:tcPr>
                </a:tc>
                <a:extLst>
                  <a:ext uri="{0D108BD9-81ED-4DB2-BD59-A6C34878D82A}">
                    <a16:rowId xmlns:a16="http://schemas.microsoft.com/office/drawing/2014/main" val="10002"/>
                  </a:ext>
                </a:extLst>
              </a:tr>
              <a:tr h="441960">
                <a:tc>
                  <a:txBody>
                    <a:bodyPr/>
                    <a:lstStyle/>
                    <a:p>
                      <a:r>
                        <a:rPr sz="1400" b="1">
                          <a:solidFill>
                            <a:srgbClr val="333333"/>
                          </a:solidFill>
                          <a:latin typeface="Aptos"/>
                        </a:rPr>
                        <a:t>EHXPLLL</a:t>
                      </a:r>
                    </a:p>
                  </a:txBody>
                  <a:tcPr marL="109728" marR="109728" marT="36576" marB="36576" anchor="ctr">
                    <a:solidFill>
                      <a:srgbClr val="FFFFFF"/>
                    </a:solidFill>
                  </a:tcPr>
                </a:tc>
                <a:tc>
                  <a:txBody>
                    <a:bodyPr/>
                    <a:lstStyle/>
                    <a:p>
                      <a:r>
                        <a:rPr sz="1400" b="0">
                          <a:solidFill>
                            <a:srgbClr val="333333"/>
                          </a:solidFill>
                          <a:latin typeface="Aptos"/>
                        </a:rPr>
                        <a:t>4</a:t>
                      </a:r>
                    </a:p>
                  </a:txBody>
                  <a:tcPr marL="109728" marR="109728" marT="36576" marB="36576" anchor="ctr">
                    <a:solidFill>
                      <a:srgbClr val="FFFFFF"/>
                    </a:solidFill>
                  </a:tcPr>
                </a:tc>
                <a:tc>
                  <a:txBody>
                    <a:bodyPr/>
                    <a:lstStyle/>
                    <a:p>
                      <a:r>
                        <a:rPr sz="1400" b="0">
                          <a:solidFill>
                            <a:srgbClr val="333333"/>
                          </a:solidFill>
                          <a:latin typeface="Aptos"/>
                        </a:rPr>
                        <a:t>PLL: makes new clocks from one clock</a:t>
                      </a:r>
                    </a:p>
                  </a:txBody>
                  <a:tcPr marL="109728" marR="109728" marT="36576" marB="36576" anchor="ctr">
                    <a:solidFill>
                      <a:srgbClr val="FFFFFF"/>
                    </a:solidFill>
                  </a:tcPr>
                </a:tc>
                <a:tc>
                  <a:txBody>
                    <a:bodyPr/>
                    <a:lstStyle/>
                    <a:p>
                      <a:r>
                        <a:rPr sz="1400" b="1">
                          <a:solidFill>
                            <a:srgbClr val="333333"/>
                          </a:solidFill>
                          <a:latin typeface="Aptos"/>
                        </a:rPr>
                        <a:t>1</a:t>
                      </a:r>
                      <a:r>
                        <a:rPr sz="1400" b="0">
                          <a:solidFill>
                            <a:srgbClr val="333333"/>
                          </a:solidFill>
                          <a:latin typeface="Aptos"/>
                        </a:rPr>
                        <a:t> — 100 MHz → 25 MHz</a:t>
                      </a:r>
                    </a:p>
                  </a:txBody>
                  <a:tcPr marL="109728" marR="109728" marT="36576" marB="36576" anchor="ctr">
                    <a:solidFill>
                      <a:srgbClr val="FFFFFF"/>
                    </a:solidFill>
                  </a:tcPr>
                </a:tc>
                <a:extLst>
                  <a:ext uri="{0D108BD9-81ED-4DB2-BD59-A6C34878D82A}">
                    <a16:rowId xmlns:a16="http://schemas.microsoft.com/office/drawing/2014/main" val="10003"/>
                  </a:ext>
                </a:extLst>
              </a:tr>
              <a:tr h="441960">
                <a:tc>
                  <a:txBody>
                    <a:bodyPr/>
                    <a:lstStyle/>
                    <a:p>
                      <a:r>
                        <a:rPr sz="1400" b="1">
                          <a:solidFill>
                            <a:srgbClr val="333333"/>
                          </a:solidFill>
                          <a:latin typeface="Aptos"/>
                        </a:rPr>
                        <a:t>MULT18X18D</a:t>
                      </a:r>
                    </a:p>
                  </a:txBody>
                  <a:tcPr marL="109728" marR="109728" marT="36576" marB="36576" anchor="ctr">
                    <a:solidFill>
                      <a:srgbClr val="EFEFEF"/>
                    </a:solidFill>
                  </a:tcPr>
                </a:tc>
                <a:tc>
                  <a:txBody>
                    <a:bodyPr/>
                    <a:lstStyle/>
                    <a:p>
                      <a:r>
                        <a:rPr sz="1400" b="0">
                          <a:solidFill>
                            <a:srgbClr val="333333"/>
                          </a:solidFill>
                          <a:latin typeface="Aptos"/>
                        </a:rPr>
                        <a:t>72</a:t>
                      </a:r>
                    </a:p>
                  </a:txBody>
                  <a:tcPr marL="109728" marR="109728" marT="36576" marB="36576" anchor="ctr">
                    <a:solidFill>
                      <a:srgbClr val="EFEFEF"/>
                    </a:solidFill>
                  </a:tcPr>
                </a:tc>
                <a:tc>
                  <a:txBody>
                    <a:bodyPr/>
                    <a:lstStyle/>
                    <a:p>
                      <a:r>
                        <a:rPr sz="1400" b="0">
                          <a:solidFill>
                            <a:srgbClr val="333333"/>
                          </a:solidFill>
                          <a:latin typeface="Aptos"/>
                        </a:rPr>
                        <a:t>Hardware multiplier / DSP</a:t>
                      </a:r>
                    </a:p>
                  </a:txBody>
                  <a:tcPr marL="109728" marR="109728" marT="36576" marB="36576" anchor="ctr">
                    <a:solidFill>
                      <a:srgbClr val="EFEFEF"/>
                    </a:solidFill>
                  </a:tcPr>
                </a:tc>
                <a:tc>
                  <a:txBody>
                    <a:bodyPr/>
                    <a:lstStyle/>
                    <a:p>
                      <a:r>
                        <a:rPr sz="1400" b="0">
                          <a:solidFill>
                            <a:srgbClr val="333333"/>
                          </a:solidFill>
                          <a:latin typeface="Aptos"/>
                        </a:rPr>
                        <a:t>0 — a 1972 CPU has no multiply</a:t>
                      </a:r>
                    </a:p>
                  </a:txBody>
                  <a:tcPr marL="109728" marR="109728" marT="36576" marB="36576" anchor="ctr">
                    <a:solidFill>
                      <a:srgbClr val="EFEFEF"/>
                    </a:solidFill>
                  </a:tcPr>
                </a:tc>
                <a:extLst>
                  <a:ext uri="{0D108BD9-81ED-4DB2-BD59-A6C34878D82A}">
                    <a16:rowId xmlns:a16="http://schemas.microsoft.com/office/drawing/2014/main" val="10004"/>
                  </a:ext>
                </a:extLst>
              </a:tr>
              <a:tr h="441960">
                <a:tc>
                  <a:txBody>
                    <a:bodyPr/>
                    <a:lstStyle/>
                    <a:p>
                      <a:r>
                        <a:rPr sz="1400" b="1">
                          <a:solidFill>
                            <a:srgbClr val="333333"/>
                          </a:solidFill>
                          <a:latin typeface="Aptos"/>
                        </a:rPr>
                        <a:t>TRELLIS_IO</a:t>
                      </a:r>
                    </a:p>
                  </a:txBody>
                  <a:tcPr marL="109728" marR="109728" marT="36576" marB="36576" anchor="ctr">
                    <a:solidFill>
                      <a:srgbClr val="FFFFFF"/>
                    </a:solidFill>
                  </a:tcPr>
                </a:tc>
                <a:tc>
                  <a:txBody>
                    <a:bodyPr/>
                    <a:lstStyle/>
                    <a:p>
                      <a:r>
                        <a:rPr sz="1400" b="0">
                          <a:solidFill>
                            <a:srgbClr val="333333"/>
                          </a:solidFill>
                          <a:latin typeface="Aptos"/>
                        </a:rPr>
                        <a:t>245</a:t>
                      </a:r>
                    </a:p>
                  </a:txBody>
                  <a:tcPr marL="109728" marR="109728" marT="36576" marB="36576" anchor="ctr">
                    <a:solidFill>
                      <a:srgbClr val="FFFFFF"/>
                    </a:solidFill>
                  </a:tcPr>
                </a:tc>
                <a:tc>
                  <a:txBody>
                    <a:bodyPr/>
                    <a:lstStyle/>
                    <a:p>
                      <a:r>
                        <a:rPr sz="1400" b="0">
                          <a:solidFill>
                            <a:srgbClr val="333333"/>
                          </a:solidFill>
                          <a:latin typeface="Aptos"/>
                        </a:rPr>
                        <a:t>Configurable I/O pin buffers</a:t>
                      </a:r>
                    </a:p>
                  </a:txBody>
                  <a:tcPr marL="109728" marR="109728" marT="36576" marB="36576" anchor="ctr">
                    <a:solidFill>
                      <a:srgbClr val="FFFFFF"/>
                    </a:solidFill>
                  </a:tcPr>
                </a:tc>
                <a:tc>
                  <a:txBody>
                    <a:bodyPr/>
                    <a:lstStyle/>
                    <a:p>
                      <a:r>
                        <a:rPr sz="1400" b="0">
                          <a:solidFill>
                            <a:srgbClr val="333333"/>
                          </a:solidFill>
                          <a:latin typeface="Aptos"/>
                        </a:rPr>
                        <a:t>63 — UART, LEDs, switches</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548640" y="5532120"/>
            <a:ext cx="11064240" cy="914400"/>
          </a:xfrm>
          <a:prstGeom prst="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333333"/>
                </a:solidFill>
                <a:latin typeface="Aptos"/>
              </a:rPr>
              <a:t>You do not instantiate these by name. You </a:t>
            </a:r>
            <a:r>
              <a:rPr sz="1600" b="1">
                <a:solidFill>
                  <a:srgbClr val="333333"/>
                </a:solidFill>
                <a:latin typeface="Aptos"/>
              </a:rPr>
              <a:t>write a pattern the tool recognizes</a:t>
            </a:r>
            <a:r>
              <a:rPr sz="1600" b="0">
                <a:solidFill>
                  <a:srgbClr val="333333"/>
                </a:solidFill>
                <a:latin typeface="Aptos"/>
              </a:rPr>
              <a:t>, and it swaps in the hard block. That is called *inference* — and we come back to it, because getting it wrong is expensive.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So what is a "bitstream"?</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ttice_logo_ondark.png"/>
          <p:cNvPicPr>
            <a:picLocks noChangeAspect="1"/>
          </p:cNvPicPr>
          <p:nvPr/>
        </p:nvPicPr>
        <p:blipFill>
          <a:blip r:embed="rId3"/>
          <a:stretch>
            <a:fillRect/>
          </a:stretch>
        </p:blipFill>
        <p:spPr>
          <a:xfrm>
            <a:off x="9982462" y="320040"/>
            <a:ext cx="1706313" cy="310896"/>
          </a:xfrm>
          <a:prstGeom prst="rect">
            <a:avLst/>
          </a:prstGeom>
          <a:effectLst/>
        </p:spPr>
      </p:pic>
      <p:sp>
        <p:nvSpPr>
          <p:cNvPr id="6" name="TextBox 5"/>
          <p:cNvSpPr txBox="1"/>
          <p:nvPr/>
        </p:nvSpPr>
        <p:spPr>
          <a:xfrm>
            <a:off x="548640" y="1783080"/>
            <a:ext cx="6035040" cy="4206240"/>
          </a:xfrm>
          <a:prstGeom prst="rect">
            <a:avLst/>
          </a:prstGeom>
          <a:noFill/>
        </p:spPr>
        <p:txBody>
          <a:bodyPr wrap="square">
            <a:spAutoFit/>
          </a:bodyPr>
          <a:lstStyle/>
          <a:p>
            <a:pPr>
              <a:spcAft>
                <a:spcPts val="1600"/>
              </a:spcAft>
            </a:pPr>
            <a:r>
              <a:rPr sz="1700" b="0">
                <a:solidFill>
                  <a:srgbClr val="F2F2F2"/>
                </a:solidFill>
                <a:latin typeface="Aptos"/>
              </a:rPr>
              <a:t>•  Every LUT’s 16 bits. Every routing switch. Every I/O standard. Every block-RAM’s initial contents.</a:t>
            </a:r>
          </a:p>
          <a:p>
            <a:pPr>
              <a:spcAft>
                <a:spcPts val="1600"/>
              </a:spcAft>
            </a:pPr>
            <a:r>
              <a:rPr sz="1700" b="0">
                <a:solidFill>
                  <a:srgbClr val="F2F2F2"/>
                </a:solidFill>
                <a:latin typeface="Aptos"/>
              </a:rPr>
              <a:t>•  All of it is just </a:t>
            </a:r>
            <a:r>
              <a:rPr sz="1700" b="1">
                <a:solidFill>
                  <a:srgbClr val="F2F2F2"/>
                </a:solidFill>
                <a:latin typeface="Aptos"/>
              </a:rPr>
              <a:t>configuration SRAM</a:t>
            </a:r>
            <a:r>
              <a:rPr sz="1700" b="0">
                <a:solidFill>
                  <a:srgbClr val="F2F2F2"/>
                </a:solidFill>
                <a:latin typeface="Aptos"/>
              </a:rPr>
              <a:t> spread across the die.</a:t>
            </a:r>
          </a:p>
          <a:p>
            <a:pPr>
              <a:spcAft>
                <a:spcPts val="1600"/>
              </a:spcAft>
            </a:pPr>
            <a:r>
              <a:rPr sz="1700" b="0">
                <a:solidFill>
                  <a:srgbClr val="F2F2F2"/>
                </a:solidFill>
                <a:latin typeface="Aptos"/>
              </a:rPr>
              <a:t>•  The bitstream is a dump of that SRAM — a few megabits — shifted in over JTAG at power-up.</a:t>
            </a:r>
          </a:p>
          <a:p>
            <a:pPr>
              <a:spcAft>
                <a:spcPts val="1600"/>
              </a:spcAft>
            </a:pPr>
            <a:r>
              <a:rPr sz="1700" b="0">
                <a:solidFill>
                  <a:srgbClr val="F2F2F2"/>
                </a:solidFill>
                <a:latin typeface="Aptos"/>
              </a:rPr>
              <a:t>•  SRAM-based ⇒ </a:t>
            </a:r>
            <a:r>
              <a:rPr sz="1700" b="1">
                <a:solidFill>
                  <a:srgbClr val="F2F2F2"/>
                </a:solidFill>
                <a:latin typeface="Aptos"/>
              </a:rPr>
              <a:t>volatile</a:t>
            </a:r>
            <a:r>
              <a:rPr sz="1700" b="0">
                <a:solidFill>
                  <a:srgbClr val="F2F2F2"/>
                </a:solidFill>
                <a:latin typeface="Aptos"/>
              </a:rPr>
              <a:t>. Power cycle and the chip forgets it was a CPU. Either reload it, or store it in the board’s SPI flash.</a:t>
            </a:r>
          </a:p>
        </p:txBody>
      </p:sp>
      <p:sp>
        <p:nvSpPr>
          <p:cNvPr id="7" name="Rounded Rectangle 6"/>
          <p:cNvSpPr/>
          <p:nvPr/>
        </p:nvSpPr>
        <p:spPr>
          <a:xfrm>
            <a:off x="6858000" y="2103120"/>
            <a:ext cx="1005840" cy="9601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2F2F2"/>
                </a:solidFill>
                <a:latin typeface="Aptos"/>
              </a:rPr>
              <a:t>.bit file</a:t>
            </a:r>
          </a:p>
        </p:txBody>
      </p:sp>
      <p:cxnSp>
        <p:nvCxnSpPr>
          <p:cNvPr id="8" name="Connector 7"/>
          <p:cNvCxnSpPr/>
          <p:nvPr/>
        </p:nvCxnSpPr>
        <p:spPr>
          <a:xfrm>
            <a:off x="7918704" y="2583179"/>
            <a:ext cx="128015"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101583" y="2103120"/>
            <a:ext cx="1005840" cy="9601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2F2F2"/>
                </a:solidFill>
                <a:latin typeface="Aptos"/>
              </a:rPr>
              <a:t>JTAG</a:t>
            </a:r>
          </a:p>
        </p:txBody>
      </p:sp>
      <p:cxnSp>
        <p:nvCxnSpPr>
          <p:cNvPr id="10" name="Connector 9"/>
          <p:cNvCxnSpPr/>
          <p:nvPr/>
        </p:nvCxnSpPr>
        <p:spPr>
          <a:xfrm>
            <a:off x="9162288" y="2583179"/>
            <a:ext cx="128015"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345167" y="2103120"/>
            <a:ext cx="1005840" cy="9601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2F2F2"/>
                </a:solidFill>
                <a:latin typeface="Aptos"/>
              </a:rPr>
              <a:t>config</a:t>
            </a:r>
          </a:p>
          <a:p>
            <a:pPr algn="ctr"/>
            <a:r>
              <a:rPr sz="1100" b="1">
                <a:solidFill>
                  <a:srgbClr val="F2F2F2"/>
                </a:solidFill>
                <a:latin typeface="Aptos"/>
              </a:rPr>
              <a:t>SRAM</a:t>
            </a:r>
          </a:p>
        </p:txBody>
      </p:sp>
      <p:cxnSp>
        <p:nvCxnSpPr>
          <p:cNvPr id="12" name="Connector 11"/>
          <p:cNvCxnSpPr/>
          <p:nvPr/>
        </p:nvCxnSpPr>
        <p:spPr>
          <a:xfrm>
            <a:off x="10405872" y="2583179"/>
            <a:ext cx="128015"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588751" y="2103120"/>
            <a:ext cx="1005840" cy="9601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2F2F2"/>
                </a:solidFill>
                <a:latin typeface="Aptos"/>
              </a:rPr>
              <a:t>the chip</a:t>
            </a:r>
          </a:p>
          <a:p>
            <a:pPr algn="ctr"/>
            <a:r>
              <a:rPr sz="1100" b="1">
                <a:solidFill>
                  <a:srgbClr val="F2F2F2"/>
                </a:solidFill>
                <a:latin typeface="Aptos"/>
              </a:rPr>
              <a:t>IS the</a:t>
            </a:r>
          </a:p>
          <a:p>
            <a:pPr algn="ctr"/>
            <a:r>
              <a:rPr sz="1100" b="1">
                <a:solidFill>
                  <a:srgbClr val="F2F2F2"/>
                </a:solidFill>
                <a:latin typeface="Aptos"/>
              </a:rPr>
              <a:t>circuit</a:t>
            </a:r>
          </a:p>
        </p:txBody>
      </p:sp>
      <p:sp>
        <p:nvSpPr>
          <p:cNvPr id="14" name="Rectangle 13"/>
          <p:cNvSpPr/>
          <p:nvPr/>
        </p:nvSpPr>
        <p:spPr>
          <a:xfrm>
            <a:off x="6858000" y="3566160"/>
            <a:ext cx="4846320" cy="1371600"/>
          </a:xfrm>
          <a:prstGeom prst="rect">
            <a:avLst/>
          </a:prstGeom>
          <a:solidFill>
            <a:srgbClr val="26292D"/>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00">
                <a:solidFill>
                  <a:srgbClr val="F2F2F2"/>
                </a:solidFill>
                <a:latin typeface="Aptos Mono"/>
              </a:rPr>
              <a:t>$ openFPGALoader -c ft2232 -m b8008.bit</a:t>
            </a:r>
          </a:p>
          <a:p>
            <a:pPr>
              <a:spcAft>
                <a:spcPts val="0"/>
              </a:spcAft>
            </a:pPr>
            <a:r>
              <a:rPr sz="1200">
                <a:solidFill>
                  <a:srgbClr val="F2F2F2"/>
                </a:solidFill>
                <a:latin typeface="Aptos Mono"/>
              </a:rPr>
              <a:t>Jtag frequency : 6.00MHz</a:t>
            </a:r>
          </a:p>
          <a:p>
            <a:pPr>
              <a:spcAft>
                <a:spcPts val="0"/>
              </a:spcAft>
            </a:pPr>
            <a:r>
              <a:rPr sz="1200">
                <a:solidFill>
                  <a:srgbClr val="F2F2F2"/>
                </a:solidFill>
                <a:latin typeface="Aptos Mono"/>
              </a:rPr>
              <a:t>Loading: [==================] 100.00%</a:t>
            </a:r>
          </a:p>
          <a:p>
            <a:pPr>
              <a:spcAft>
                <a:spcPts val="0"/>
              </a:spcAft>
            </a:pPr>
            <a:r>
              <a:rPr sz="1200">
                <a:solidFill>
                  <a:srgbClr val="F2F2F2"/>
                </a:solidFill>
                <a:latin typeface="Aptos Mono"/>
              </a:rPr>
              <a:t>Done</a:t>
            </a:r>
          </a:p>
        </p:txBody>
      </p:sp>
      <p:sp>
        <p:nvSpPr>
          <p:cNvPr id="15" name="Rectangle 14"/>
          <p:cNvSpPr/>
          <p:nvPr/>
        </p:nvSpPr>
        <p:spPr>
          <a:xfrm>
            <a:off x="6858000" y="5166360"/>
            <a:ext cx="4846320" cy="86868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F2F2F2"/>
                </a:solidFill>
                <a:latin typeface="Aptos"/>
              </a:rPr>
              <a:t>This design’s bitstream: </a:t>
            </a:r>
            <a:r>
              <a:rPr sz="1600" b="1">
                <a:solidFill>
                  <a:srgbClr val="F2F2F2"/>
                </a:solidFill>
                <a:latin typeface="Aptos"/>
              </a:rPr>
              <a:t>1.7 Mbit</a:t>
            </a:r>
            <a:r>
              <a:rPr sz="1600" b="0">
                <a:solidFill>
                  <a:srgbClr val="F2F2F2"/>
                </a:solidFill>
                <a:latin typeface="Aptos"/>
              </a:rPr>
              <a:t> — the same file, every power-up.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This is not emulation. Everything happens at once.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5349240" cy="4114800"/>
          </a:xfrm>
          <a:prstGeom prst="rect">
            <a:avLst/>
          </a:prstGeom>
          <a:solidFill>
            <a:srgbClr val="FFFFFF"/>
          </a:solidFill>
          <a:ln w="15875">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783080"/>
            <a:ext cx="5349240" cy="82296"/>
          </a:xfrm>
          <a:prstGeom prst="rect">
            <a:avLst/>
          </a:pr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65960"/>
            <a:ext cx="4846320" cy="457200"/>
          </a:xfrm>
          <a:prstGeom prst="rect">
            <a:avLst/>
          </a:prstGeom>
          <a:noFill/>
        </p:spPr>
        <p:txBody>
          <a:bodyPr wrap="square">
            <a:spAutoFit/>
          </a:bodyPr>
          <a:lstStyle/>
          <a:p>
            <a:r>
              <a:rPr sz="1800" b="1">
                <a:solidFill>
                  <a:srgbClr val="333333"/>
                </a:solidFill>
                <a:latin typeface="Aptos"/>
              </a:rPr>
              <a:t>An 8008 emulator (software)</a:t>
            </a:r>
          </a:p>
        </p:txBody>
      </p:sp>
      <p:sp>
        <p:nvSpPr>
          <p:cNvPr id="8" name="Rectangle 7"/>
          <p:cNvSpPr/>
          <p:nvPr/>
        </p:nvSpPr>
        <p:spPr>
          <a:xfrm>
            <a:off x="777240" y="2560320"/>
            <a:ext cx="4846320" cy="1874519"/>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F2F2F2"/>
                </a:solidFill>
                <a:latin typeface="Aptos Mono"/>
              </a:rPr>
              <a:t>while True:</a:t>
            </a:r>
          </a:p>
          <a:p>
            <a:pPr>
              <a:spcAft>
                <a:spcPts val="0"/>
              </a:spcAft>
            </a:pPr>
            <a:r>
              <a:rPr sz="1300">
                <a:solidFill>
                  <a:srgbClr val="F2F2F2"/>
                </a:solidFill>
                <a:latin typeface="Aptos Mono"/>
              </a:rPr>
              <a:t>    op = mem[pc]      </a:t>
            </a:r>
            <a:r>
              <a:rPr sz="1300">
                <a:solidFill>
                  <a:srgbClr val="6FC2EA"/>
                </a:solidFill>
                <a:latin typeface="Aptos Mono"/>
              </a:rPr>
              <a:t># one</a:t>
            </a:r>
          </a:p>
          <a:p>
            <a:pPr>
              <a:spcAft>
                <a:spcPts val="0"/>
              </a:spcAft>
            </a:pPr>
            <a:r>
              <a:rPr sz="1300">
                <a:solidFill>
                  <a:srgbClr val="F2F2F2"/>
                </a:solidFill>
                <a:latin typeface="Aptos Mono"/>
              </a:rPr>
              <a:t>    pc += 1           </a:t>
            </a:r>
            <a:r>
              <a:rPr sz="1300">
                <a:solidFill>
                  <a:srgbClr val="6FC2EA"/>
                </a:solidFill>
                <a:latin typeface="Aptos Mono"/>
              </a:rPr>
              <a:t># thing</a:t>
            </a:r>
          </a:p>
          <a:p>
            <a:pPr>
              <a:spcAft>
                <a:spcPts val="0"/>
              </a:spcAft>
            </a:pPr>
            <a:r>
              <a:rPr sz="1300">
                <a:solidFill>
                  <a:srgbClr val="F2F2F2"/>
                </a:solidFill>
                <a:latin typeface="Aptos Mono"/>
              </a:rPr>
              <a:t>    decode(op)        </a:t>
            </a:r>
            <a:r>
              <a:rPr sz="1300">
                <a:solidFill>
                  <a:srgbClr val="6FC2EA"/>
                </a:solidFill>
                <a:latin typeface="Aptos Mono"/>
              </a:rPr>
              <a:t># at a</a:t>
            </a:r>
          </a:p>
          <a:p>
            <a:pPr>
              <a:spcAft>
                <a:spcPts val="0"/>
              </a:spcAft>
            </a:pPr>
            <a:r>
              <a:rPr sz="1300">
                <a:solidFill>
                  <a:srgbClr val="F2F2F2"/>
                </a:solidFill>
                <a:latin typeface="Aptos Mono"/>
              </a:rPr>
              <a:t>    execute(op)       </a:t>
            </a:r>
            <a:r>
              <a:rPr sz="1300">
                <a:solidFill>
                  <a:srgbClr val="6FC2EA"/>
                </a:solidFill>
                <a:latin typeface="Aptos Mono"/>
              </a:rPr>
              <a:t># time</a:t>
            </a:r>
          </a:p>
        </p:txBody>
      </p:sp>
      <p:sp>
        <p:nvSpPr>
          <p:cNvPr id="9" name="TextBox 8"/>
          <p:cNvSpPr txBox="1"/>
          <p:nvPr/>
        </p:nvSpPr>
        <p:spPr>
          <a:xfrm>
            <a:off x="777240" y="4572000"/>
            <a:ext cx="4846320" cy="1188720"/>
          </a:xfrm>
          <a:prstGeom prst="rect">
            <a:avLst/>
          </a:prstGeom>
          <a:noFill/>
        </p:spPr>
        <p:txBody>
          <a:bodyPr wrap="square">
            <a:spAutoFit/>
          </a:bodyPr>
          <a:lstStyle/>
          <a:p>
            <a:pPr>
              <a:spcAft>
                <a:spcPts val="800"/>
              </a:spcAft>
            </a:pPr>
            <a:r>
              <a:rPr sz="1500" b="0">
                <a:solidFill>
                  <a:srgbClr val="333333"/>
                </a:solidFill>
                <a:latin typeface="Aptos"/>
              </a:rPr>
              <a:t>Sequential. Fast, but a *model* of the machine — cycle counts are bookkeeping, not physics.</a:t>
            </a:r>
          </a:p>
        </p:txBody>
      </p:sp>
      <p:sp>
        <p:nvSpPr>
          <p:cNvPr id="10" name="Rectangle 9"/>
          <p:cNvSpPr/>
          <p:nvPr/>
        </p:nvSpPr>
        <p:spPr>
          <a:xfrm>
            <a:off x="6263640" y="1783080"/>
            <a:ext cx="5349240" cy="4114800"/>
          </a:xfrm>
          <a:prstGeom prst="rect">
            <a:avLst/>
          </a:prstGeom>
          <a:solidFill>
            <a:srgbClr val="FFFFFF"/>
          </a:solidFill>
          <a:ln w="254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783080"/>
            <a:ext cx="534924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965960"/>
            <a:ext cx="4846320" cy="457200"/>
          </a:xfrm>
          <a:prstGeom prst="rect">
            <a:avLst/>
          </a:prstGeom>
          <a:noFill/>
        </p:spPr>
        <p:txBody>
          <a:bodyPr wrap="square">
            <a:spAutoFit/>
          </a:bodyPr>
          <a:lstStyle/>
          <a:p>
            <a:r>
              <a:rPr sz="1800" b="1">
                <a:solidFill>
                  <a:srgbClr val="333333"/>
                </a:solidFill>
                <a:latin typeface="Aptos"/>
              </a:rPr>
              <a:t>An 8008 in an FPGA</a:t>
            </a:r>
          </a:p>
        </p:txBody>
      </p:sp>
      <p:sp>
        <p:nvSpPr>
          <p:cNvPr id="13" name="Rectangle 12"/>
          <p:cNvSpPr/>
          <p:nvPr/>
        </p:nvSpPr>
        <p:spPr>
          <a:xfrm>
            <a:off x="6492240" y="2560320"/>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ALU</a:t>
            </a:r>
          </a:p>
        </p:txBody>
      </p:sp>
      <p:sp>
        <p:nvSpPr>
          <p:cNvPr id="14" name="Rectangle 13"/>
          <p:cNvSpPr/>
          <p:nvPr/>
        </p:nvSpPr>
        <p:spPr>
          <a:xfrm>
            <a:off x="8119871" y="2560320"/>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register file</a:t>
            </a:r>
          </a:p>
        </p:txBody>
      </p:sp>
      <p:sp>
        <p:nvSpPr>
          <p:cNvPr id="15" name="Rectangle 14"/>
          <p:cNvSpPr/>
          <p:nvPr/>
        </p:nvSpPr>
        <p:spPr>
          <a:xfrm>
            <a:off x="9747504" y="2560320"/>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stack</a:t>
            </a:r>
          </a:p>
        </p:txBody>
      </p:sp>
      <p:sp>
        <p:nvSpPr>
          <p:cNvPr id="16" name="Rectangle 15"/>
          <p:cNvSpPr/>
          <p:nvPr/>
        </p:nvSpPr>
        <p:spPr>
          <a:xfrm>
            <a:off x="6492240" y="3127248"/>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decoder</a:t>
            </a:r>
          </a:p>
        </p:txBody>
      </p:sp>
      <p:sp>
        <p:nvSpPr>
          <p:cNvPr id="17" name="Rectangle 16"/>
          <p:cNvSpPr/>
          <p:nvPr/>
        </p:nvSpPr>
        <p:spPr>
          <a:xfrm>
            <a:off x="8119871" y="3127248"/>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timing gen</a:t>
            </a:r>
          </a:p>
        </p:txBody>
      </p:sp>
      <p:sp>
        <p:nvSpPr>
          <p:cNvPr id="18" name="Rectangle 17"/>
          <p:cNvSpPr/>
          <p:nvPr/>
        </p:nvSpPr>
        <p:spPr>
          <a:xfrm>
            <a:off x="9747504" y="3127248"/>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flags</a:t>
            </a:r>
          </a:p>
        </p:txBody>
      </p:sp>
      <p:sp>
        <p:nvSpPr>
          <p:cNvPr id="19" name="Rectangle 18"/>
          <p:cNvSpPr/>
          <p:nvPr/>
        </p:nvSpPr>
        <p:spPr>
          <a:xfrm>
            <a:off x="6492240" y="3694176"/>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temp regs</a:t>
            </a:r>
          </a:p>
        </p:txBody>
      </p:sp>
      <p:sp>
        <p:nvSpPr>
          <p:cNvPr id="20" name="Rectangle 19"/>
          <p:cNvSpPr/>
          <p:nvPr/>
        </p:nvSpPr>
        <p:spPr>
          <a:xfrm>
            <a:off x="8119871" y="3694176"/>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I/O buffer</a:t>
            </a:r>
          </a:p>
        </p:txBody>
      </p:sp>
      <p:sp>
        <p:nvSpPr>
          <p:cNvPr id="21" name="Rectangle 20"/>
          <p:cNvSpPr/>
          <p:nvPr/>
        </p:nvSpPr>
        <p:spPr>
          <a:xfrm>
            <a:off x="9747504" y="3694176"/>
            <a:ext cx="1517904" cy="4572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addr mux</a:t>
            </a:r>
          </a:p>
        </p:txBody>
      </p:sp>
      <p:sp>
        <p:nvSpPr>
          <p:cNvPr id="22" name="TextBox 21"/>
          <p:cNvSpPr txBox="1"/>
          <p:nvPr/>
        </p:nvSpPr>
        <p:spPr>
          <a:xfrm>
            <a:off x="6492240" y="4434840"/>
            <a:ext cx="4846320" cy="1280160"/>
          </a:xfrm>
          <a:prstGeom prst="rect">
            <a:avLst/>
          </a:prstGeom>
          <a:noFill/>
        </p:spPr>
        <p:txBody>
          <a:bodyPr wrap="square">
            <a:spAutoFit/>
          </a:bodyPr>
          <a:lstStyle/>
          <a:p>
            <a:pPr>
              <a:spcAft>
                <a:spcPts val="800"/>
              </a:spcAft>
            </a:pPr>
            <a:r>
              <a:rPr sz="1500" b="0">
                <a:solidFill>
                  <a:srgbClr val="333333"/>
                </a:solidFill>
                <a:latin typeface="Aptos"/>
              </a:rPr>
              <a:t>All nine blocks settle </a:t>
            </a:r>
            <a:r>
              <a:rPr sz="1500" b="1">
                <a:solidFill>
                  <a:srgbClr val="333333"/>
                </a:solidFill>
                <a:latin typeface="Aptos"/>
              </a:rPr>
              <a:t>simultaneously</a:t>
            </a:r>
            <a:r>
              <a:rPr sz="1500" b="0">
                <a:solidFill>
                  <a:srgbClr val="333333"/>
                </a:solidFill>
                <a:latin typeface="Aptos"/>
              </a:rPr>
              <a:t>, every clock edge. There is no loop. There is no "next".</a:t>
            </a:r>
          </a:p>
        </p:txBody>
      </p:sp>
      <p:sp>
        <p:nvSpPr>
          <p:cNvPr id="23" name="Rectangle 22"/>
          <p:cNvSpPr/>
          <p:nvPr/>
        </p:nvSpPr>
        <p:spPr>
          <a:xfrm>
            <a:off x="548640" y="6035040"/>
            <a:ext cx="11064240" cy="68580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F2F2F2"/>
                </a:solidFill>
                <a:latin typeface="Aptos"/>
              </a:rPr>
              <a:t>The board is not *running* an 8008. The board </a:t>
            </a:r>
            <a:r>
              <a:rPr sz="1800" b="1">
                <a:solidFill>
                  <a:srgbClr val="F2F2F2"/>
                </a:solidFill>
                <a:latin typeface="Aptos"/>
              </a:rPr>
              <a:t>is</a:t>
            </a:r>
            <a:r>
              <a:rPr sz="1800" b="0">
                <a:solidFill>
                  <a:srgbClr val="F2F2F2"/>
                </a:solidFill>
                <a:latin typeface="Aptos"/>
              </a:rPr>
              <a:t> an 8008.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PART 1 — WHAT AN FPGA IS</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The board I used: Lattice ECP5-5G Versa</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ttice_logo_ondark.png"/>
          <p:cNvPicPr>
            <a:picLocks noChangeAspect="1"/>
          </p:cNvPicPr>
          <p:nvPr/>
        </p:nvPicPr>
        <p:blipFill>
          <a:blip r:embed="rId3"/>
          <a:stretch>
            <a:fillRect/>
          </a:stretch>
        </p:blipFill>
        <p:spPr>
          <a:xfrm>
            <a:off x="9982462" y="320040"/>
            <a:ext cx="1706313" cy="310896"/>
          </a:xfrm>
          <a:prstGeom prst="rect">
            <a:avLst/>
          </a:prstGeom>
          <a:effectLst/>
        </p:spPr>
      </p:pic>
      <p:sp>
        <p:nvSpPr>
          <p:cNvPr id="6" name="TextBox 5"/>
          <p:cNvSpPr txBox="1"/>
          <p:nvPr/>
        </p:nvSpPr>
        <p:spPr>
          <a:xfrm>
            <a:off x="548640" y="1783080"/>
            <a:ext cx="5852160" cy="3931920"/>
          </a:xfrm>
          <a:prstGeom prst="rect">
            <a:avLst/>
          </a:prstGeom>
          <a:noFill/>
        </p:spPr>
        <p:txBody>
          <a:bodyPr wrap="square">
            <a:spAutoFit/>
          </a:bodyPr>
          <a:lstStyle/>
          <a:p>
            <a:pPr>
              <a:spcAft>
                <a:spcPts val="1500"/>
              </a:spcAft>
            </a:pPr>
            <a:r>
              <a:rPr sz="1600" b="0">
                <a:solidFill>
                  <a:srgbClr val="F2F2F2"/>
                </a:solidFill>
                <a:latin typeface="Aptos"/>
              </a:rPr>
              <a:t>•  </a:t>
            </a:r>
            <a:r>
              <a:rPr sz="1600" b="1">
                <a:solidFill>
                  <a:srgbClr val="F2F2F2"/>
                </a:solidFill>
                <a:latin typeface="Aptos"/>
              </a:rPr>
              <a:t>LFE5UM5G-45F</a:t>
            </a:r>
            <a:r>
              <a:rPr sz="1600" b="0">
                <a:solidFill>
                  <a:srgbClr val="F2F2F2"/>
                </a:solidFill>
                <a:latin typeface="Aptos"/>
              </a:rPr>
              <a:t> — 43,848 LUT4/FF, 108 block RAMs (~1.9 Mb), 4 PLLs, 5 Gbps SerDes</a:t>
            </a:r>
          </a:p>
          <a:p>
            <a:pPr>
              <a:spcAft>
                <a:spcPts val="1500"/>
              </a:spcAft>
            </a:pPr>
            <a:r>
              <a:rPr sz="1600" b="0">
                <a:solidFill>
                  <a:srgbClr val="F2F2F2"/>
                </a:solidFill>
                <a:latin typeface="Aptos"/>
              </a:rPr>
              <a:t>•  ~$150 dev kit: DIP switches and LEDs become the 8008’s </a:t>
            </a:r>
            <a:r>
              <a:rPr sz="1600" b="1">
                <a:solidFill>
                  <a:srgbClr val="F2F2F2"/>
                </a:solidFill>
                <a:latin typeface="Aptos"/>
              </a:rPr>
              <a:t>front panel</a:t>
            </a:r>
            <a:r>
              <a:rPr sz="1600" b="0">
                <a:solidFill>
                  <a:srgbClr val="F2F2F2"/>
                </a:solidFill>
                <a:latin typeface="Aptos"/>
              </a:rPr>
              <a:t>; USB-UART is the terminal</a:t>
            </a:r>
          </a:p>
          <a:p>
            <a:pPr>
              <a:spcAft>
                <a:spcPts val="1500"/>
              </a:spcAft>
            </a:pPr>
            <a:r>
              <a:rPr sz="1600" b="0">
                <a:solidFill>
                  <a:srgbClr val="F2F2F2"/>
                </a:solidFill>
                <a:latin typeface="Aptos"/>
              </a:rPr>
              <a:t>•  Chosen for one reason above all: </a:t>
            </a:r>
            <a:r>
              <a:rPr sz="1600" b="1">
                <a:solidFill>
                  <a:srgbClr val="F2F2F2"/>
                </a:solidFill>
                <a:latin typeface="Aptos"/>
              </a:rPr>
              <a:t>the open-source tools know this chip cold</a:t>
            </a:r>
            <a:r>
              <a:rPr sz="1600" b="0">
                <a:solidFill>
                  <a:srgbClr val="F2F2F2"/>
                </a:solidFill>
                <a:latin typeface="Aptos"/>
              </a:rPr>
              <a:t> (Project Trellis reverse-engineered the bitstream format)</a:t>
            </a:r>
          </a:p>
          <a:p>
            <a:pPr>
              <a:spcAft>
                <a:spcPts val="1500"/>
              </a:spcAft>
            </a:pPr>
            <a:r>
              <a:rPr sz="1600" b="0">
                <a:solidFill>
                  <a:srgbClr val="F2F2F2"/>
                </a:solidFill>
                <a:latin typeface="Aptos"/>
              </a:rPr>
              <a:t>•  No vendor license, no web-install, no node-locked seat. </a:t>
            </a:r>
            <a:r>
              <a:rPr sz="1600" b="0">
                <a:solidFill>
                  <a:srgbClr val="FFC220"/>
                </a:solidFill>
                <a:latin typeface="Aptos Mono"/>
              </a:rPr>
              <a:t>git clone</a:t>
            </a:r>
            <a:r>
              <a:rPr sz="1600" b="0">
                <a:solidFill>
                  <a:srgbClr val="F2F2F2"/>
                </a:solidFill>
                <a:latin typeface="Aptos"/>
              </a:rPr>
              <a:t> and build.</a:t>
            </a:r>
          </a:p>
        </p:txBody>
      </p:sp>
      <p:sp>
        <p:nvSpPr>
          <p:cNvPr id="7" name="Rectangle 6"/>
          <p:cNvSpPr/>
          <p:nvPr/>
        </p:nvSpPr>
        <p:spPr>
          <a:xfrm>
            <a:off x="6766560" y="1965960"/>
            <a:ext cx="2286000" cy="128016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3200" b="1">
                <a:solidFill>
                  <a:srgbClr val="FFC220"/>
                </a:solidFill>
                <a:latin typeface="Aptos"/>
              </a:rPr>
              <a:t>44K</a:t>
            </a:r>
          </a:p>
          <a:p>
            <a:pPr algn="ctr">
              <a:spcBef>
                <a:spcPts val="400"/>
              </a:spcBef>
            </a:pPr>
            <a:r>
              <a:rPr sz="1200">
                <a:solidFill>
                  <a:srgbClr val="F2F2F2"/>
                </a:solidFill>
                <a:latin typeface="Aptos"/>
              </a:rPr>
              <a:t>logic cells</a:t>
            </a:r>
          </a:p>
        </p:txBody>
      </p:sp>
      <p:sp>
        <p:nvSpPr>
          <p:cNvPr id="8" name="Rectangle 7"/>
          <p:cNvSpPr/>
          <p:nvPr/>
        </p:nvSpPr>
        <p:spPr>
          <a:xfrm>
            <a:off x="9281160" y="1965960"/>
            <a:ext cx="2286000" cy="128016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3200" b="1">
                <a:solidFill>
                  <a:srgbClr val="FFC220"/>
                </a:solidFill>
                <a:latin typeface="Aptos"/>
              </a:rPr>
              <a:t>108</a:t>
            </a:r>
          </a:p>
          <a:p>
            <a:pPr algn="ctr">
              <a:spcBef>
                <a:spcPts val="400"/>
              </a:spcBef>
            </a:pPr>
            <a:r>
              <a:rPr sz="1200">
                <a:solidFill>
                  <a:srgbClr val="F2F2F2"/>
                </a:solidFill>
                <a:latin typeface="Aptos"/>
              </a:rPr>
              <a:t>block RAMs</a:t>
            </a:r>
          </a:p>
        </p:txBody>
      </p:sp>
      <p:sp>
        <p:nvSpPr>
          <p:cNvPr id="9" name="Rectangle 8"/>
          <p:cNvSpPr/>
          <p:nvPr/>
        </p:nvSpPr>
        <p:spPr>
          <a:xfrm>
            <a:off x="6766560" y="3429000"/>
            <a:ext cx="2286000" cy="128016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600" b="1">
                <a:solidFill>
                  <a:srgbClr val="FFC220"/>
                </a:solidFill>
                <a:latin typeface="Aptos"/>
              </a:rPr>
              <a:t>25 MHz</a:t>
            </a:r>
          </a:p>
          <a:p>
            <a:pPr algn="ctr">
              <a:spcBef>
                <a:spcPts val="400"/>
              </a:spcBef>
            </a:pPr>
            <a:r>
              <a:rPr sz="1200">
                <a:solidFill>
                  <a:srgbClr val="F2F2F2"/>
                </a:solidFill>
                <a:latin typeface="Aptos"/>
              </a:rPr>
              <a:t>system clock</a:t>
            </a:r>
          </a:p>
        </p:txBody>
      </p:sp>
      <p:sp>
        <p:nvSpPr>
          <p:cNvPr id="10" name="Rectangle 9"/>
          <p:cNvSpPr/>
          <p:nvPr/>
        </p:nvSpPr>
        <p:spPr>
          <a:xfrm>
            <a:off x="9281160" y="3429000"/>
            <a:ext cx="2286000" cy="128016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600" b="1">
                <a:solidFill>
                  <a:srgbClr val="FFC220"/>
                </a:solidFill>
                <a:latin typeface="Aptos"/>
              </a:rPr>
              <a:t>500 kHz</a:t>
            </a:r>
          </a:p>
          <a:p>
            <a:pPr algn="ctr">
              <a:spcBef>
                <a:spcPts val="400"/>
              </a:spcBef>
            </a:pPr>
            <a:r>
              <a:rPr sz="1200">
                <a:solidFill>
                  <a:srgbClr val="F2F2F2"/>
                </a:solidFill>
                <a:latin typeface="Aptos"/>
              </a:rPr>
              <a:t>8008 needs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2 — DESCRIBING HARDWARE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HDL is not a programming language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11155680" cy="548640"/>
          </a:xfrm>
          <a:prstGeom prst="rect">
            <a:avLst/>
          </a:prstGeom>
          <a:noFill/>
        </p:spPr>
        <p:txBody>
          <a:bodyPr wrap="square">
            <a:spAutoFit/>
          </a:bodyPr>
          <a:lstStyle/>
          <a:p>
            <a:pPr>
              <a:spcAft>
                <a:spcPts val="800"/>
              </a:spcAft>
            </a:pPr>
            <a:r>
              <a:rPr sz="1700" b="0">
                <a:solidFill>
                  <a:srgbClr val="333333"/>
                </a:solidFill>
                <a:latin typeface="Aptos"/>
              </a:rPr>
              <a:t>It looks like one. It is not. Three differences do all the damage:</a:t>
            </a:r>
          </a:p>
        </p:txBody>
      </p:sp>
      <p:sp>
        <p:nvSpPr>
          <p:cNvPr id="6" name="Rectangle 5"/>
          <p:cNvSpPr/>
          <p:nvPr/>
        </p:nvSpPr>
        <p:spPr>
          <a:xfrm>
            <a:off x="548640" y="2468880"/>
            <a:ext cx="3566160" cy="31089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256032" tIns="228600" rIns="182880" rtlCol="0" anchor="ctr"/>
          <a:lstStyle/>
          <a:p>
            <a:pPr algn="l"/>
            <a:r>
              <a:rPr sz="1800" b="1">
                <a:solidFill>
                  <a:srgbClr val="333333"/>
                </a:solidFill>
                <a:latin typeface="Aptos"/>
              </a:rPr>
              <a:t>Everything is concurrent</a:t>
            </a:r>
          </a:p>
          <a:p>
            <a:pPr algn="l">
              <a:spcBef>
                <a:spcPts val="1400"/>
              </a:spcBef>
            </a:pPr>
            <a:r>
              <a:rPr sz="1400" b="0">
                <a:solidFill>
                  <a:srgbClr val="5A6068"/>
                </a:solidFill>
                <a:latin typeface="Aptos"/>
              </a:rPr>
              <a:t>Statements are not steps. They are </a:t>
            </a:r>
            <a:r>
              <a:rPr sz="1400" b="1">
                <a:solidFill>
                  <a:srgbClr val="5A6068"/>
                </a:solidFill>
                <a:latin typeface="Aptos"/>
              </a:rPr>
              <a:t>wires that exist all the time</a:t>
            </a:r>
            <a:r>
              <a:rPr sz="1400" b="0">
                <a:solidFill>
                  <a:srgbClr val="5A6068"/>
                </a:solidFill>
                <a:latin typeface="Aptos"/>
              </a:rPr>
              <a:t>. Reordering two lines changes nothing.</a:t>
            </a:r>
          </a:p>
        </p:txBody>
      </p:sp>
      <p:sp>
        <p:nvSpPr>
          <p:cNvPr id="7" name="Rectangle 6"/>
          <p:cNvSpPr/>
          <p:nvPr/>
        </p:nvSpPr>
        <p:spPr>
          <a:xfrm>
            <a:off x="548640" y="2468880"/>
            <a:ext cx="73152" cy="310896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297679" y="2468880"/>
            <a:ext cx="3566160" cy="31089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256032" tIns="228600" rIns="182880" rtlCol="0" anchor="ctr"/>
          <a:lstStyle/>
          <a:p>
            <a:pPr algn="l"/>
            <a:r>
              <a:rPr sz="1800" b="1">
                <a:solidFill>
                  <a:srgbClr val="333333"/>
                </a:solidFill>
                <a:latin typeface="Aptos"/>
              </a:rPr>
              <a:t>You describe structure,
not behavior over time</a:t>
            </a:r>
          </a:p>
          <a:p>
            <a:pPr algn="l">
              <a:spcBef>
                <a:spcPts val="1400"/>
              </a:spcBef>
            </a:pPr>
            <a:r>
              <a:rPr sz="1400" b="0">
                <a:solidFill>
                  <a:srgbClr val="5A6068"/>
                </a:solidFill>
                <a:latin typeface="Aptos"/>
              </a:rPr>
              <a:t>Your </a:t>
            </a:r>
            <a:r>
              <a:rPr sz="1400" b="0">
                <a:solidFill>
                  <a:srgbClr val="1F9DD8"/>
                </a:solidFill>
                <a:latin typeface="Aptos Mono"/>
              </a:rPr>
              <a:t>if</a:t>
            </a:r>
            <a:r>
              <a:rPr sz="1400" b="0">
                <a:solidFill>
                  <a:srgbClr val="5A6068"/>
                </a:solidFill>
                <a:latin typeface="Aptos"/>
              </a:rPr>
              <a:t> becomes a multiplexer. Your </a:t>
            </a:r>
            <a:r>
              <a:rPr sz="1400" b="0">
                <a:solidFill>
                  <a:srgbClr val="1F9DD8"/>
                </a:solidFill>
                <a:latin typeface="Aptos Mono"/>
              </a:rPr>
              <a:t>+</a:t>
            </a:r>
            <a:r>
              <a:rPr sz="1400" b="0">
                <a:solidFill>
                  <a:srgbClr val="5A6068"/>
                </a:solidFill>
                <a:latin typeface="Aptos"/>
              </a:rPr>
              <a:t> becomes an adder. </a:t>
            </a:r>
            <a:r>
              <a:rPr sz="1400" b="1">
                <a:solidFill>
                  <a:srgbClr val="5A6068"/>
                </a:solidFill>
                <a:latin typeface="Aptos"/>
              </a:rPr>
              <a:t>The code is a schematic in text form.</a:t>
            </a:r>
          </a:p>
        </p:txBody>
      </p:sp>
      <p:sp>
        <p:nvSpPr>
          <p:cNvPr id="9" name="Rectangle 8"/>
          <p:cNvSpPr/>
          <p:nvPr/>
        </p:nvSpPr>
        <p:spPr>
          <a:xfrm>
            <a:off x="4297679" y="2468880"/>
            <a:ext cx="73152" cy="310896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19" y="2468880"/>
            <a:ext cx="3566160" cy="310896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256032" tIns="228600" rIns="182880" rtlCol="0" anchor="ctr"/>
          <a:lstStyle/>
          <a:p>
            <a:pPr algn="l"/>
            <a:r>
              <a:rPr sz="1800" b="1">
                <a:solidFill>
                  <a:srgbClr val="333333"/>
                </a:solidFill>
                <a:latin typeface="Aptos"/>
              </a:rPr>
              <a:t>The clock is the only
"when" you get</a:t>
            </a:r>
          </a:p>
          <a:p>
            <a:pPr algn="l">
              <a:spcBef>
                <a:spcPts val="1400"/>
              </a:spcBef>
            </a:pPr>
            <a:r>
              <a:rPr sz="1400" b="0">
                <a:solidFill>
                  <a:srgbClr val="5A6068"/>
                </a:solidFill>
                <a:latin typeface="Aptos"/>
              </a:rPr>
              <a:t>Nothing happens "next". Things happen </a:t>
            </a:r>
            <a:r>
              <a:rPr sz="1400" b="1">
                <a:solidFill>
                  <a:srgbClr val="5A6068"/>
                </a:solidFill>
                <a:latin typeface="Aptos"/>
              </a:rPr>
              <a:t>at a clock edge</a:t>
            </a:r>
            <a:r>
              <a:rPr sz="1400" b="0">
                <a:solidFill>
                  <a:srgbClr val="5A6068"/>
                </a:solidFill>
                <a:latin typeface="Aptos"/>
              </a:rPr>
              <a:t>, or they happen continuously.</a:t>
            </a:r>
          </a:p>
        </p:txBody>
      </p:sp>
      <p:sp>
        <p:nvSpPr>
          <p:cNvPr id="11" name="Rectangle 10"/>
          <p:cNvSpPr/>
          <p:nvPr/>
        </p:nvSpPr>
        <p:spPr>
          <a:xfrm>
            <a:off x="8046719" y="2468880"/>
            <a:ext cx="73152" cy="310896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806440"/>
            <a:ext cx="11064240" cy="77724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0">
                <a:solidFill>
                  <a:srgbClr val="F2F2F2"/>
                </a:solidFill>
                <a:latin typeface="Aptos"/>
              </a:rPr>
              <a:t>If you find yourself asking "what happens first?", you are still writing software.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2 — DESCRIBING HARDWARE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Two languages, one job</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828800"/>
            <a:ext cx="5394960" cy="320040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400">
                <a:solidFill>
                  <a:srgbClr val="6FC2EA"/>
                </a:solidFill>
                <a:latin typeface="Aptos Mono"/>
              </a:rPr>
              <a:t>-- VHDL  (Ada-flavoured)</a:t>
            </a:r>
          </a:p>
          <a:p>
            <a:pPr>
              <a:spcAft>
                <a:spcPts val="0"/>
              </a:spcAft>
            </a:pPr>
            <a:r>
              <a:rPr sz="1400">
                <a:solidFill>
                  <a:srgbClr val="F2F2F2"/>
                </a:solidFill>
                <a:latin typeface="Aptos Mono"/>
              </a:rPr>
              <a:t>process(clk)</a:t>
            </a:r>
          </a:p>
          <a:p>
            <a:pPr>
              <a:spcAft>
                <a:spcPts val="0"/>
              </a:spcAft>
            </a:pPr>
            <a:r>
              <a:rPr sz="1400">
                <a:solidFill>
                  <a:srgbClr val="F2F2F2"/>
                </a:solidFill>
                <a:latin typeface="Aptos Mono"/>
              </a:rPr>
              <a:t>begin</a:t>
            </a:r>
          </a:p>
          <a:p>
            <a:pPr>
              <a:spcAft>
                <a:spcPts val="0"/>
              </a:spcAft>
            </a:pPr>
            <a:r>
              <a:rPr sz="1400">
                <a:solidFill>
                  <a:srgbClr val="F2F2F2"/>
                </a:solidFill>
                <a:latin typeface="Aptos Mono"/>
              </a:rPr>
              <a:t>  if rising_edge(clk) then</a:t>
            </a:r>
          </a:p>
          <a:p>
            <a:pPr>
              <a:spcAft>
                <a:spcPts val="0"/>
              </a:spcAft>
            </a:pPr>
            <a:r>
              <a:rPr sz="1400">
                <a:solidFill>
                  <a:srgbClr val="F2F2F2"/>
                </a:solidFill>
                <a:latin typeface="Aptos Mono"/>
              </a:rPr>
              <a:t>    if rst = '1' then</a:t>
            </a:r>
          </a:p>
          <a:p>
            <a:pPr>
              <a:spcAft>
                <a:spcPts val="0"/>
              </a:spcAft>
            </a:pPr>
            <a:r>
              <a:rPr sz="1400">
                <a:solidFill>
                  <a:srgbClr val="F2F2F2"/>
                </a:solidFill>
                <a:latin typeface="Aptos Mono"/>
              </a:rPr>
              <a:t>      count &lt;= (others =&gt; '0');</a:t>
            </a:r>
          </a:p>
          <a:p>
            <a:pPr>
              <a:spcAft>
                <a:spcPts val="0"/>
              </a:spcAft>
            </a:pPr>
            <a:r>
              <a:rPr sz="1400">
                <a:solidFill>
                  <a:srgbClr val="F2F2F2"/>
                </a:solidFill>
                <a:latin typeface="Aptos Mono"/>
              </a:rPr>
              <a:t>    else</a:t>
            </a:r>
          </a:p>
          <a:p>
            <a:pPr>
              <a:spcAft>
                <a:spcPts val="0"/>
              </a:spcAft>
            </a:pPr>
            <a:r>
              <a:rPr sz="1400">
                <a:solidFill>
                  <a:srgbClr val="F2F2F2"/>
                </a:solidFill>
                <a:latin typeface="Aptos Mono"/>
              </a:rPr>
              <a:t>      count &lt;= count + 1;</a:t>
            </a:r>
          </a:p>
          <a:p>
            <a:pPr>
              <a:spcAft>
                <a:spcPts val="0"/>
              </a:spcAft>
            </a:pPr>
            <a:r>
              <a:rPr sz="1400">
                <a:solidFill>
                  <a:srgbClr val="F2F2F2"/>
                </a:solidFill>
                <a:latin typeface="Aptos Mono"/>
              </a:rPr>
              <a:t>    end if;</a:t>
            </a:r>
          </a:p>
          <a:p>
            <a:pPr>
              <a:spcAft>
                <a:spcPts val="0"/>
              </a:spcAft>
            </a:pPr>
            <a:r>
              <a:rPr sz="1400">
                <a:solidFill>
                  <a:srgbClr val="F2F2F2"/>
                </a:solidFill>
                <a:latin typeface="Aptos Mono"/>
              </a:rPr>
              <a:t>  end if;</a:t>
            </a:r>
          </a:p>
          <a:p>
            <a:pPr>
              <a:spcAft>
                <a:spcPts val="0"/>
              </a:spcAft>
            </a:pPr>
            <a:r>
              <a:rPr sz="1400">
                <a:solidFill>
                  <a:srgbClr val="F2F2F2"/>
                </a:solidFill>
                <a:latin typeface="Aptos Mono"/>
              </a:rPr>
              <a:t>end process;</a:t>
            </a:r>
          </a:p>
        </p:txBody>
      </p:sp>
      <p:sp>
        <p:nvSpPr>
          <p:cNvPr id="6" name="Rectangle 5"/>
          <p:cNvSpPr/>
          <p:nvPr/>
        </p:nvSpPr>
        <p:spPr>
          <a:xfrm>
            <a:off x="6263640" y="1828800"/>
            <a:ext cx="5394960" cy="320040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400">
                <a:solidFill>
                  <a:srgbClr val="6FC2EA"/>
                </a:solidFill>
                <a:latin typeface="Aptos Mono"/>
              </a:rPr>
              <a:t>// Verilog  (C-flavoured)</a:t>
            </a:r>
          </a:p>
          <a:p>
            <a:pPr>
              <a:spcAft>
                <a:spcPts val="0"/>
              </a:spcAft>
            </a:pPr>
            <a:r>
              <a:rPr sz="1400">
                <a:solidFill>
                  <a:srgbClr val="F2F2F2"/>
                </a:solidFill>
                <a:latin typeface="Aptos Mono"/>
              </a:rPr>
              <a:t>always @(posedge clk)</a:t>
            </a:r>
          </a:p>
          <a:p>
            <a:pPr>
              <a:spcAft>
                <a:spcPts val="0"/>
              </a:spcAft>
            </a:pPr>
            <a:r>
              <a:rPr sz="1400">
                <a:solidFill>
                  <a:srgbClr val="F2F2F2"/>
                </a:solidFill>
                <a:latin typeface="Aptos Mono"/>
              </a:rPr>
              <a:t>begin</a:t>
            </a:r>
          </a:p>
          <a:p>
            <a:pPr>
              <a:spcAft>
                <a:spcPts val="0"/>
              </a:spcAft>
            </a:pPr>
            <a:r>
              <a:rPr sz="1400">
                <a:solidFill>
                  <a:srgbClr val="F2F2F2"/>
                </a:solidFill>
                <a:latin typeface="Aptos Mono"/>
              </a:rPr>
              <a:t>  if (rst)</a:t>
            </a:r>
          </a:p>
          <a:p>
            <a:pPr>
              <a:spcAft>
                <a:spcPts val="0"/>
              </a:spcAft>
            </a:pPr>
            <a:r>
              <a:rPr sz="1400">
                <a:solidFill>
                  <a:srgbClr val="F2F2F2"/>
                </a:solidFill>
                <a:latin typeface="Aptos Mono"/>
              </a:rPr>
              <a:t>    count &lt;= 8'b0;</a:t>
            </a:r>
          </a:p>
          <a:p>
            <a:pPr>
              <a:spcAft>
                <a:spcPts val="0"/>
              </a:spcAft>
            </a:pPr>
            <a:r>
              <a:rPr sz="1400">
                <a:solidFill>
                  <a:srgbClr val="F2F2F2"/>
                </a:solidFill>
                <a:latin typeface="Aptos Mono"/>
              </a:rPr>
              <a:t>  else</a:t>
            </a:r>
          </a:p>
          <a:p>
            <a:pPr>
              <a:spcAft>
                <a:spcPts val="0"/>
              </a:spcAft>
            </a:pPr>
            <a:r>
              <a:rPr sz="1400">
                <a:solidFill>
                  <a:srgbClr val="F2F2F2"/>
                </a:solidFill>
                <a:latin typeface="Aptos Mono"/>
              </a:rPr>
              <a:t>    count &lt;= count + 1;</a:t>
            </a:r>
          </a:p>
          <a:p>
            <a:pPr>
              <a:spcAft>
                <a:spcPts val="0"/>
              </a:spcAft>
            </a:pPr>
            <a:r>
              <a:rPr sz="1400">
                <a:solidFill>
                  <a:srgbClr val="F2F2F2"/>
                </a:solidFill>
                <a:latin typeface="Aptos Mono"/>
              </a:rPr>
              <a:t>end</a:t>
            </a:r>
          </a:p>
        </p:txBody>
      </p:sp>
      <p:sp>
        <p:nvSpPr>
          <p:cNvPr id="7" name="TextBox 6"/>
          <p:cNvSpPr txBox="1"/>
          <p:nvPr/>
        </p:nvSpPr>
        <p:spPr>
          <a:xfrm>
            <a:off x="548640" y="5120640"/>
            <a:ext cx="5394960" cy="365760"/>
          </a:xfrm>
          <a:prstGeom prst="rect">
            <a:avLst/>
          </a:prstGeom>
          <a:noFill/>
        </p:spPr>
        <p:txBody>
          <a:bodyPr wrap="square">
            <a:spAutoFit/>
          </a:bodyPr>
          <a:lstStyle/>
          <a:p>
            <a:r>
              <a:rPr sz="1200" i="1">
                <a:solidFill>
                  <a:srgbClr val="8D8D8D"/>
                </a:solidFill>
                <a:latin typeface="Aptos"/>
              </a:rPr>
              <a:t>Verbose. Strongly typed. Refuses to guess.</a:t>
            </a:r>
          </a:p>
        </p:txBody>
      </p:sp>
      <p:sp>
        <p:nvSpPr>
          <p:cNvPr id="8" name="TextBox 7"/>
          <p:cNvSpPr txBox="1"/>
          <p:nvPr/>
        </p:nvSpPr>
        <p:spPr>
          <a:xfrm>
            <a:off x="6263640" y="5120640"/>
            <a:ext cx="5394960" cy="365760"/>
          </a:xfrm>
          <a:prstGeom prst="rect">
            <a:avLst/>
          </a:prstGeom>
          <a:noFill/>
        </p:spPr>
        <p:txBody>
          <a:bodyPr wrap="square">
            <a:spAutoFit/>
          </a:bodyPr>
          <a:lstStyle/>
          <a:p>
            <a:r>
              <a:rPr sz="1200" i="1">
                <a:solidFill>
                  <a:srgbClr val="8D8D8D"/>
                </a:solidFill>
                <a:latin typeface="Aptos"/>
              </a:rPr>
              <a:t>Terse. Weakly typed. Dominant in US industry.</a:t>
            </a:r>
          </a:p>
        </p:txBody>
      </p:sp>
      <p:sp>
        <p:nvSpPr>
          <p:cNvPr id="9" name="TextBox 8"/>
          <p:cNvSpPr txBox="1"/>
          <p:nvPr/>
        </p:nvSpPr>
        <p:spPr>
          <a:xfrm>
            <a:off x="548640" y="5577840"/>
            <a:ext cx="11155680" cy="1097280"/>
          </a:xfrm>
          <a:prstGeom prst="rect">
            <a:avLst/>
          </a:prstGeom>
          <a:noFill/>
        </p:spPr>
        <p:txBody>
          <a:bodyPr wrap="square">
            <a:spAutoFit/>
          </a:bodyPr>
          <a:lstStyle/>
          <a:p>
            <a:pPr>
              <a:spcAft>
                <a:spcPts val="800"/>
              </a:spcAft>
            </a:pPr>
            <a:r>
              <a:rPr sz="1600" b="0">
                <a:solidFill>
                  <a:srgbClr val="333333"/>
                </a:solidFill>
                <a:latin typeface="Aptos"/>
              </a:rPr>
              <a:t>Same synthesized result: </a:t>
            </a:r>
            <a:r>
              <a:rPr sz="1600" b="1">
                <a:solidFill>
                  <a:srgbClr val="333333"/>
                </a:solidFill>
                <a:latin typeface="Aptos"/>
              </a:rPr>
              <a:t>8 flip-flops and an incrementer on a carry chain.</a:t>
            </a:r>
          </a:p>
          <a:p>
            <a:pPr>
              <a:spcAft>
                <a:spcPts val="800"/>
              </a:spcAft>
            </a:pPr>
            <a:r>
              <a:rPr sz="1600" b="0">
                <a:solidFill>
                  <a:srgbClr val="333333"/>
                </a:solidFill>
                <a:latin typeface="Aptos"/>
              </a:rPr>
              <a:t>I chose VHDL because it will not silently truncate a vector — and when a large share of your code is drafted by an AI, a compiler that refuses to guess is a feature.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2 — DESCRIBING HARDWARE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You only ever write three kinds of thing</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3474720" cy="8229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20240"/>
            <a:ext cx="3474720" cy="777240"/>
          </a:xfrm>
          <a:prstGeom prst="rect">
            <a:avLst/>
          </a:prstGeom>
          <a:noFill/>
        </p:spPr>
        <p:txBody>
          <a:bodyPr wrap="square">
            <a:spAutoFit/>
          </a:bodyPr>
          <a:lstStyle/>
          <a:p>
            <a:r>
              <a:rPr sz="1900" b="1">
                <a:solidFill>
                  <a:srgbClr val="333333"/>
                </a:solidFill>
                <a:latin typeface="Aptos"/>
              </a:rPr>
              <a:t>1 — Combinational</a:t>
            </a:r>
          </a:p>
          <a:p>
            <a:r>
              <a:rPr sz="1300">
                <a:solidFill>
                  <a:srgbClr val="5A6068"/>
                </a:solidFill>
                <a:latin typeface="Aptos"/>
              </a:rPr>
              <a:t>wires and gates. No memory.</a:t>
            </a:r>
          </a:p>
        </p:txBody>
      </p:sp>
      <p:sp>
        <p:nvSpPr>
          <p:cNvPr id="7" name="Rectangle 6"/>
          <p:cNvSpPr/>
          <p:nvPr/>
        </p:nvSpPr>
        <p:spPr>
          <a:xfrm>
            <a:off x="548640" y="2788920"/>
            <a:ext cx="3474720" cy="26517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sum &lt;= a xor b xor cin;</a:t>
            </a:r>
          </a:p>
          <a:p>
            <a:pPr>
              <a:spcAft>
                <a:spcPts val="0"/>
              </a:spcAft>
            </a:pPr>
            <a:r>
              <a:rPr sz="1250">
                <a:solidFill>
                  <a:srgbClr val="F2F2F2"/>
                </a:solidFill>
                <a:latin typeface="Aptos Mono"/>
              </a:rPr>
              <a:t>cout &lt;= (a and b)</a:t>
            </a:r>
          </a:p>
          <a:p>
            <a:pPr>
              <a:spcAft>
                <a:spcPts val="0"/>
              </a:spcAft>
            </a:pPr>
            <a:r>
              <a:rPr sz="1250">
                <a:solidFill>
                  <a:srgbClr val="F2F2F2"/>
                </a:solidFill>
                <a:latin typeface="Aptos Mono"/>
              </a:rPr>
              <a:t>     or (cin and (a xor b));</a:t>
            </a:r>
          </a:p>
          <a:p>
            <a:pPr>
              <a:spcAft>
                <a:spcPts val="0"/>
              </a:spcAft>
            </a:pPr>
            <a:endParaRPr sz="1250">
              <a:solidFill>
                <a:srgbClr val="F2F2F2"/>
              </a:solidFill>
              <a:latin typeface="Aptos Mono"/>
            </a:endParaRPr>
          </a:p>
          <a:p>
            <a:pPr>
              <a:spcAft>
                <a:spcPts val="0"/>
              </a:spcAft>
            </a:pPr>
            <a:r>
              <a:rPr sz="1250">
                <a:solidFill>
                  <a:srgbClr val="6FC2EA"/>
                </a:solidFill>
                <a:latin typeface="Aptos Mono"/>
              </a:rPr>
              <a:t>-- exists continuously.</a:t>
            </a:r>
          </a:p>
          <a:p>
            <a:pPr>
              <a:spcAft>
                <a:spcPts val="0"/>
              </a:spcAft>
            </a:pPr>
            <a:r>
              <a:rPr sz="1250">
                <a:solidFill>
                  <a:srgbClr val="6FC2EA"/>
                </a:solidFill>
                <a:latin typeface="Aptos Mono"/>
              </a:rPr>
              <a:t>-- becomes: 2 LUT4s.</a:t>
            </a:r>
          </a:p>
        </p:txBody>
      </p:sp>
      <p:sp>
        <p:nvSpPr>
          <p:cNvPr id="8" name="Rectangle 7"/>
          <p:cNvSpPr/>
          <p:nvPr/>
        </p:nvSpPr>
        <p:spPr>
          <a:xfrm>
            <a:off x="4343399" y="1783080"/>
            <a:ext cx="3474720" cy="82296"/>
          </a:xfrm>
          <a:prstGeom prst="rect">
            <a:avLst/>
          </a:prstGeom>
          <a:solidFill>
            <a:srgbClr val="1F9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43399" y="1920240"/>
            <a:ext cx="3474720" cy="777240"/>
          </a:xfrm>
          <a:prstGeom prst="rect">
            <a:avLst/>
          </a:prstGeom>
          <a:noFill/>
        </p:spPr>
        <p:txBody>
          <a:bodyPr wrap="square">
            <a:spAutoFit/>
          </a:bodyPr>
          <a:lstStyle/>
          <a:p>
            <a:r>
              <a:rPr sz="1900" b="1">
                <a:solidFill>
                  <a:srgbClr val="333333"/>
                </a:solidFill>
                <a:latin typeface="Aptos"/>
              </a:rPr>
              <a:t>2 — Sequential</a:t>
            </a:r>
          </a:p>
          <a:p>
            <a:r>
              <a:rPr sz="1300">
                <a:solidFill>
                  <a:srgbClr val="5A6068"/>
                </a:solidFill>
                <a:latin typeface="Aptos"/>
              </a:rPr>
              <a:t>flip-flops. Remembers.</a:t>
            </a:r>
          </a:p>
        </p:txBody>
      </p:sp>
      <p:sp>
        <p:nvSpPr>
          <p:cNvPr id="10" name="Rectangle 9"/>
          <p:cNvSpPr/>
          <p:nvPr/>
        </p:nvSpPr>
        <p:spPr>
          <a:xfrm>
            <a:off x="4343399" y="2788920"/>
            <a:ext cx="3474720" cy="26517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process(clk)</a:t>
            </a:r>
          </a:p>
          <a:p>
            <a:pPr>
              <a:spcAft>
                <a:spcPts val="0"/>
              </a:spcAft>
            </a:pPr>
            <a:r>
              <a:rPr sz="1250">
                <a:solidFill>
                  <a:srgbClr val="F2F2F2"/>
                </a:solidFill>
                <a:latin typeface="Aptos Mono"/>
              </a:rPr>
              <a:t>begin</a:t>
            </a:r>
          </a:p>
          <a:p>
            <a:pPr>
              <a:spcAft>
                <a:spcPts val="0"/>
              </a:spcAft>
            </a:pPr>
            <a:r>
              <a:rPr sz="1250">
                <a:solidFill>
                  <a:srgbClr val="F2F2F2"/>
                </a:solidFill>
                <a:latin typeface="Aptos Mono"/>
              </a:rPr>
              <a:t>  if rising_edge(clk) then</a:t>
            </a:r>
          </a:p>
          <a:p>
            <a:pPr>
              <a:spcAft>
                <a:spcPts val="0"/>
              </a:spcAft>
            </a:pPr>
            <a:r>
              <a:rPr sz="1250">
                <a:solidFill>
                  <a:srgbClr val="F2F2F2"/>
                </a:solidFill>
                <a:latin typeface="Aptos Mono"/>
              </a:rPr>
              <a:t>    if push = '1' then</a:t>
            </a:r>
          </a:p>
          <a:p>
            <a:pPr>
              <a:spcAft>
                <a:spcPts val="0"/>
              </a:spcAft>
            </a:pPr>
            <a:r>
              <a:rPr sz="1250">
                <a:solidFill>
                  <a:srgbClr val="F2F2F2"/>
                </a:solidFill>
                <a:latin typeface="Aptos Mono"/>
              </a:rPr>
              <a:t>      sp &lt;= sp + 1;</a:t>
            </a:r>
          </a:p>
          <a:p>
            <a:pPr>
              <a:spcAft>
                <a:spcPts val="0"/>
              </a:spcAft>
            </a:pPr>
            <a:r>
              <a:rPr sz="1250">
                <a:solidFill>
                  <a:srgbClr val="F2F2F2"/>
                </a:solidFill>
                <a:latin typeface="Aptos Mono"/>
              </a:rPr>
              <a:t>    end if;</a:t>
            </a:r>
          </a:p>
          <a:p>
            <a:pPr>
              <a:spcAft>
                <a:spcPts val="0"/>
              </a:spcAft>
            </a:pPr>
            <a:r>
              <a:rPr sz="1250">
                <a:solidFill>
                  <a:srgbClr val="F2F2F2"/>
                </a:solidFill>
                <a:latin typeface="Aptos Mono"/>
              </a:rPr>
              <a:t>  end if;</a:t>
            </a:r>
          </a:p>
          <a:p>
            <a:pPr>
              <a:spcAft>
                <a:spcPts val="0"/>
              </a:spcAft>
            </a:pPr>
            <a:r>
              <a:rPr sz="1250">
                <a:solidFill>
                  <a:srgbClr val="F2F2F2"/>
                </a:solidFill>
                <a:latin typeface="Aptos Mono"/>
              </a:rPr>
              <a:t>end process;</a:t>
            </a:r>
          </a:p>
          <a:p>
            <a:pPr>
              <a:spcAft>
                <a:spcPts val="0"/>
              </a:spcAft>
            </a:pPr>
            <a:r>
              <a:rPr sz="1250">
                <a:solidFill>
                  <a:srgbClr val="6FC2EA"/>
                </a:solidFill>
                <a:latin typeface="Aptos Mono"/>
              </a:rPr>
              <a:t>-- becomes: 3 TRELLIS_FF.</a:t>
            </a:r>
          </a:p>
        </p:txBody>
      </p:sp>
      <p:sp>
        <p:nvSpPr>
          <p:cNvPr id="11" name="Rectangle 10"/>
          <p:cNvSpPr/>
          <p:nvPr/>
        </p:nvSpPr>
        <p:spPr>
          <a:xfrm>
            <a:off x="8138159" y="1783080"/>
            <a:ext cx="347472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59" y="1920240"/>
            <a:ext cx="3474720" cy="777240"/>
          </a:xfrm>
          <a:prstGeom prst="rect">
            <a:avLst/>
          </a:prstGeom>
          <a:noFill/>
        </p:spPr>
        <p:txBody>
          <a:bodyPr wrap="square">
            <a:spAutoFit/>
          </a:bodyPr>
          <a:lstStyle/>
          <a:p>
            <a:r>
              <a:rPr sz="1900" b="1">
                <a:solidFill>
                  <a:srgbClr val="333333"/>
                </a:solidFill>
                <a:latin typeface="Aptos"/>
              </a:rPr>
              <a:t>3 — Structural</a:t>
            </a:r>
          </a:p>
          <a:p>
            <a:r>
              <a:rPr sz="1300">
                <a:solidFill>
                  <a:srgbClr val="5A6068"/>
                </a:solidFill>
                <a:latin typeface="Aptos"/>
              </a:rPr>
              <a:t>wiring sub-blocks together.</a:t>
            </a:r>
          </a:p>
        </p:txBody>
      </p:sp>
      <p:sp>
        <p:nvSpPr>
          <p:cNvPr id="13" name="Rectangle 12"/>
          <p:cNvSpPr/>
          <p:nvPr/>
        </p:nvSpPr>
        <p:spPr>
          <a:xfrm>
            <a:off x="8138159" y="2788920"/>
            <a:ext cx="3474720" cy="26517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u_alu : entity work.alu</a:t>
            </a:r>
          </a:p>
          <a:p>
            <a:pPr>
              <a:spcAft>
                <a:spcPts val="0"/>
              </a:spcAft>
            </a:pPr>
            <a:r>
              <a:rPr sz="1250">
                <a:solidFill>
                  <a:srgbClr val="F2F2F2"/>
                </a:solidFill>
                <a:latin typeface="Aptos Mono"/>
              </a:rPr>
              <a:t>  port map (</a:t>
            </a:r>
          </a:p>
          <a:p>
            <a:pPr>
              <a:spcAft>
                <a:spcPts val="0"/>
              </a:spcAft>
            </a:pPr>
            <a:r>
              <a:rPr sz="1250">
                <a:solidFill>
                  <a:srgbClr val="F2F2F2"/>
                </a:solidFill>
                <a:latin typeface="Aptos Mono"/>
              </a:rPr>
              <a:t>    op_a  =&gt; temp_a,</a:t>
            </a:r>
          </a:p>
          <a:p>
            <a:pPr>
              <a:spcAft>
                <a:spcPts val="0"/>
              </a:spcAft>
            </a:pPr>
            <a:r>
              <a:rPr sz="1250">
                <a:solidFill>
                  <a:srgbClr val="F2F2F2"/>
                </a:solidFill>
                <a:latin typeface="Aptos Mono"/>
              </a:rPr>
              <a:t>    op_b  =&gt; temp_b,</a:t>
            </a:r>
          </a:p>
          <a:p>
            <a:pPr>
              <a:spcAft>
                <a:spcPts val="0"/>
              </a:spcAft>
            </a:pPr>
            <a:r>
              <a:rPr sz="1250">
                <a:solidFill>
                  <a:srgbClr val="F2F2F2"/>
                </a:solidFill>
                <a:latin typeface="Aptos Mono"/>
              </a:rPr>
              <a:t>    result=&gt; alu_out,</a:t>
            </a:r>
          </a:p>
          <a:p>
            <a:pPr>
              <a:spcAft>
                <a:spcPts val="0"/>
              </a:spcAft>
            </a:pPr>
            <a:r>
              <a:rPr sz="1250">
                <a:solidFill>
                  <a:srgbClr val="F2F2F2"/>
                </a:solidFill>
                <a:latin typeface="Aptos Mono"/>
              </a:rPr>
              <a:t>    carry =&gt; flag_c</a:t>
            </a:r>
          </a:p>
          <a:p>
            <a:pPr>
              <a:spcAft>
                <a:spcPts val="0"/>
              </a:spcAft>
            </a:pPr>
            <a:r>
              <a:rPr sz="1250">
                <a:solidFill>
                  <a:srgbClr val="F2F2F2"/>
                </a:solidFill>
                <a:latin typeface="Aptos Mono"/>
              </a:rPr>
              <a:t>  );</a:t>
            </a:r>
          </a:p>
          <a:p>
            <a:pPr>
              <a:spcAft>
                <a:spcPts val="0"/>
              </a:spcAft>
            </a:pPr>
            <a:endParaRPr sz="1250">
              <a:solidFill>
                <a:srgbClr val="F2F2F2"/>
              </a:solidFill>
              <a:latin typeface="Aptos Mono"/>
            </a:endParaRPr>
          </a:p>
          <a:p>
            <a:pPr>
              <a:spcAft>
                <a:spcPts val="0"/>
              </a:spcAft>
            </a:pPr>
            <a:r>
              <a:rPr sz="1250">
                <a:solidFill>
                  <a:srgbClr val="6FC2EA"/>
                </a:solidFill>
                <a:latin typeface="Aptos Mono"/>
              </a:rPr>
              <a:t>-- becomes: the netlist.</a:t>
            </a:r>
          </a:p>
        </p:txBody>
      </p:sp>
      <p:sp>
        <p:nvSpPr>
          <p:cNvPr id="14" name="TextBox 13"/>
          <p:cNvSpPr txBox="1"/>
          <p:nvPr/>
        </p:nvSpPr>
        <p:spPr>
          <a:xfrm>
            <a:off x="548640" y="5623560"/>
            <a:ext cx="11155680" cy="1005840"/>
          </a:xfrm>
          <a:prstGeom prst="rect">
            <a:avLst/>
          </a:prstGeom>
          <a:noFill/>
        </p:spPr>
        <p:txBody>
          <a:bodyPr wrap="square">
            <a:spAutoFit/>
          </a:bodyPr>
          <a:lstStyle/>
          <a:p>
            <a:pPr>
              <a:spcAft>
                <a:spcPts val="800"/>
              </a:spcAft>
            </a:pPr>
            <a:r>
              <a:rPr sz="1600" b="0">
                <a:solidFill>
                  <a:srgbClr val="333333"/>
                </a:solidFill>
                <a:latin typeface="Aptos"/>
              </a:rPr>
              <a:t>That is the whole language, for synthesis purposes. Everything else — types, generics, packages — is bookkeeping so humans can manage thousands of these.</a:t>
            </a:r>
          </a:p>
          <a:p>
            <a:pPr>
              <a:spcAft>
                <a:spcPts val="800"/>
              </a:spcAft>
            </a:pPr>
            <a:r>
              <a:rPr sz="1600" b="0">
                <a:solidFill>
                  <a:srgbClr val="333333"/>
                </a:solidFill>
                <a:latin typeface="Aptos"/>
              </a:rPr>
              <a:t>This design: </a:t>
            </a:r>
            <a:r>
              <a:rPr sz="1600" b="1">
                <a:solidFill>
                  <a:srgbClr val="333333"/>
                </a:solidFill>
                <a:latin typeface="Aptos"/>
              </a:rPr>
              <a:t>25 files</a:t>
            </a:r>
            <a:r>
              <a:rPr sz="1600" b="0">
                <a:solidFill>
                  <a:srgbClr val="333333"/>
                </a:solidFill>
                <a:latin typeface="Aptos"/>
              </a:rPr>
              <a:t>, each one mostly kind 1 and 2, wired by one file of kind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2 — DESCRIBING HARDWARE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A whole real module, start to finish</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6400800" cy="411480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F2F2F2"/>
                </a:solidFill>
                <a:latin typeface="Aptos Mono"/>
              </a:rPr>
              <a:t>entity stack_pointer is</a:t>
            </a:r>
          </a:p>
          <a:p>
            <a:pPr>
              <a:spcAft>
                <a:spcPts val="0"/>
              </a:spcAft>
            </a:pPr>
            <a:r>
              <a:rPr sz="1300">
                <a:solidFill>
                  <a:srgbClr val="F2F2F2"/>
                </a:solidFill>
                <a:latin typeface="Aptos Mono"/>
              </a:rPr>
              <a:t>  port ( clk, reset   : in  std_logic;</a:t>
            </a:r>
          </a:p>
          <a:p>
            <a:pPr>
              <a:spcAft>
                <a:spcPts val="0"/>
              </a:spcAft>
            </a:pPr>
            <a:r>
              <a:rPr sz="1300">
                <a:solidFill>
                  <a:srgbClr val="F2F2F2"/>
                </a:solidFill>
                <a:latin typeface="Aptos Mono"/>
              </a:rPr>
              <a:t>         phi1_rising  : in  std_logic;</a:t>
            </a:r>
          </a:p>
          <a:p>
            <a:pPr>
              <a:spcAft>
                <a:spcPts val="0"/>
              </a:spcAft>
            </a:pPr>
            <a:r>
              <a:rPr sz="1300">
                <a:solidFill>
                  <a:srgbClr val="F2F2F2"/>
                </a:solidFill>
                <a:latin typeface="Aptos Mono"/>
              </a:rPr>
              <a:t>         stack_push   : in  std_logic;</a:t>
            </a:r>
          </a:p>
          <a:p>
            <a:pPr>
              <a:spcAft>
                <a:spcPts val="0"/>
              </a:spcAft>
            </a:pPr>
            <a:r>
              <a:rPr sz="1300">
                <a:solidFill>
                  <a:srgbClr val="F2F2F2"/>
                </a:solidFill>
                <a:latin typeface="Aptos Mono"/>
              </a:rPr>
              <a:t>         stack_pop    : in  std_logic;</a:t>
            </a:r>
          </a:p>
          <a:p>
            <a:pPr>
              <a:spcAft>
                <a:spcPts val="0"/>
              </a:spcAft>
            </a:pPr>
            <a:r>
              <a:rPr sz="1300">
                <a:solidFill>
                  <a:srgbClr val="F2F2F2"/>
                </a:solidFill>
                <a:latin typeface="Aptos Mono"/>
              </a:rPr>
              <a:t>         sp           : out unsigned(2 downto 0) );</a:t>
            </a:r>
          </a:p>
          <a:p>
            <a:pPr>
              <a:spcAft>
                <a:spcPts val="0"/>
              </a:spcAft>
            </a:pPr>
            <a:r>
              <a:rPr sz="1300">
                <a:solidFill>
                  <a:srgbClr val="F2F2F2"/>
                </a:solidFill>
                <a:latin typeface="Aptos Mono"/>
              </a:rPr>
              <a:t>end entity;</a:t>
            </a:r>
          </a:p>
          <a:p>
            <a:pPr>
              <a:spcAft>
                <a:spcPts val="0"/>
              </a:spcAft>
            </a:pPr>
            <a:endParaRPr sz="1300">
              <a:solidFill>
                <a:srgbClr val="F2F2F2"/>
              </a:solidFill>
              <a:latin typeface="Aptos Mono"/>
            </a:endParaRPr>
          </a:p>
          <a:p>
            <a:pPr>
              <a:spcAft>
                <a:spcPts val="0"/>
              </a:spcAft>
            </a:pPr>
            <a:r>
              <a:rPr sz="1300">
                <a:solidFill>
                  <a:srgbClr val="F2F2F2"/>
                </a:solidFill>
                <a:latin typeface="Aptos Mono"/>
              </a:rPr>
              <a:t>process(clk, reset) begin</a:t>
            </a:r>
          </a:p>
          <a:p>
            <a:pPr>
              <a:spcAft>
                <a:spcPts val="0"/>
              </a:spcAft>
            </a:pPr>
            <a:r>
              <a:rPr sz="1300">
                <a:solidFill>
                  <a:srgbClr val="F2F2F2"/>
                </a:solidFill>
                <a:latin typeface="Aptos Mono"/>
              </a:rPr>
              <a:t>  if reset = '1' then</a:t>
            </a:r>
          </a:p>
          <a:p>
            <a:pPr>
              <a:spcAft>
                <a:spcPts val="0"/>
              </a:spcAft>
            </a:pPr>
            <a:r>
              <a:rPr sz="1300">
                <a:solidFill>
                  <a:srgbClr val="F2F2F2"/>
                </a:solidFill>
                <a:latin typeface="Aptos Mono"/>
              </a:rPr>
              <a:t>    sp_r &lt;= (others =&gt; '0');</a:t>
            </a:r>
          </a:p>
          <a:p>
            <a:pPr>
              <a:spcAft>
                <a:spcPts val="0"/>
              </a:spcAft>
            </a:pPr>
            <a:r>
              <a:rPr sz="1300">
                <a:solidFill>
                  <a:srgbClr val="F2F2F2"/>
                </a:solidFill>
                <a:latin typeface="Aptos Mono"/>
              </a:rPr>
              <a:t>  elsif rising_edge(clk) then</a:t>
            </a:r>
          </a:p>
          <a:p>
            <a:pPr>
              <a:spcAft>
                <a:spcPts val="0"/>
              </a:spcAft>
            </a:pPr>
            <a:r>
              <a:rPr sz="1300">
                <a:solidFill>
                  <a:srgbClr val="F2F2F2"/>
                </a:solidFill>
                <a:latin typeface="Aptos Mono"/>
              </a:rPr>
              <a:t>    if phi1_rising = '1' then</a:t>
            </a:r>
          </a:p>
          <a:p>
            <a:pPr>
              <a:spcAft>
                <a:spcPts val="0"/>
              </a:spcAft>
            </a:pPr>
            <a:r>
              <a:rPr sz="1300">
                <a:solidFill>
                  <a:srgbClr val="F2F2F2"/>
                </a:solidFill>
                <a:latin typeface="Aptos Mono"/>
              </a:rPr>
              <a:t>      if    stack_push = '1' then sp_r &lt;= sp_r + 1;</a:t>
            </a:r>
          </a:p>
          <a:p>
            <a:pPr>
              <a:spcAft>
                <a:spcPts val="0"/>
              </a:spcAft>
            </a:pPr>
            <a:r>
              <a:rPr sz="1300">
                <a:solidFill>
                  <a:srgbClr val="F2F2F2"/>
                </a:solidFill>
                <a:latin typeface="Aptos Mono"/>
              </a:rPr>
              <a:t>      elsif stack_pop  = '1' then sp_r &lt;= sp_r - 1;</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end process;</a:t>
            </a:r>
          </a:p>
        </p:txBody>
      </p:sp>
      <p:sp>
        <p:nvSpPr>
          <p:cNvPr id="6" name="TextBox 5"/>
          <p:cNvSpPr txBox="1"/>
          <p:nvPr/>
        </p:nvSpPr>
        <p:spPr>
          <a:xfrm>
            <a:off x="7269480" y="1783080"/>
            <a:ext cx="4434840" cy="4206240"/>
          </a:xfrm>
          <a:prstGeom prst="rect">
            <a:avLst/>
          </a:prstGeom>
          <a:noFill/>
        </p:spPr>
        <p:txBody>
          <a:bodyPr wrap="square">
            <a:spAutoFit/>
          </a:bodyPr>
          <a:lstStyle/>
          <a:p>
            <a:pPr>
              <a:spcAft>
                <a:spcPts val="1600"/>
              </a:spcAft>
            </a:pPr>
            <a:r>
              <a:rPr sz="1600" b="0">
                <a:solidFill>
                  <a:srgbClr val="333333"/>
                </a:solidFill>
                <a:latin typeface="Aptos"/>
              </a:rPr>
              <a:t>This is </a:t>
            </a:r>
            <a:r>
              <a:rPr sz="1600" b="1">
                <a:solidFill>
                  <a:srgbClr val="333333"/>
                </a:solidFill>
                <a:latin typeface="Aptos"/>
              </a:rPr>
              <a:t>all the logic</a:t>
            </a:r>
            <a:r>
              <a:rPr sz="1600" b="0">
                <a:solidFill>
                  <a:srgbClr val="333333"/>
                </a:solidFill>
                <a:latin typeface="Aptos"/>
              </a:rPr>
              <a:t> of the 8008 stack pointer. The full file is 69 lines — the rest is comments and boilerplate.</a:t>
            </a:r>
          </a:p>
          <a:p>
            <a:pPr>
              <a:spcAft>
                <a:spcPts val="1600"/>
              </a:spcAft>
            </a:pPr>
            <a:r>
              <a:rPr sz="1600" b="0">
                <a:solidFill>
                  <a:srgbClr val="333333"/>
                </a:solidFill>
                <a:latin typeface="Aptos"/>
              </a:rPr>
              <a:t>It does not know what </a:t>
            </a:r>
            <a:r>
              <a:rPr sz="1600" b="0">
                <a:solidFill>
                  <a:srgbClr val="1F9DD8"/>
                </a:solidFill>
                <a:latin typeface="Aptos Mono"/>
              </a:rPr>
              <a:t>CALL</a:t>
            </a:r>
            <a:r>
              <a:rPr sz="1600" b="0">
                <a:solidFill>
                  <a:srgbClr val="333333"/>
                </a:solidFill>
                <a:latin typeface="Aptos"/>
              </a:rPr>
              <a:t> is. It does not know interrupts exist. It counts, and it wraps 7→0 for free because it is 3 bits wide.</a:t>
            </a:r>
          </a:p>
          <a:p>
            <a:pPr>
              <a:spcAft>
                <a:spcPts val="1600"/>
              </a:spcAft>
            </a:pPr>
            <a:r>
              <a:rPr sz="1600" b="0">
                <a:solidFill>
                  <a:srgbClr val="333333"/>
                </a:solidFill>
                <a:latin typeface="Aptos"/>
              </a:rPr>
              <a:t>In silicon: </a:t>
            </a:r>
            <a:r>
              <a:rPr sz="1600" b="1">
                <a:solidFill>
                  <a:srgbClr val="333333"/>
                </a:solidFill>
                <a:latin typeface="Aptos"/>
              </a:rPr>
              <a:t>3 flip-flops, an incrementer, a decrementer, and a mux.</a:t>
            </a:r>
          </a:p>
          <a:p>
            <a:pPr>
              <a:spcAft>
                <a:spcPts val="1600"/>
              </a:spcAft>
            </a:pPr>
            <a:r>
              <a:rPr sz="1600" b="0">
                <a:solidFill>
                  <a:srgbClr val="333333"/>
                </a:solidFill>
                <a:latin typeface="Aptos"/>
              </a:rPr>
              <a:t>It has never had a bug.</a:t>
            </a:r>
          </a:p>
        </p:txBody>
      </p:sp>
      <p:sp>
        <p:nvSpPr>
          <p:cNvPr id="7" name="Rectangle 6"/>
          <p:cNvSpPr/>
          <p:nvPr/>
        </p:nvSpPr>
        <p:spPr>
          <a:xfrm>
            <a:off x="548640" y="5989320"/>
            <a:ext cx="11064240" cy="68580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0">
                <a:solidFill>
                  <a:srgbClr val="F2F2F2"/>
                </a:solidFill>
                <a:latin typeface="Aptos"/>
              </a:rPr>
              <a:t>Design rule for the whole project: </a:t>
            </a:r>
            <a:r>
              <a:rPr sz="1700" b="1">
                <a:solidFill>
                  <a:srgbClr val="F2F2F2"/>
                </a:solidFill>
                <a:latin typeface="Aptos"/>
              </a:rPr>
              <a:t>every module is dumb.</a:t>
            </a:r>
            <a:r>
              <a:rPr sz="1700" b="0">
                <a:solidFill>
                  <a:srgbClr val="F2F2F2"/>
                </a:solidFill>
                <a:latin typeface="Aptos"/>
              </a:rPr>
              <a:t> One job, ~50–100 lines, no knowledge of any other module.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2 — DESCRIBING HARDWARE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Things that do not exist inside an FPGA</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11064240" cy="137160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783080"/>
            <a:ext cx="82296" cy="137160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11095"/>
            <a:ext cx="2651760" cy="1097280"/>
          </a:xfrm>
          <a:prstGeom prst="rect">
            <a:avLst/>
          </a:prstGeom>
          <a:noFill/>
        </p:spPr>
        <p:txBody>
          <a:bodyPr wrap="square">
            <a:spAutoFit/>
          </a:bodyPr>
          <a:lstStyle/>
          <a:p>
            <a:r>
              <a:rPr sz="1800" b="1">
                <a:solidFill>
                  <a:srgbClr val="333333"/>
                </a:solidFill>
                <a:latin typeface="Aptos"/>
              </a:rPr>
              <a:t>Tri-state buses</a:t>
            </a:r>
          </a:p>
        </p:txBody>
      </p:sp>
      <p:sp>
        <p:nvSpPr>
          <p:cNvPr id="8" name="TextBox 7"/>
          <p:cNvSpPr txBox="1"/>
          <p:nvPr/>
        </p:nvSpPr>
        <p:spPr>
          <a:xfrm>
            <a:off x="3566160" y="1892807"/>
            <a:ext cx="3931920" cy="1188720"/>
          </a:xfrm>
          <a:prstGeom prst="rect">
            <a:avLst/>
          </a:prstGeom>
          <a:noFill/>
        </p:spPr>
        <p:txBody>
          <a:bodyPr wrap="square">
            <a:spAutoFit/>
          </a:bodyPr>
          <a:lstStyle/>
          <a:p>
            <a:r>
              <a:rPr sz="1350" b="0">
                <a:solidFill>
                  <a:srgbClr val="4A5058"/>
                </a:solidFill>
                <a:latin typeface="Aptos"/>
              </a:rPr>
              <a:t>The 8008 has one 8-bit bus doing three jobs. Inside the fabric there are </a:t>
            </a:r>
            <a:r>
              <a:rPr sz="1350" b="1">
                <a:solidFill>
                  <a:srgbClr val="4A5058"/>
                </a:solidFill>
                <a:latin typeface="Aptos"/>
              </a:rPr>
              <a:t>no internal tri-states</a:t>
            </a:r>
            <a:r>
              <a:rPr sz="1350" b="0">
                <a:solidFill>
                  <a:srgbClr val="4A5058"/>
                </a:solidFill>
                <a:latin typeface="Aptos"/>
              </a:rPr>
              <a:t> — only at the I/O pins.</a:t>
            </a:r>
          </a:p>
        </p:txBody>
      </p:sp>
      <p:sp>
        <p:nvSpPr>
          <p:cNvPr id="9" name="TextBox 8"/>
          <p:cNvSpPr txBox="1"/>
          <p:nvPr/>
        </p:nvSpPr>
        <p:spPr>
          <a:xfrm>
            <a:off x="7680960" y="1892807"/>
            <a:ext cx="3749039" cy="1188720"/>
          </a:xfrm>
          <a:prstGeom prst="rect">
            <a:avLst/>
          </a:prstGeom>
          <a:noFill/>
        </p:spPr>
        <p:txBody>
          <a:bodyPr wrap="square">
            <a:spAutoFit/>
          </a:bodyPr>
          <a:lstStyle/>
          <a:p>
            <a:r>
              <a:rPr sz="1350" b="0">
                <a:solidFill>
                  <a:srgbClr val="4A5058"/>
                </a:solidFill>
                <a:latin typeface="Aptos"/>
              </a:rPr>
              <a:t>Yosys </a:t>
            </a:r>
            <a:r>
              <a:rPr sz="1350" b="0">
                <a:solidFill>
                  <a:srgbClr val="1F9DD8"/>
                </a:solidFill>
                <a:latin typeface="Aptos Mono"/>
              </a:rPr>
              <a:t>tribuf -logic</a:t>
            </a:r>
            <a:r>
              <a:rPr sz="1350" b="0">
                <a:solidFill>
                  <a:srgbClr val="4A5058"/>
                </a:solidFill>
                <a:latin typeface="Aptos"/>
              </a:rPr>
              <a:t> rewrites every </a:t>
            </a:r>
            <a:r>
              <a:rPr sz="1350" b="0">
                <a:solidFill>
                  <a:srgbClr val="1F9DD8"/>
                </a:solidFill>
                <a:latin typeface="Aptos Mono"/>
              </a:rPr>
              <a:t>'Z'</a:t>
            </a:r>
            <a:r>
              <a:rPr sz="1350" b="0">
                <a:solidFill>
                  <a:srgbClr val="4A5058"/>
                </a:solidFill>
                <a:latin typeface="Aptos"/>
              </a:rPr>
              <a:t> into a multiplexer. My "bus" is a mux tree, and it behaves identically.</a:t>
            </a:r>
          </a:p>
        </p:txBody>
      </p:sp>
      <p:sp>
        <p:nvSpPr>
          <p:cNvPr id="10" name="Rectangle 9"/>
          <p:cNvSpPr/>
          <p:nvPr/>
        </p:nvSpPr>
        <p:spPr>
          <a:xfrm>
            <a:off x="548640" y="3300984"/>
            <a:ext cx="11064240" cy="137160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300984"/>
            <a:ext cx="82296" cy="137160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429000"/>
            <a:ext cx="2651760" cy="1097280"/>
          </a:xfrm>
          <a:prstGeom prst="rect">
            <a:avLst/>
          </a:prstGeom>
          <a:noFill/>
        </p:spPr>
        <p:txBody>
          <a:bodyPr wrap="square">
            <a:spAutoFit/>
          </a:bodyPr>
          <a:lstStyle/>
          <a:p>
            <a:r>
              <a:rPr sz="1800" b="1">
                <a:solidFill>
                  <a:srgbClr val="333333"/>
                </a:solidFill>
                <a:latin typeface="Aptos"/>
              </a:rPr>
              <a:t>Free initial values</a:t>
            </a:r>
          </a:p>
        </p:txBody>
      </p:sp>
      <p:sp>
        <p:nvSpPr>
          <p:cNvPr id="13" name="TextBox 12"/>
          <p:cNvSpPr txBox="1"/>
          <p:nvPr/>
        </p:nvSpPr>
        <p:spPr>
          <a:xfrm>
            <a:off x="3566160" y="3410712"/>
            <a:ext cx="3931920" cy="1188720"/>
          </a:xfrm>
          <a:prstGeom prst="rect">
            <a:avLst/>
          </a:prstGeom>
          <a:noFill/>
        </p:spPr>
        <p:txBody>
          <a:bodyPr wrap="square">
            <a:spAutoFit/>
          </a:bodyPr>
          <a:lstStyle/>
          <a:p>
            <a:r>
              <a:rPr sz="1350" b="0">
                <a:solidFill>
                  <a:srgbClr val="4A5058"/>
                </a:solidFill>
                <a:latin typeface="Aptos"/>
              </a:rPr>
              <a:t>A signal is not </a:t>
            </a:r>
            <a:r>
              <a:rPr sz="1350" b="0">
                <a:solidFill>
                  <a:srgbClr val="1F9DD8"/>
                </a:solidFill>
                <a:latin typeface="Aptos Mono"/>
              </a:rPr>
              <a:t>0</a:t>
            </a:r>
            <a:r>
              <a:rPr sz="1350" b="0">
                <a:solidFill>
                  <a:srgbClr val="4A5058"/>
                </a:solidFill>
                <a:latin typeface="Aptos"/>
              </a:rPr>
              <a:t> at power-up because you said so. Block RAM contents come from the bitstream; logic comes from your reset.</a:t>
            </a:r>
          </a:p>
        </p:txBody>
      </p:sp>
      <p:sp>
        <p:nvSpPr>
          <p:cNvPr id="14" name="TextBox 13"/>
          <p:cNvSpPr txBox="1"/>
          <p:nvPr/>
        </p:nvSpPr>
        <p:spPr>
          <a:xfrm>
            <a:off x="7680960" y="3410712"/>
            <a:ext cx="3749039" cy="1188720"/>
          </a:xfrm>
          <a:prstGeom prst="rect">
            <a:avLst/>
          </a:prstGeom>
          <a:noFill/>
        </p:spPr>
        <p:txBody>
          <a:bodyPr wrap="square">
            <a:spAutoFit/>
          </a:bodyPr>
          <a:lstStyle/>
          <a:p>
            <a:r>
              <a:rPr sz="1350" b="0">
                <a:solidFill>
                  <a:srgbClr val="4A5058"/>
                </a:solidFill>
                <a:latin typeface="Aptos"/>
              </a:rPr>
              <a:t>If you rely on an initial value that the fabric will not honour, simulation is right and hardware is wrong. Reset everything you care about.</a:t>
            </a:r>
          </a:p>
        </p:txBody>
      </p:sp>
      <p:sp>
        <p:nvSpPr>
          <p:cNvPr id="15" name="Rectangle 14"/>
          <p:cNvSpPr/>
          <p:nvPr/>
        </p:nvSpPr>
        <p:spPr>
          <a:xfrm>
            <a:off x="548640" y="4818888"/>
            <a:ext cx="11064240" cy="137160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818888"/>
            <a:ext cx="82296" cy="137160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946903"/>
            <a:ext cx="2651760" cy="1097280"/>
          </a:xfrm>
          <a:prstGeom prst="rect">
            <a:avLst/>
          </a:prstGeom>
          <a:noFill/>
        </p:spPr>
        <p:txBody>
          <a:bodyPr wrap="square">
            <a:spAutoFit/>
          </a:bodyPr>
          <a:lstStyle/>
          <a:p>
            <a:r>
              <a:rPr sz="1800" b="1">
                <a:solidFill>
                  <a:srgbClr val="333333"/>
                </a:solidFill>
                <a:latin typeface="Aptos"/>
              </a:rPr>
              <a:t>"Wait a moment"</a:t>
            </a:r>
          </a:p>
        </p:txBody>
      </p:sp>
      <p:sp>
        <p:nvSpPr>
          <p:cNvPr id="18" name="TextBox 17"/>
          <p:cNvSpPr txBox="1"/>
          <p:nvPr/>
        </p:nvSpPr>
        <p:spPr>
          <a:xfrm>
            <a:off x="3566160" y="4928616"/>
            <a:ext cx="3931920" cy="1188720"/>
          </a:xfrm>
          <a:prstGeom prst="rect">
            <a:avLst/>
          </a:prstGeom>
          <a:noFill/>
        </p:spPr>
        <p:txBody>
          <a:bodyPr wrap="square">
            <a:spAutoFit/>
          </a:bodyPr>
          <a:lstStyle/>
          <a:p>
            <a:r>
              <a:rPr sz="1350" b="0">
                <a:solidFill>
                  <a:srgbClr val="4A5058"/>
                </a:solidFill>
                <a:latin typeface="Aptos"/>
              </a:rPr>
              <a:t>There is no delay primitive. </a:t>
            </a:r>
            <a:r>
              <a:rPr sz="1350" b="0">
                <a:solidFill>
                  <a:srgbClr val="1F9DD8"/>
                </a:solidFill>
                <a:latin typeface="Aptos Mono"/>
              </a:rPr>
              <a:t>after 10 ns</a:t>
            </a:r>
            <a:r>
              <a:rPr sz="1350" b="0">
                <a:solidFill>
                  <a:srgbClr val="4A5058"/>
                </a:solidFill>
                <a:latin typeface="Aptos"/>
              </a:rPr>
              <a:t> is a </a:t>
            </a:r>
            <a:r>
              <a:rPr sz="1350" b="1">
                <a:solidFill>
                  <a:srgbClr val="4A5058"/>
                </a:solidFill>
                <a:latin typeface="Aptos"/>
              </a:rPr>
              <a:t>simulation-only</a:t>
            </a:r>
            <a:r>
              <a:rPr sz="1350" b="0">
                <a:solidFill>
                  <a:srgbClr val="4A5058"/>
                </a:solidFill>
                <a:latin typeface="Aptos"/>
              </a:rPr>
              <a:t> construct and synthesizes to nothing.</a:t>
            </a:r>
          </a:p>
        </p:txBody>
      </p:sp>
      <p:sp>
        <p:nvSpPr>
          <p:cNvPr id="19" name="TextBox 18"/>
          <p:cNvSpPr txBox="1"/>
          <p:nvPr/>
        </p:nvSpPr>
        <p:spPr>
          <a:xfrm>
            <a:off x="7680960" y="4928616"/>
            <a:ext cx="3749039" cy="1188720"/>
          </a:xfrm>
          <a:prstGeom prst="rect">
            <a:avLst/>
          </a:prstGeom>
          <a:noFill/>
        </p:spPr>
        <p:txBody>
          <a:bodyPr wrap="square">
            <a:spAutoFit/>
          </a:bodyPr>
          <a:lstStyle/>
          <a:p>
            <a:r>
              <a:rPr sz="1350" b="0">
                <a:solidFill>
                  <a:srgbClr val="4A5058"/>
                </a:solidFill>
                <a:latin typeface="Aptos"/>
              </a:rPr>
              <a:t>Time is counted in clock cycles. My 0.8 µs φ1 pulse is a counter comparing against 20 ticks of a 25 MHz clock.</a:t>
            </a:r>
          </a:p>
        </p:txBody>
      </p:sp>
      <p:sp>
        <p:nvSpPr>
          <p:cNvPr id="20" name="TextBox 19"/>
          <p:cNvSpPr txBox="1"/>
          <p:nvPr/>
        </p:nvSpPr>
        <p:spPr>
          <a:xfrm>
            <a:off x="3566160" y="1481328"/>
            <a:ext cx="3931920" cy="320040"/>
          </a:xfrm>
          <a:prstGeom prst="rect">
            <a:avLst/>
          </a:prstGeom>
          <a:noFill/>
        </p:spPr>
        <p:txBody>
          <a:bodyPr wrap="square">
            <a:spAutoFit/>
          </a:bodyPr>
          <a:lstStyle/>
          <a:p>
            <a:r>
              <a:rPr sz="1100" b="1">
                <a:solidFill>
                  <a:srgbClr val="8D8D8D"/>
                </a:solidFill>
                <a:latin typeface="Aptos"/>
              </a:rPr>
              <a:t>WHAT BITES</a:t>
            </a:r>
          </a:p>
        </p:txBody>
      </p:sp>
      <p:sp>
        <p:nvSpPr>
          <p:cNvPr id="21" name="TextBox 20"/>
          <p:cNvSpPr txBox="1"/>
          <p:nvPr/>
        </p:nvSpPr>
        <p:spPr>
          <a:xfrm>
            <a:off x="7680960" y="1481328"/>
            <a:ext cx="3749039" cy="320040"/>
          </a:xfrm>
          <a:prstGeom prst="rect">
            <a:avLst/>
          </a:prstGeom>
          <a:noFill/>
        </p:spPr>
        <p:txBody>
          <a:bodyPr wrap="square">
            <a:spAutoFit/>
          </a:bodyPr>
          <a:lstStyle/>
          <a:p>
            <a:r>
              <a:rPr sz="1100" b="1">
                <a:solidFill>
                  <a:srgbClr val="8D8D8D"/>
                </a:solidFill>
                <a:latin typeface="Aptos"/>
              </a:rPr>
              <a:t>WHAT YOU 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All the way down: one line of VHDL → silicon</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783080"/>
            <a:ext cx="2286000" cy="7772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2F2F2"/>
                </a:solidFill>
                <a:latin typeface="Aptos"/>
              </a:rPr>
              <a:t>You write</a:t>
            </a:r>
          </a:p>
        </p:txBody>
      </p:sp>
      <p:sp>
        <p:nvSpPr>
          <p:cNvPr id="6" name="Rectangle 5"/>
          <p:cNvSpPr/>
          <p:nvPr/>
        </p:nvSpPr>
        <p:spPr>
          <a:xfrm>
            <a:off x="3063240" y="1783080"/>
            <a:ext cx="5669280" cy="77724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sp_r &lt;= sp_r + 1;</a:t>
            </a:r>
          </a:p>
        </p:txBody>
      </p:sp>
      <p:sp>
        <p:nvSpPr>
          <p:cNvPr id="7" name="TextBox 6"/>
          <p:cNvSpPr txBox="1"/>
          <p:nvPr/>
        </p:nvSpPr>
        <p:spPr>
          <a:xfrm>
            <a:off x="8915400" y="1911095"/>
            <a:ext cx="2834640" cy="640080"/>
          </a:xfrm>
          <a:prstGeom prst="rect">
            <a:avLst/>
          </a:prstGeom>
          <a:noFill/>
        </p:spPr>
        <p:txBody>
          <a:bodyPr wrap="square">
            <a:spAutoFit/>
          </a:bodyPr>
          <a:lstStyle/>
          <a:p>
            <a:r>
              <a:rPr sz="1300" b="0">
                <a:solidFill>
                  <a:srgbClr val="8D8D8D"/>
                </a:solidFill>
                <a:latin typeface="Aptos"/>
              </a:rPr>
              <a:t>VHDL</a:t>
            </a:r>
          </a:p>
        </p:txBody>
      </p:sp>
      <p:cxnSp>
        <p:nvCxnSpPr>
          <p:cNvPr id="8" name="Connector 7"/>
          <p:cNvCxnSpPr/>
          <p:nvPr/>
        </p:nvCxnSpPr>
        <p:spPr>
          <a:xfrm>
            <a:off x="1691640" y="2578608"/>
            <a:ext cx="0" cy="146304"/>
          </a:xfrm>
          <a:prstGeom prst="bentConnector3">
            <a:avLst/>
          </a:prstGeom>
          <a:ln w="3175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743200"/>
            <a:ext cx="2286000" cy="7772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2F2F2"/>
                </a:solidFill>
                <a:latin typeface="Aptos"/>
              </a:rPr>
              <a:t>GHDL emits</a:t>
            </a:r>
          </a:p>
        </p:txBody>
      </p:sp>
      <p:sp>
        <p:nvSpPr>
          <p:cNvPr id="10" name="Rectangle 9"/>
          <p:cNvSpPr/>
          <p:nvPr/>
        </p:nvSpPr>
        <p:spPr>
          <a:xfrm>
            <a:off x="3063240" y="2743200"/>
            <a:ext cx="5669280" cy="77724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assign n42 = sp_r + 3'd1;</a:t>
            </a:r>
          </a:p>
        </p:txBody>
      </p:sp>
      <p:sp>
        <p:nvSpPr>
          <p:cNvPr id="11" name="TextBox 10"/>
          <p:cNvSpPr txBox="1"/>
          <p:nvPr/>
        </p:nvSpPr>
        <p:spPr>
          <a:xfrm>
            <a:off x="8915400" y="2871216"/>
            <a:ext cx="2834640" cy="640080"/>
          </a:xfrm>
          <a:prstGeom prst="rect">
            <a:avLst/>
          </a:prstGeom>
          <a:noFill/>
        </p:spPr>
        <p:txBody>
          <a:bodyPr wrap="square">
            <a:spAutoFit/>
          </a:bodyPr>
          <a:lstStyle/>
          <a:p>
            <a:r>
              <a:rPr sz="1300" b="0">
                <a:solidFill>
                  <a:srgbClr val="8D8D8D"/>
                </a:solidFill>
                <a:latin typeface="Aptos"/>
              </a:rPr>
              <a:t>Verilog</a:t>
            </a:r>
          </a:p>
        </p:txBody>
      </p:sp>
      <p:cxnSp>
        <p:nvCxnSpPr>
          <p:cNvPr id="12" name="Connector 11"/>
          <p:cNvCxnSpPr/>
          <p:nvPr/>
        </p:nvCxnSpPr>
        <p:spPr>
          <a:xfrm>
            <a:off x="1691640" y="3538728"/>
            <a:ext cx="0" cy="146304"/>
          </a:xfrm>
          <a:prstGeom prst="bentConnector3">
            <a:avLst/>
          </a:prstGeom>
          <a:ln w="3175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703320"/>
            <a:ext cx="2286000" cy="7772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2F2F2"/>
                </a:solidFill>
                <a:latin typeface="Aptos"/>
              </a:rPr>
              <a:t>Yosys maps</a:t>
            </a:r>
          </a:p>
        </p:txBody>
      </p:sp>
      <p:sp>
        <p:nvSpPr>
          <p:cNvPr id="14" name="Rectangle 13"/>
          <p:cNvSpPr/>
          <p:nvPr/>
        </p:nvSpPr>
        <p:spPr>
          <a:xfrm>
            <a:off x="3063240" y="3703320"/>
            <a:ext cx="5669280" cy="77724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CCU2C  #(.INIT0(...))</a:t>
            </a:r>
          </a:p>
          <a:p>
            <a:pPr>
              <a:spcAft>
                <a:spcPts val="0"/>
              </a:spcAft>
            </a:pPr>
            <a:r>
              <a:rPr sz="1250">
                <a:solidFill>
                  <a:srgbClr val="F2F2F2"/>
                </a:solidFill>
                <a:latin typeface="Aptos Mono"/>
              </a:rPr>
              <a:t>  ccu_0 (.A0(sp_r[0]), ...);</a:t>
            </a:r>
          </a:p>
        </p:txBody>
      </p:sp>
      <p:sp>
        <p:nvSpPr>
          <p:cNvPr id="15" name="TextBox 14"/>
          <p:cNvSpPr txBox="1"/>
          <p:nvPr/>
        </p:nvSpPr>
        <p:spPr>
          <a:xfrm>
            <a:off x="8915400" y="3831335"/>
            <a:ext cx="2834640" cy="640080"/>
          </a:xfrm>
          <a:prstGeom prst="rect">
            <a:avLst/>
          </a:prstGeom>
          <a:noFill/>
        </p:spPr>
        <p:txBody>
          <a:bodyPr wrap="square">
            <a:spAutoFit/>
          </a:bodyPr>
          <a:lstStyle/>
          <a:p>
            <a:r>
              <a:rPr sz="1300" b="0">
                <a:solidFill>
                  <a:srgbClr val="8D8D8D"/>
                </a:solidFill>
                <a:latin typeface="Aptos"/>
              </a:rPr>
              <a:t>ECP5 cells</a:t>
            </a:r>
          </a:p>
        </p:txBody>
      </p:sp>
      <p:cxnSp>
        <p:nvCxnSpPr>
          <p:cNvPr id="16" name="Connector 15"/>
          <p:cNvCxnSpPr/>
          <p:nvPr/>
        </p:nvCxnSpPr>
        <p:spPr>
          <a:xfrm>
            <a:off x="1691640" y="4498848"/>
            <a:ext cx="0" cy="146304"/>
          </a:xfrm>
          <a:prstGeom prst="bentConnector3">
            <a:avLst/>
          </a:prstGeom>
          <a:ln w="3175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4663440"/>
            <a:ext cx="2286000" cy="77724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2F2F2"/>
                </a:solidFill>
                <a:latin typeface="Aptos"/>
              </a:rPr>
              <a:t>nextpnr places</a:t>
            </a:r>
          </a:p>
        </p:txBody>
      </p:sp>
      <p:sp>
        <p:nvSpPr>
          <p:cNvPr id="18" name="Rectangle 17"/>
          <p:cNvSpPr/>
          <p:nvPr/>
        </p:nvSpPr>
        <p:spPr>
          <a:xfrm>
            <a:off x="3063240" y="4663440"/>
            <a:ext cx="5669280" cy="77724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X23/Y7/SLICEA  →  X23/Y7/SLICEB</a:t>
            </a:r>
          </a:p>
        </p:txBody>
      </p:sp>
      <p:sp>
        <p:nvSpPr>
          <p:cNvPr id="19" name="TextBox 18"/>
          <p:cNvSpPr txBox="1"/>
          <p:nvPr/>
        </p:nvSpPr>
        <p:spPr>
          <a:xfrm>
            <a:off x="8915400" y="4791455"/>
            <a:ext cx="2834640" cy="640080"/>
          </a:xfrm>
          <a:prstGeom prst="rect">
            <a:avLst/>
          </a:prstGeom>
          <a:noFill/>
        </p:spPr>
        <p:txBody>
          <a:bodyPr wrap="square">
            <a:spAutoFit/>
          </a:bodyPr>
          <a:lstStyle/>
          <a:p>
            <a:r>
              <a:rPr sz="1300" b="0">
                <a:solidFill>
                  <a:srgbClr val="8D8D8D"/>
                </a:solidFill>
                <a:latin typeface="Aptos"/>
              </a:rPr>
              <a:t>coordinates</a:t>
            </a:r>
          </a:p>
        </p:txBody>
      </p:sp>
      <p:sp>
        <p:nvSpPr>
          <p:cNvPr id="20" name="Rectangle 19"/>
          <p:cNvSpPr/>
          <p:nvPr/>
        </p:nvSpPr>
        <p:spPr>
          <a:xfrm>
            <a:off x="548640" y="5669279"/>
            <a:ext cx="11064240" cy="868680"/>
          </a:xfrm>
          <a:prstGeom prst="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333333"/>
                </a:solidFill>
                <a:latin typeface="Aptos"/>
              </a:rPr>
              <a:t>Every intermediate file is on my disk, in plain text, because the whole toolchain is open source.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Source to silicon, entirely open source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ttice_logo_ondark.png"/>
          <p:cNvPicPr>
            <a:picLocks noChangeAspect="1"/>
          </p:cNvPicPr>
          <p:nvPr/>
        </p:nvPicPr>
        <p:blipFill>
          <a:blip r:embed="rId3"/>
          <a:stretch>
            <a:fillRect/>
          </a:stretch>
        </p:blipFill>
        <p:spPr>
          <a:xfrm>
            <a:off x="9982462" y="320040"/>
            <a:ext cx="1706313" cy="310896"/>
          </a:xfrm>
          <a:prstGeom prst="rect">
            <a:avLst/>
          </a:prstGeom>
          <a:effectLst/>
        </p:spPr>
      </p:pic>
      <p:sp>
        <p:nvSpPr>
          <p:cNvPr id="6" name="Rounded Rectangle 5"/>
          <p:cNvSpPr/>
          <p:nvPr/>
        </p:nvSpPr>
        <p:spPr>
          <a:xfrm>
            <a:off x="548640"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VHDL</a:t>
            </a:r>
          </a:p>
        </p:txBody>
      </p:sp>
      <p:cxnSp>
        <p:nvCxnSpPr>
          <p:cNvPr id="7" name="Connector 6"/>
          <p:cNvCxnSpPr/>
          <p:nvPr/>
        </p:nvCxnSpPr>
        <p:spPr>
          <a:xfrm>
            <a:off x="2084832" y="2400300"/>
            <a:ext cx="256032"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395728"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GHDL</a:t>
            </a:r>
          </a:p>
        </p:txBody>
      </p:sp>
      <p:cxnSp>
        <p:nvCxnSpPr>
          <p:cNvPr id="9" name="Connector 8"/>
          <p:cNvCxnSpPr/>
          <p:nvPr/>
        </p:nvCxnSpPr>
        <p:spPr>
          <a:xfrm>
            <a:off x="3931920" y="2400300"/>
            <a:ext cx="256032"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42816"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Yosys</a:t>
            </a:r>
          </a:p>
        </p:txBody>
      </p:sp>
      <p:cxnSp>
        <p:nvCxnSpPr>
          <p:cNvPr id="11" name="Connector 10"/>
          <p:cNvCxnSpPr/>
          <p:nvPr/>
        </p:nvCxnSpPr>
        <p:spPr>
          <a:xfrm>
            <a:off x="5779008" y="2400300"/>
            <a:ext cx="256032"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89904"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nextpnr</a:t>
            </a:r>
          </a:p>
        </p:txBody>
      </p:sp>
      <p:cxnSp>
        <p:nvCxnSpPr>
          <p:cNvPr id="13" name="Connector 12"/>
          <p:cNvCxnSpPr/>
          <p:nvPr/>
        </p:nvCxnSpPr>
        <p:spPr>
          <a:xfrm>
            <a:off x="7626096" y="2400300"/>
            <a:ext cx="256032"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36992"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ecppack</a:t>
            </a:r>
          </a:p>
        </p:txBody>
      </p:sp>
      <p:cxnSp>
        <p:nvCxnSpPr>
          <p:cNvPr id="15" name="Connector 14"/>
          <p:cNvCxnSpPr/>
          <p:nvPr/>
        </p:nvCxnSpPr>
        <p:spPr>
          <a:xfrm>
            <a:off x="9473184" y="2400300"/>
            <a:ext cx="256032" cy="0"/>
          </a:xfrm>
          <a:prstGeom prst="bentConnector3">
            <a:avLst/>
          </a:prstGeom>
          <a:ln w="25400">
            <a:solidFill>
              <a:srgbClr val="FFC220"/>
            </a:solidFill>
            <a:tailEnd type="arrow"/>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784080" y="1965960"/>
            <a:ext cx="1481328" cy="86868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board</a:t>
            </a:r>
          </a:p>
        </p:txBody>
      </p:sp>
      <p:sp>
        <p:nvSpPr>
          <p:cNvPr id="17" name="TextBox 16"/>
          <p:cNvSpPr txBox="1"/>
          <p:nvPr/>
        </p:nvSpPr>
        <p:spPr>
          <a:xfrm>
            <a:off x="420623" y="2907792"/>
            <a:ext cx="1737360" cy="731520"/>
          </a:xfrm>
          <a:prstGeom prst="rect">
            <a:avLst/>
          </a:prstGeom>
          <a:noFill/>
        </p:spPr>
        <p:txBody>
          <a:bodyPr wrap="square">
            <a:spAutoFit/>
          </a:bodyPr>
          <a:lstStyle/>
          <a:p>
            <a:pPr algn="ctr"/>
            <a:r>
              <a:rPr sz="1150">
                <a:solidFill>
                  <a:srgbClr val="B6BCC4"/>
                </a:solidFill>
                <a:latin typeface="Aptos"/>
              </a:rPr>
              <a:t>25 files</a:t>
            </a:r>
          </a:p>
        </p:txBody>
      </p:sp>
      <p:sp>
        <p:nvSpPr>
          <p:cNvPr id="18" name="TextBox 17"/>
          <p:cNvSpPr txBox="1"/>
          <p:nvPr/>
        </p:nvSpPr>
        <p:spPr>
          <a:xfrm>
            <a:off x="2267712" y="2907792"/>
            <a:ext cx="1737360" cy="731520"/>
          </a:xfrm>
          <a:prstGeom prst="rect">
            <a:avLst/>
          </a:prstGeom>
          <a:noFill/>
        </p:spPr>
        <p:txBody>
          <a:bodyPr wrap="square">
            <a:spAutoFit/>
          </a:bodyPr>
          <a:lstStyle/>
          <a:p>
            <a:pPr algn="ctr"/>
            <a:r>
              <a:rPr sz="1150">
                <a:solidFill>
                  <a:srgbClr val="B6BCC4"/>
                </a:solidFill>
                <a:latin typeface="Aptos"/>
              </a:rPr>
              <a:t>analyze +</a:t>
            </a:r>
          </a:p>
          <a:p>
            <a:pPr algn="ctr"/>
            <a:r>
              <a:rPr sz="1150">
                <a:solidFill>
                  <a:srgbClr val="B6BCC4"/>
                </a:solidFill>
                <a:latin typeface="Aptos"/>
              </a:rPr>
              <a:t>emit Verilog</a:t>
            </a:r>
          </a:p>
        </p:txBody>
      </p:sp>
      <p:sp>
        <p:nvSpPr>
          <p:cNvPr id="19" name="TextBox 18"/>
          <p:cNvSpPr txBox="1"/>
          <p:nvPr/>
        </p:nvSpPr>
        <p:spPr>
          <a:xfrm>
            <a:off x="4114800" y="2907792"/>
            <a:ext cx="1737360" cy="731520"/>
          </a:xfrm>
          <a:prstGeom prst="rect">
            <a:avLst/>
          </a:prstGeom>
          <a:noFill/>
        </p:spPr>
        <p:txBody>
          <a:bodyPr wrap="square">
            <a:spAutoFit/>
          </a:bodyPr>
          <a:lstStyle/>
          <a:p>
            <a:pPr algn="ctr"/>
            <a:r>
              <a:rPr sz="1150">
                <a:solidFill>
                  <a:srgbClr val="B6BCC4"/>
                </a:solidFill>
                <a:latin typeface="Aptos"/>
              </a:rPr>
              <a:t>synthesize to</a:t>
            </a:r>
          </a:p>
          <a:p>
            <a:pPr algn="ctr"/>
            <a:r>
              <a:rPr sz="1150">
                <a:solidFill>
                  <a:srgbClr val="B6BCC4"/>
                </a:solidFill>
                <a:latin typeface="Aptos"/>
              </a:rPr>
              <a:t>ECP5 cells</a:t>
            </a:r>
          </a:p>
        </p:txBody>
      </p:sp>
      <p:sp>
        <p:nvSpPr>
          <p:cNvPr id="20" name="TextBox 19"/>
          <p:cNvSpPr txBox="1"/>
          <p:nvPr/>
        </p:nvSpPr>
        <p:spPr>
          <a:xfrm>
            <a:off x="5961888" y="2907792"/>
            <a:ext cx="1737360" cy="731520"/>
          </a:xfrm>
          <a:prstGeom prst="rect">
            <a:avLst/>
          </a:prstGeom>
          <a:noFill/>
        </p:spPr>
        <p:txBody>
          <a:bodyPr wrap="square">
            <a:spAutoFit/>
          </a:bodyPr>
          <a:lstStyle/>
          <a:p>
            <a:pPr algn="ctr"/>
            <a:r>
              <a:rPr sz="1150">
                <a:solidFill>
                  <a:srgbClr val="B6BCC4"/>
                </a:solidFill>
                <a:latin typeface="Aptos"/>
              </a:rPr>
              <a:t>place &amp; route,</a:t>
            </a:r>
          </a:p>
          <a:p>
            <a:pPr algn="ctr"/>
            <a:r>
              <a:rPr sz="1150">
                <a:solidFill>
                  <a:srgbClr val="B6BCC4"/>
                </a:solidFill>
                <a:latin typeface="Aptos"/>
              </a:rPr>
              <a:t>timing</a:t>
            </a:r>
          </a:p>
        </p:txBody>
      </p:sp>
      <p:sp>
        <p:nvSpPr>
          <p:cNvPr id="21" name="TextBox 20"/>
          <p:cNvSpPr txBox="1"/>
          <p:nvPr/>
        </p:nvSpPr>
        <p:spPr>
          <a:xfrm>
            <a:off x="7808975" y="2907792"/>
            <a:ext cx="1737360" cy="731520"/>
          </a:xfrm>
          <a:prstGeom prst="rect">
            <a:avLst/>
          </a:prstGeom>
          <a:noFill/>
        </p:spPr>
        <p:txBody>
          <a:bodyPr wrap="square">
            <a:spAutoFit/>
          </a:bodyPr>
          <a:lstStyle/>
          <a:p>
            <a:pPr algn="ctr"/>
            <a:r>
              <a:rPr sz="1150">
                <a:solidFill>
                  <a:srgbClr val="B6BCC4"/>
                </a:solidFill>
                <a:latin typeface="Aptos"/>
              </a:rPr>
              <a:t>pack .bit</a:t>
            </a:r>
          </a:p>
        </p:txBody>
      </p:sp>
      <p:sp>
        <p:nvSpPr>
          <p:cNvPr id="22" name="TextBox 21"/>
          <p:cNvSpPr txBox="1"/>
          <p:nvPr/>
        </p:nvSpPr>
        <p:spPr>
          <a:xfrm>
            <a:off x="9656063" y="2907792"/>
            <a:ext cx="1737360" cy="731520"/>
          </a:xfrm>
          <a:prstGeom prst="rect">
            <a:avLst/>
          </a:prstGeom>
          <a:noFill/>
        </p:spPr>
        <p:txBody>
          <a:bodyPr wrap="square">
            <a:spAutoFit/>
          </a:bodyPr>
          <a:lstStyle/>
          <a:p>
            <a:pPr algn="ctr"/>
            <a:r>
              <a:rPr sz="1150">
                <a:solidFill>
                  <a:srgbClr val="B6BCC4"/>
                </a:solidFill>
                <a:latin typeface="Aptos"/>
              </a:rPr>
              <a:t>openFPGA</a:t>
            </a:r>
          </a:p>
          <a:p>
            <a:pPr algn="ctr"/>
            <a:r>
              <a:rPr sz="1150">
                <a:solidFill>
                  <a:srgbClr val="B6BCC4"/>
                </a:solidFill>
                <a:latin typeface="Aptos"/>
              </a:rPr>
              <a:t>Loader</a:t>
            </a:r>
          </a:p>
        </p:txBody>
      </p:sp>
      <p:sp>
        <p:nvSpPr>
          <p:cNvPr id="23" name="Rectangle 22"/>
          <p:cNvSpPr/>
          <p:nvPr/>
        </p:nvSpPr>
        <p:spPr>
          <a:xfrm>
            <a:off x="548640" y="3794760"/>
            <a:ext cx="11064240" cy="1965960"/>
          </a:xfrm>
          <a:prstGeom prst="rect">
            <a:avLst/>
          </a:prstGeom>
          <a:solidFill>
            <a:srgbClr val="26292D"/>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250">
                <a:solidFill>
                  <a:srgbClr val="F2F2F2"/>
                </a:solidFill>
                <a:latin typeface="Aptos Mono"/>
              </a:rPr>
              <a:t>$ ghdl --synth --std=08 --out=verilog b8008_basic_top  &gt; build/top.v</a:t>
            </a:r>
          </a:p>
          <a:p>
            <a:pPr>
              <a:spcAft>
                <a:spcPts val="0"/>
              </a:spcAft>
            </a:pPr>
            <a:r>
              <a:rPr sz="1250">
                <a:solidFill>
                  <a:srgbClr val="F2F2F2"/>
                </a:solidFill>
                <a:latin typeface="Aptos Mono"/>
              </a:rPr>
              <a:t>$ yosys -p "read_verilog src/synth/ghdl_gates.v build/top.v;  \</a:t>
            </a:r>
          </a:p>
          <a:p>
            <a:pPr>
              <a:spcAft>
                <a:spcPts val="0"/>
              </a:spcAft>
            </a:pPr>
            <a:r>
              <a:rPr sz="1250">
                <a:solidFill>
                  <a:srgbClr val="F2F2F2"/>
                </a:solidFill>
                <a:latin typeface="Aptos Mono"/>
              </a:rPr>
              <a:t>            tribuf -logic; proc; opt -nodffe;                 \</a:t>
            </a:r>
          </a:p>
          <a:p>
            <a:pPr>
              <a:spcAft>
                <a:spcPts val="0"/>
              </a:spcAft>
            </a:pPr>
            <a:r>
              <a:rPr sz="1250">
                <a:solidFill>
                  <a:srgbClr val="F2F2F2"/>
                </a:solidFill>
                <a:latin typeface="Aptos Mono"/>
              </a:rPr>
              <a:t>            synth_ecp5 -top b8008_basic_top -json build/top.json"</a:t>
            </a:r>
          </a:p>
          <a:p>
            <a:pPr>
              <a:spcAft>
                <a:spcPts val="0"/>
              </a:spcAft>
            </a:pPr>
            <a:r>
              <a:rPr sz="1250">
                <a:solidFill>
                  <a:srgbClr val="F2F2F2"/>
                </a:solidFill>
                <a:latin typeface="Aptos Mono"/>
              </a:rPr>
              <a:t>$ nextpnr-ecp5 --um5g-45k --package CABGA381 --speed 8 \</a:t>
            </a:r>
          </a:p>
          <a:p>
            <a:pPr>
              <a:spcAft>
                <a:spcPts val="0"/>
              </a:spcAft>
            </a:pPr>
            <a:r>
              <a:rPr sz="1250">
                <a:solidFill>
                  <a:srgbClr val="F2F2F2"/>
                </a:solidFill>
                <a:latin typeface="Aptos Mono"/>
              </a:rPr>
              <a:t>            --json build/top.json --lpf constraints/b8008_basic.lpf \</a:t>
            </a:r>
          </a:p>
          <a:p>
            <a:pPr>
              <a:spcAft>
                <a:spcPts val="0"/>
              </a:spcAft>
            </a:pPr>
            <a:r>
              <a:rPr sz="1250">
                <a:solidFill>
                  <a:srgbClr val="F2F2F2"/>
                </a:solidFill>
                <a:latin typeface="Aptos Mono"/>
              </a:rPr>
              <a:t>            --textcfg build/top.config</a:t>
            </a:r>
          </a:p>
          <a:p>
            <a:pPr>
              <a:spcAft>
                <a:spcPts val="0"/>
              </a:spcAft>
            </a:pPr>
            <a:r>
              <a:rPr sz="1250">
                <a:solidFill>
                  <a:srgbClr val="F2F2F2"/>
                </a:solidFill>
                <a:latin typeface="Aptos Mono"/>
              </a:rPr>
              <a:t>$ ecppack --input build/top.config --bit build/top.bit</a:t>
            </a:r>
          </a:p>
        </p:txBody>
      </p:sp>
      <p:sp>
        <p:nvSpPr>
          <p:cNvPr id="24" name="TextBox 23"/>
          <p:cNvSpPr txBox="1"/>
          <p:nvPr/>
        </p:nvSpPr>
        <p:spPr>
          <a:xfrm>
            <a:off x="548640" y="5943600"/>
            <a:ext cx="11064240" cy="731520"/>
          </a:xfrm>
          <a:prstGeom prst="rect">
            <a:avLst/>
          </a:prstGeom>
          <a:noFill/>
        </p:spPr>
        <p:txBody>
          <a:bodyPr wrap="square">
            <a:spAutoFit/>
          </a:bodyPr>
          <a:lstStyle/>
          <a:p>
            <a:pPr>
              <a:spcAft>
                <a:spcPts val="800"/>
              </a:spcAft>
            </a:pPr>
            <a:r>
              <a:rPr sz="1600" b="0">
                <a:solidFill>
                  <a:srgbClr val="F2F2F2"/>
                </a:solidFill>
                <a:latin typeface="Aptos"/>
              </a:rPr>
              <a:t>Four tools, one Makefile, </a:t>
            </a:r>
            <a:r>
              <a:rPr sz="1600" b="1">
                <a:solidFill>
                  <a:srgbClr val="F2F2F2"/>
                </a:solidFill>
                <a:latin typeface="Aptos"/>
              </a:rPr>
              <a:t>no vendor license</a:t>
            </a:r>
            <a:r>
              <a:rPr sz="1600" b="0">
                <a:solidFill>
                  <a:srgbClr val="F2F2F2"/>
                </a:solidFill>
                <a:latin typeface="Aptos"/>
              </a:rPr>
              <a:t>. Full rebuild: about 90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The two hard steps: place, then route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5394960" cy="3291840"/>
          </a:xfrm>
          <a:prstGeom prst="rect">
            <a:avLst/>
          </a:prstGeom>
          <a:solidFill>
            <a:srgbClr val="FFFFFF"/>
          </a:solidFill>
          <a:ln w="15875">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783080"/>
            <a:ext cx="539496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38528"/>
            <a:ext cx="4937760" cy="457200"/>
          </a:xfrm>
          <a:prstGeom prst="rect">
            <a:avLst/>
          </a:prstGeom>
          <a:noFill/>
        </p:spPr>
        <p:txBody>
          <a:bodyPr wrap="square">
            <a:spAutoFit/>
          </a:bodyPr>
          <a:lstStyle/>
          <a:p>
            <a:r>
              <a:rPr sz="2000" b="1">
                <a:solidFill>
                  <a:srgbClr val="333333"/>
                </a:solidFill>
                <a:latin typeface="Aptos"/>
              </a:rPr>
              <a:t>PLACE</a:t>
            </a:r>
          </a:p>
        </p:txBody>
      </p:sp>
      <p:sp>
        <p:nvSpPr>
          <p:cNvPr id="8" name="TextBox 7"/>
          <p:cNvSpPr txBox="1"/>
          <p:nvPr/>
        </p:nvSpPr>
        <p:spPr>
          <a:xfrm>
            <a:off x="777240" y="2468880"/>
            <a:ext cx="4937760" cy="2468880"/>
          </a:xfrm>
          <a:prstGeom prst="rect">
            <a:avLst/>
          </a:prstGeom>
          <a:noFill/>
        </p:spPr>
        <p:txBody>
          <a:bodyPr wrap="square">
            <a:spAutoFit/>
          </a:bodyPr>
          <a:lstStyle/>
          <a:p>
            <a:pPr>
              <a:spcAft>
                <a:spcPts val="1200"/>
              </a:spcAft>
            </a:pPr>
            <a:r>
              <a:rPr sz="1500" b="0">
                <a:solidFill>
                  <a:srgbClr val="333333"/>
                </a:solidFill>
                <a:latin typeface="Aptos"/>
              </a:rPr>
              <a:t>Assign each of ~2,400 cells to a physical site on the die.</a:t>
            </a:r>
          </a:p>
          <a:p>
            <a:pPr>
              <a:spcAft>
                <a:spcPts val="1200"/>
              </a:spcAft>
            </a:pPr>
            <a:r>
              <a:rPr sz="1500" b="0">
                <a:solidFill>
                  <a:srgbClr val="333333"/>
                </a:solidFill>
                <a:latin typeface="Aptos"/>
              </a:rPr>
              <a:t>Objective: things that talk to each other should sit near each other.</a:t>
            </a:r>
          </a:p>
          <a:p>
            <a:pPr>
              <a:spcAft>
                <a:spcPts val="1200"/>
              </a:spcAft>
            </a:pPr>
            <a:r>
              <a:rPr sz="1500" b="0">
                <a:solidFill>
                  <a:srgbClr val="333333"/>
                </a:solidFill>
                <a:latin typeface="Aptos"/>
              </a:rPr>
              <a:t>It is simulated annealing. It is </a:t>
            </a:r>
            <a:r>
              <a:rPr sz="1500" b="1">
                <a:solidFill>
                  <a:srgbClr val="333333"/>
                </a:solidFill>
                <a:latin typeface="Aptos"/>
              </a:rPr>
              <a:t>not deterministic across versions</a:t>
            </a:r>
            <a:r>
              <a:rPr sz="1500" b="0">
                <a:solidFill>
                  <a:srgbClr val="333333"/>
                </a:solidFill>
                <a:latin typeface="Aptos"/>
              </a:rPr>
              <a:t>, and two builds can differ in fmax by 20%.</a:t>
            </a:r>
          </a:p>
        </p:txBody>
      </p:sp>
      <p:sp>
        <p:nvSpPr>
          <p:cNvPr id="9" name="Rectangle 8"/>
          <p:cNvSpPr/>
          <p:nvPr/>
        </p:nvSpPr>
        <p:spPr>
          <a:xfrm>
            <a:off x="6263640" y="1783080"/>
            <a:ext cx="5394960" cy="3291840"/>
          </a:xfrm>
          <a:prstGeom prst="rect">
            <a:avLst/>
          </a:prstGeom>
          <a:solidFill>
            <a:srgbClr val="FFFFFF"/>
          </a:solidFill>
          <a:ln w="15875">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783080"/>
            <a:ext cx="539496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938528"/>
            <a:ext cx="4937760" cy="457200"/>
          </a:xfrm>
          <a:prstGeom prst="rect">
            <a:avLst/>
          </a:prstGeom>
          <a:noFill/>
        </p:spPr>
        <p:txBody>
          <a:bodyPr wrap="square">
            <a:spAutoFit/>
          </a:bodyPr>
          <a:lstStyle/>
          <a:p>
            <a:r>
              <a:rPr sz="2000" b="1">
                <a:solidFill>
                  <a:srgbClr val="333333"/>
                </a:solidFill>
                <a:latin typeface="Aptos"/>
              </a:rPr>
              <a:t>ROUTE</a:t>
            </a:r>
          </a:p>
        </p:txBody>
      </p:sp>
      <p:sp>
        <p:nvSpPr>
          <p:cNvPr id="12" name="TextBox 11"/>
          <p:cNvSpPr txBox="1"/>
          <p:nvPr/>
        </p:nvSpPr>
        <p:spPr>
          <a:xfrm>
            <a:off x="6492240" y="2468880"/>
            <a:ext cx="4937760" cy="2468880"/>
          </a:xfrm>
          <a:prstGeom prst="rect">
            <a:avLst/>
          </a:prstGeom>
          <a:noFill/>
        </p:spPr>
        <p:txBody>
          <a:bodyPr wrap="square">
            <a:spAutoFit/>
          </a:bodyPr>
          <a:lstStyle/>
          <a:p>
            <a:pPr>
              <a:spcAft>
                <a:spcPts val="1200"/>
              </a:spcAft>
            </a:pPr>
            <a:r>
              <a:rPr sz="1500" b="0">
                <a:solidFill>
                  <a:srgbClr val="333333"/>
                </a:solidFill>
                <a:latin typeface="Aptos"/>
              </a:rPr>
              <a:t>Find a path through the switch matrix for every net.</a:t>
            </a:r>
          </a:p>
          <a:p>
            <a:pPr>
              <a:spcAft>
                <a:spcPts val="1200"/>
              </a:spcAft>
            </a:pPr>
            <a:r>
              <a:rPr sz="1500" b="0">
                <a:solidFill>
                  <a:srgbClr val="333333"/>
                </a:solidFill>
                <a:latin typeface="Aptos"/>
              </a:rPr>
              <a:t>Wires are a </a:t>
            </a:r>
            <a:r>
              <a:rPr sz="1500" b="1">
                <a:solidFill>
                  <a:srgbClr val="333333"/>
                </a:solidFill>
                <a:latin typeface="Aptos"/>
              </a:rPr>
              <a:t>finite resource</a:t>
            </a:r>
            <a:r>
              <a:rPr sz="1500" b="0">
                <a:solidFill>
                  <a:srgbClr val="333333"/>
                </a:solidFill>
                <a:latin typeface="Aptos"/>
              </a:rPr>
              <a:t>. A design can fit logically and still fail to route.</a:t>
            </a:r>
          </a:p>
          <a:p>
            <a:pPr>
              <a:spcAft>
                <a:spcPts val="1200"/>
              </a:spcAft>
            </a:pPr>
            <a:r>
              <a:rPr sz="1500" b="0">
                <a:solidFill>
                  <a:srgbClr val="333333"/>
                </a:solidFill>
                <a:latin typeface="Aptos"/>
              </a:rPr>
              <a:t>Every hop costs picoseconds — which is why placement quality decides your clock speed, not gate count.</a:t>
            </a:r>
          </a:p>
        </p:txBody>
      </p:sp>
      <p:sp>
        <p:nvSpPr>
          <p:cNvPr id="13" name="Rectangle 12"/>
          <p:cNvSpPr/>
          <p:nvPr/>
        </p:nvSpPr>
        <p:spPr>
          <a:xfrm>
            <a:off x="548640" y="5257800"/>
            <a:ext cx="11064240" cy="132588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800" b="0">
                <a:solidFill>
                  <a:srgbClr val="F2F2F2"/>
                </a:solidFill>
                <a:latin typeface="Aptos"/>
              </a:rPr>
              <a:t>Software analogy: synthesis is the compiler, place &amp; route is the linker — except this linker also decides how fast your program runs, and takes minutes to do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Timing closure: the only question that matters</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11155680" cy="731520"/>
          </a:xfrm>
          <a:prstGeom prst="rect">
            <a:avLst/>
          </a:prstGeom>
          <a:noFill/>
        </p:spPr>
        <p:txBody>
          <a:bodyPr wrap="square">
            <a:spAutoFit/>
          </a:bodyPr>
          <a:lstStyle/>
          <a:p>
            <a:pPr>
              <a:spcAft>
                <a:spcPts val="800"/>
              </a:spcAft>
            </a:pPr>
            <a:r>
              <a:rPr sz="1700" b="0">
                <a:solidFill>
                  <a:srgbClr val="333333"/>
                </a:solidFill>
                <a:latin typeface="Aptos"/>
              </a:rPr>
              <a:t>Between two clock edges, every signal must finish traveling. </a:t>
            </a:r>
            <a:r>
              <a:rPr sz="1700" b="1">
                <a:solidFill>
                  <a:srgbClr val="333333"/>
                </a:solidFill>
                <a:latin typeface="Aptos"/>
              </a:rPr>
              <a:t>Longest path wins.</a:t>
            </a:r>
            <a:r>
              <a:rPr sz="1700" b="0">
                <a:solidFill>
                  <a:srgbClr val="333333"/>
                </a:solidFill>
                <a:latin typeface="Aptos"/>
              </a:rPr>
              <a:t> That path is your maximum clock frequency.</a:t>
            </a:r>
          </a:p>
        </p:txBody>
      </p:sp>
      <p:sp>
        <p:nvSpPr>
          <p:cNvPr id="6" name="Rectangle 5"/>
          <p:cNvSpPr/>
          <p:nvPr/>
        </p:nvSpPr>
        <p:spPr>
          <a:xfrm>
            <a:off x="548640" y="2606040"/>
            <a:ext cx="6949440" cy="246888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F2F2F2"/>
                </a:solidFill>
                <a:latin typeface="Aptos Mono"/>
              </a:rPr>
              <a:t>        type  curr total</a:t>
            </a:r>
          </a:p>
          <a:p>
            <a:pPr>
              <a:spcAft>
                <a:spcPts val="0"/>
              </a:spcAft>
            </a:pPr>
            <a:r>
              <a:rPr sz="1300">
                <a:solidFill>
                  <a:srgbClr val="F2F2F2"/>
                </a:solidFill>
                <a:latin typeface="Aptos Mono"/>
              </a:rPr>
              <a:t>    clk-to-q  1.36  1.36  ROM block RAM .DOA0</a:t>
            </a:r>
          </a:p>
          <a:p>
            <a:pPr>
              <a:spcAft>
                <a:spcPts val="0"/>
              </a:spcAft>
            </a:pPr>
            <a:r>
              <a:rPr sz="1300">
                <a:solidFill>
                  <a:srgbClr val="F2F2F2"/>
                </a:solidFill>
                <a:latin typeface="Aptos Mono"/>
              </a:rPr>
              <a:t>     routing  1.18  2.54  (42,10) -&gt; (31,6)</a:t>
            </a:r>
          </a:p>
          <a:p>
            <a:pPr>
              <a:spcAft>
                <a:spcPts val="0"/>
              </a:spcAft>
            </a:pPr>
            <a:r>
              <a:rPr sz="1300">
                <a:solidFill>
                  <a:srgbClr val="F2F2F2"/>
                </a:solidFill>
                <a:latin typeface="Aptos Mono"/>
              </a:rPr>
              <a:t>       logic  0.24  2.78  cpu_s0 decode</a:t>
            </a:r>
          </a:p>
          <a:p>
            <a:pPr>
              <a:spcAft>
                <a:spcPts val="0"/>
              </a:spcAft>
            </a:pPr>
            <a:r>
              <a:rPr sz="1300">
                <a:solidFill>
                  <a:srgbClr val="F2F2F2"/>
                </a:solidFill>
                <a:latin typeface="Aptos Mono"/>
              </a:rPr>
              <a:t>     routing  0.86  3.64  (31,6)  -&gt; (28,3)</a:t>
            </a:r>
          </a:p>
          <a:p>
            <a:pPr>
              <a:spcAft>
                <a:spcPts val="0"/>
              </a:spcAft>
            </a:pPr>
            <a:r>
              <a:rPr sz="1300">
                <a:solidFill>
                  <a:srgbClr val="F2F2F2"/>
                </a:solidFill>
                <a:latin typeface="Aptos Mono"/>
              </a:rPr>
              <a:t>           .. 14 more hops ..</a:t>
            </a:r>
          </a:p>
          <a:p>
            <a:pPr>
              <a:spcAft>
                <a:spcPts val="0"/>
              </a:spcAft>
            </a:pPr>
            <a:r>
              <a:rPr sz="1300">
                <a:solidFill>
                  <a:srgbClr val="F2F2F2"/>
                </a:solidFill>
                <a:latin typeface="Aptos Mono"/>
              </a:rPr>
              <a:t>     routing  1.13  8.83  cpu_d[0] -&gt; pin</a:t>
            </a:r>
          </a:p>
          <a:p>
            <a:pPr>
              <a:spcAft>
                <a:spcPts val="0"/>
              </a:spcAft>
            </a:pPr>
            <a:endParaRPr sz="1300">
              <a:solidFill>
                <a:srgbClr val="F2F2F2"/>
              </a:solidFill>
              <a:latin typeface="Aptos Mono"/>
            </a:endParaRPr>
          </a:p>
          <a:p>
            <a:pPr>
              <a:spcAft>
                <a:spcPts val="0"/>
              </a:spcAft>
            </a:pPr>
            <a:r>
              <a:rPr sz="1300">
                <a:solidFill>
                  <a:srgbClr val="F2F2F2"/>
                </a:solidFill>
                <a:latin typeface="Aptos Mono"/>
              </a:rPr>
              <a:t>Info: 3.09 ns logic, 5.74 ns routing</a:t>
            </a:r>
          </a:p>
          <a:p>
            <a:pPr>
              <a:spcAft>
                <a:spcPts val="0"/>
              </a:spcAft>
            </a:pPr>
            <a:r>
              <a:rPr sz="1300">
                <a:solidFill>
                  <a:srgbClr val="F2F2F2"/>
                </a:solidFill>
                <a:latin typeface="Aptos Mono"/>
              </a:rPr>
              <a:t>Info: Max frequency: 115.66 MHz (PASS at 25.00 MHz)</a:t>
            </a:r>
          </a:p>
        </p:txBody>
      </p:sp>
      <p:sp>
        <p:nvSpPr>
          <p:cNvPr id="7" name="TextBox 6"/>
          <p:cNvSpPr txBox="1"/>
          <p:nvPr/>
        </p:nvSpPr>
        <p:spPr>
          <a:xfrm>
            <a:off x="548640" y="5166360"/>
            <a:ext cx="6949440" cy="365760"/>
          </a:xfrm>
          <a:prstGeom prst="rect">
            <a:avLst/>
          </a:prstGeom>
          <a:noFill/>
        </p:spPr>
        <p:txBody>
          <a:bodyPr wrap="square">
            <a:spAutoFit/>
          </a:bodyPr>
          <a:lstStyle/>
          <a:p>
            <a:r>
              <a:rPr sz="1200" i="1">
                <a:solidFill>
                  <a:srgbClr val="8D8D8D"/>
                </a:solidFill>
                <a:latin typeface="Aptos"/>
              </a:rPr>
              <a:t>Real output, abridged — projects/b8008_basic/reports/pnr.txt</a:t>
            </a:r>
          </a:p>
        </p:txBody>
      </p:sp>
      <p:sp>
        <p:nvSpPr>
          <p:cNvPr id="8" name="TextBox 7"/>
          <p:cNvSpPr txBox="1"/>
          <p:nvPr/>
        </p:nvSpPr>
        <p:spPr>
          <a:xfrm>
            <a:off x="7772400" y="2606040"/>
            <a:ext cx="3931920" cy="3108960"/>
          </a:xfrm>
          <a:prstGeom prst="rect">
            <a:avLst/>
          </a:prstGeom>
          <a:noFill/>
        </p:spPr>
        <p:txBody>
          <a:bodyPr wrap="square">
            <a:spAutoFit/>
          </a:bodyPr>
          <a:lstStyle/>
          <a:p>
            <a:pPr>
              <a:spcAft>
                <a:spcPts val="1300"/>
              </a:spcAft>
            </a:pPr>
            <a:r>
              <a:rPr sz="1500" b="0">
                <a:solidFill>
                  <a:srgbClr val="333333"/>
                </a:solidFill>
                <a:latin typeface="Aptos"/>
              </a:rPr>
              <a:t>nextpnr does the split for you: </a:t>
            </a:r>
            <a:r>
              <a:rPr sz="1500" b="1">
                <a:solidFill>
                  <a:srgbClr val="333333"/>
                </a:solidFill>
                <a:latin typeface="Aptos"/>
              </a:rPr>
              <a:t>3.09 ns of logic, 5.74 ns of wire.</a:t>
            </a:r>
          </a:p>
          <a:p>
            <a:pPr>
              <a:spcAft>
                <a:spcPts val="1300"/>
              </a:spcAft>
            </a:pPr>
            <a:r>
              <a:rPr sz="1500" b="0">
                <a:solidFill>
                  <a:srgbClr val="333333"/>
                </a:solidFill>
                <a:latin typeface="Aptos"/>
              </a:rPr>
              <a:t>Routing is nearly </a:t>
            </a:r>
            <a:r>
              <a:rPr sz="1500" b="1">
                <a:solidFill>
                  <a:srgbClr val="333333"/>
                </a:solidFill>
                <a:latin typeface="Aptos"/>
              </a:rPr>
              <a:t>two-thirds</a:t>
            </a:r>
            <a:r>
              <a:rPr sz="1500" b="0">
                <a:solidFill>
                  <a:srgbClr val="333333"/>
                </a:solidFill>
                <a:latin typeface="Aptos"/>
              </a:rPr>
              <a:t> of the delay. That is the norm, not an anomaly.</a:t>
            </a:r>
          </a:p>
          <a:p>
            <a:pPr>
              <a:spcAft>
                <a:spcPts val="1300"/>
              </a:spcAft>
            </a:pPr>
            <a:r>
              <a:rPr sz="1500" b="0">
                <a:solidFill>
                  <a:srgbClr val="333333"/>
                </a:solidFill>
                <a:latin typeface="Aptos"/>
              </a:rPr>
              <a:t>We need 25 MHz and close at 115.66 — </a:t>
            </a:r>
            <a:r>
              <a:rPr sz="1500" b="1">
                <a:solidFill>
                  <a:srgbClr val="333333"/>
                </a:solidFill>
                <a:latin typeface="Aptos"/>
              </a:rPr>
              <a:t>4.6× margin</a:t>
            </a:r>
            <a:r>
              <a:rPr sz="1500" b="0">
                <a:solidFill>
                  <a:srgbClr val="333333"/>
                </a:solidFill>
                <a:latin typeface="Aptos"/>
              </a:rPr>
              <a:t>, so I never had to fight for it.</a:t>
            </a:r>
          </a:p>
          <a:p>
            <a:pPr>
              <a:spcAft>
                <a:spcPts val="1300"/>
              </a:spcAft>
            </a:pPr>
            <a:r>
              <a:rPr sz="1500" b="0">
                <a:solidFill>
                  <a:srgbClr val="333333"/>
                </a:solidFill>
                <a:latin typeface="Aptos"/>
              </a:rPr>
              <a:t>If it had failed: pipeline the path, re-floorplan, or slow the clock.</a:t>
            </a:r>
          </a:p>
        </p:txBody>
      </p:sp>
      <p:sp>
        <p:nvSpPr>
          <p:cNvPr id="9" name="Rectangle 8"/>
          <p:cNvSpPr/>
          <p:nvPr/>
        </p:nvSpPr>
        <p:spPr>
          <a:xfrm>
            <a:off x="548640" y="5806440"/>
            <a:ext cx="11064240" cy="777240"/>
          </a:xfrm>
          <a:prstGeom prst="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333333"/>
                </a:solidFill>
                <a:latin typeface="Aptos"/>
              </a:rPr>
              <a:t>The 8008 itself runs at </a:t>
            </a:r>
            <a:r>
              <a:rPr sz="1600" b="1">
                <a:solidFill>
                  <a:srgbClr val="333333"/>
                </a:solidFill>
                <a:latin typeface="Aptos"/>
              </a:rPr>
              <a:t>500 kHz</a:t>
            </a:r>
            <a:r>
              <a:rPr sz="1600" b="0">
                <a:solidFill>
                  <a:srgbClr val="333333"/>
                </a:solidFill>
                <a:latin typeface="Aptos"/>
              </a:rPr>
              <a:t>. I had 230× the speed I needed — and I still ran the fabric at 25 MHz just to divide down cleanly.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Inference: say the magic words, get the hard block</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5943600" cy="24231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F2F2F2"/>
                </a:solidFill>
                <a:latin typeface="Aptos Mono"/>
              </a:rPr>
              <a:t>process(CLK)</a:t>
            </a:r>
          </a:p>
          <a:p>
            <a:pPr>
              <a:spcAft>
                <a:spcPts val="0"/>
              </a:spcAft>
            </a:pPr>
            <a:r>
              <a:rPr sz="1300">
                <a:solidFill>
                  <a:srgbClr val="F2F2F2"/>
                </a:solidFill>
                <a:latin typeface="Aptos Mono"/>
              </a:rPr>
              <a:t>begin</a:t>
            </a:r>
          </a:p>
          <a:p>
            <a:pPr>
              <a:spcAft>
                <a:spcPts val="0"/>
              </a:spcAft>
            </a:pPr>
            <a:r>
              <a:rPr sz="1300">
                <a:solidFill>
                  <a:srgbClr val="F2F2F2"/>
                </a:solidFill>
                <a:latin typeface="Aptos Mono"/>
              </a:rPr>
              <a:t>  if rising_edge(CLK) then</a:t>
            </a:r>
          </a:p>
          <a:p>
            <a:pPr>
              <a:spcAft>
                <a:spcPts val="0"/>
              </a:spcAft>
            </a:pPr>
            <a:r>
              <a:rPr sz="1300">
                <a:solidFill>
                  <a:srgbClr val="F2F2F2"/>
                </a:solidFill>
                <a:latin typeface="Aptos Mono"/>
              </a:rPr>
              <a:t>    if CS_N='0' and RW_N='0' then</a:t>
            </a:r>
          </a:p>
          <a:p>
            <a:pPr>
              <a:spcAft>
                <a:spcPts val="0"/>
              </a:spcAft>
            </a:pPr>
            <a:r>
              <a:rPr sz="1300">
                <a:solidFill>
                  <a:srgbClr val="F2F2F2"/>
                </a:solidFill>
                <a:latin typeface="Aptos Mono"/>
              </a:rPr>
              <a:t>      ram(idx) &lt;= DATA_IN;</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    DATA_OUT &lt;= ram(idx);   </a:t>
            </a:r>
            <a:r>
              <a:rPr sz="1300">
                <a:solidFill>
                  <a:srgbClr val="6FC2EA"/>
                </a:solidFill>
                <a:latin typeface="Aptos Mono"/>
              </a:rPr>
              <a:t>-- registered read</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end process;</a:t>
            </a:r>
          </a:p>
        </p:txBody>
      </p:sp>
      <p:sp>
        <p:nvSpPr>
          <p:cNvPr id="6" name="TextBox 5"/>
          <p:cNvSpPr txBox="1"/>
          <p:nvPr/>
        </p:nvSpPr>
        <p:spPr>
          <a:xfrm>
            <a:off x="548640" y="4297680"/>
            <a:ext cx="5943600" cy="365760"/>
          </a:xfrm>
          <a:prstGeom prst="rect">
            <a:avLst/>
          </a:prstGeom>
          <a:noFill/>
        </p:spPr>
        <p:txBody>
          <a:bodyPr wrap="square">
            <a:spAutoFit/>
          </a:bodyPr>
          <a:lstStyle/>
          <a:p>
            <a:r>
              <a:rPr sz="1200" i="1">
                <a:solidFill>
                  <a:srgbClr val="8D8D8D"/>
                </a:solidFill>
                <a:latin typeface="Aptos"/>
              </a:rPr>
              <a:t>src/b8008/ram_sync.vhdl — the 8008’s memory</a:t>
            </a:r>
          </a:p>
        </p:txBody>
      </p:sp>
      <p:sp>
        <p:nvSpPr>
          <p:cNvPr id="7" name="TextBox 6"/>
          <p:cNvSpPr txBox="1"/>
          <p:nvPr/>
        </p:nvSpPr>
        <p:spPr>
          <a:xfrm>
            <a:off x="6766560" y="1783080"/>
            <a:ext cx="4937760" cy="2560320"/>
          </a:xfrm>
          <a:prstGeom prst="rect">
            <a:avLst/>
          </a:prstGeom>
          <a:noFill/>
        </p:spPr>
        <p:txBody>
          <a:bodyPr wrap="square">
            <a:spAutoFit/>
          </a:bodyPr>
          <a:lstStyle/>
          <a:p>
            <a:pPr>
              <a:spcAft>
                <a:spcPts val="1400"/>
              </a:spcAft>
            </a:pPr>
            <a:r>
              <a:rPr sz="1600" b="0">
                <a:solidFill>
                  <a:srgbClr val="333333"/>
                </a:solidFill>
                <a:latin typeface="Aptos"/>
              </a:rPr>
              <a:t>Because </a:t>
            </a:r>
            <a:r>
              <a:rPr sz="1600" b="1">
                <a:solidFill>
                  <a:srgbClr val="333333"/>
                </a:solidFill>
                <a:latin typeface="Aptos"/>
              </a:rPr>
              <a:t>both</a:t>
            </a:r>
            <a:r>
              <a:rPr sz="1600" b="0">
                <a:solidFill>
                  <a:srgbClr val="333333"/>
                </a:solidFill>
                <a:latin typeface="Aptos"/>
              </a:rPr>
              <a:t> the read and the write are clocked, Yosys recognizes the shape and emits </a:t>
            </a:r>
            <a:r>
              <a:rPr sz="1600" b="0">
                <a:solidFill>
                  <a:srgbClr val="1F9DD8"/>
                </a:solidFill>
                <a:latin typeface="Aptos Mono"/>
              </a:rPr>
              <a:t>DP16KD</a:t>
            </a:r>
            <a:r>
              <a:rPr sz="1600" b="0">
                <a:solidFill>
                  <a:srgbClr val="333333"/>
                </a:solidFill>
                <a:latin typeface="Aptos"/>
              </a:rPr>
              <a:t> — a real block RAM.</a:t>
            </a:r>
          </a:p>
          <a:p>
            <a:pPr>
              <a:spcAft>
                <a:spcPts val="1400"/>
              </a:spcAft>
            </a:pPr>
            <a:r>
              <a:rPr sz="1600" b="0">
                <a:solidFill>
                  <a:srgbClr val="333333"/>
                </a:solidFill>
                <a:latin typeface="Aptos"/>
              </a:rPr>
              <a:t>All 16 KB of this machine’s ROM and RAM: </a:t>
            </a:r>
            <a:r>
              <a:rPr sz="1600" b="1">
                <a:solidFill>
                  <a:srgbClr val="333333"/>
                </a:solidFill>
                <a:latin typeface="Aptos"/>
              </a:rPr>
              <a:t>8 block RAMs. Zero LUTs.</a:t>
            </a:r>
          </a:p>
        </p:txBody>
      </p:sp>
      <p:sp>
        <p:nvSpPr>
          <p:cNvPr id="8" name="Rectangle 7"/>
          <p:cNvSpPr/>
          <p:nvPr/>
        </p:nvSpPr>
        <p:spPr>
          <a:xfrm>
            <a:off x="548640" y="4709160"/>
            <a:ext cx="5943600" cy="1783080"/>
          </a:xfrm>
          <a:prstGeom prst="rect">
            <a:avLst/>
          </a:prstGeom>
          <a:solidFill>
            <a:srgbClr val="FFFFFF"/>
          </a:solidFill>
          <a:ln w="19050">
            <a:solidFill>
              <a:srgbClr val="B33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828032"/>
            <a:ext cx="5486400" cy="1554480"/>
          </a:xfrm>
          <a:prstGeom prst="rect">
            <a:avLst/>
          </a:prstGeom>
          <a:noFill/>
        </p:spPr>
        <p:txBody>
          <a:bodyPr wrap="square">
            <a:spAutoFit/>
          </a:bodyPr>
          <a:lstStyle/>
          <a:p>
            <a:r>
              <a:rPr sz="1600" b="1">
                <a:solidFill>
                  <a:srgbClr val="B3332E"/>
                </a:solidFill>
                <a:latin typeface="Aptos"/>
              </a:rPr>
              <a:t>Move the read outside the clocked process…</a:t>
            </a:r>
          </a:p>
          <a:p>
            <a:pPr>
              <a:spcBef>
                <a:spcPts val="800"/>
              </a:spcBef>
            </a:pPr>
            <a:r>
              <a:rPr sz="1400" b="0">
                <a:solidFill>
                  <a:srgbClr val="333333"/>
                </a:solidFill>
                <a:latin typeface="Aptos"/>
              </a:rPr>
              <a:t>…and you have asked for an </a:t>
            </a:r>
            <a:r>
              <a:rPr sz="1400" b="1">
                <a:solidFill>
                  <a:srgbClr val="333333"/>
                </a:solidFill>
                <a:latin typeface="Aptos"/>
              </a:rPr>
              <a:t>asynchronous-read memory</a:t>
            </a:r>
            <a:r>
              <a:rPr sz="1400" b="0">
                <a:solidFill>
                  <a:srgbClr val="333333"/>
                </a:solidFill>
                <a:latin typeface="Aptos"/>
              </a:rPr>
              <a:t>, which a block RAM physically cannot do. Yosys obliges — by building it out of </a:t>
            </a:r>
            <a:r>
              <a:rPr sz="1400" b="1">
                <a:solidFill>
                  <a:srgbClr val="333333"/>
                </a:solidFill>
                <a:latin typeface="Aptos"/>
              </a:rPr>
              <a:t>131,072 flip-flops</a:t>
            </a:r>
            <a:r>
              <a:rPr sz="1400" b="0">
                <a:solidFill>
                  <a:srgbClr val="333333"/>
                </a:solidFill>
                <a:latin typeface="Aptos"/>
              </a:rPr>
              <a:t>. The chip has 43,848. It does not fit, and the error arrives three tools downstream, phrased as a placement failure.</a:t>
            </a:r>
          </a:p>
        </p:txBody>
      </p:sp>
      <p:sp>
        <p:nvSpPr>
          <p:cNvPr id="10" name="Rectangle 9"/>
          <p:cNvSpPr/>
          <p:nvPr/>
        </p:nvSpPr>
        <p:spPr>
          <a:xfrm>
            <a:off x="6766560" y="4709160"/>
            <a:ext cx="4937760" cy="1783080"/>
          </a:xfrm>
          <a:prstGeom prst="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4846320"/>
            <a:ext cx="4572000" cy="1554480"/>
          </a:xfrm>
          <a:prstGeom prst="rect">
            <a:avLst/>
          </a:prstGeom>
          <a:noFill/>
        </p:spPr>
        <p:txBody>
          <a:bodyPr wrap="square">
            <a:spAutoFit/>
          </a:bodyPr>
          <a:lstStyle/>
          <a:p>
            <a:r>
              <a:rPr sz="1600" b="1">
                <a:solidFill>
                  <a:srgbClr val="333333"/>
                </a:solidFill>
                <a:latin typeface="Aptos"/>
              </a:rPr>
              <a:t>The lesson</a:t>
            </a:r>
          </a:p>
          <a:p>
            <a:pPr>
              <a:spcBef>
                <a:spcPts val="800"/>
              </a:spcBef>
            </a:pPr>
            <a:r>
              <a:rPr sz="1400" b="0">
                <a:solidFill>
                  <a:srgbClr val="333333"/>
                </a:solidFill>
                <a:latin typeface="Aptos"/>
              </a:rPr>
              <a:t>In HDL, </a:t>
            </a:r>
            <a:r>
              <a:rPr sz="1400" b="1">
                <a:solidFill>
                  <a:srgbClr val="333333"/>
                </a:solidFill>
                <a:latin typeface="Aptos"/>
              </a:rPr>
              <a:t>the shape of your code is the request.</a:t>
            </a:r>
            <a:r>
              <a:rPr sz="1400" b="0">
                <a:solidFill>
                  <a:srgbClr val="333333"/>
                </a:solidFill>
                <a:latin typeface="Aptos"/>
              </a:rPr>
              <a:t> Same logic, same result in simulation — one version fits in 7% of the block RAM, the other does not fit at all.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3 — THE TOOLCHAIN</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What a 1972 computer costs in 2013 silicon</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783080"/>
          <a:ext cx="6766560" cy="3017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02920">
                <a:tc>
                  <a:txBody>
                    <a:bodyPr/>
                    <a:lstStyle/>
                    <a:p>
                      <a:r>
                        <a:rPr sz="1500" b="1">
                          <a:solidFill>
                            <a:srgbClr val="FFFFFF"/>
                          </a:solidFill>
                          <a:latin typeface="Aptos"/>
                        </a:rPr>
                        <a:t>Resource</a:t>
                      </a:r>
                    </a:p>
                  </a:txBody>
                  <a:tcPr marL="109728" marR="109728" marT="36576" marB="36576" anchor="ctr">
                    <a:solidFill>
                      <a:srgbClr val="3B3F44"/>
                    </a:solidFill>
                  </a:tcPr>
                </a:tc>
                <a:tc>
                  <a:txBody>
                    <a:bodyPr/>
                    <a:lstStyle/>
                    <a:p>
                      <a:r>
                        <a:rPr sz="1500" b="1">
                          <a:solidFill>
                            <a:srgbClr val="FFFFFF"/>
                          </a:solidFill>
                          <a:latin typeface="Aptos"/>
                        </a:rPr>
                        <a:t>Used</a:t>
                      </a:r>
                    </a:p>
                  </a:txBody>
                  <a:tcPr marL="109728" marR="109728" marT="36576" marB="36576" anchor="ctr">
                    <a:solidFill>
                      <a:srgbClr val="3B3F44"/>
                    </a:solidFill>
                  </a:tcPr>
                </a:tc>
                <a:tc>
                  <a:txBody>
                    <a:bodyPr/>
                    <a:lstStyle/>
                    <a:p>
                      <a:r>
                        <a:rPr sz="1500" b="1">
                          <a:solidFill>
                            <a:srgbClr val="FFFFFF"/>
                          </a:solidFill>
                          <a:latin typeface="Aptos"/>
                        </a:rPr>
                        <a:t>Available</a:t>
                      </a:r>
                    </a:p>
                  </a:txBody>
                  <a:tcPr marL="109728" marR="109728" marT="36576" marB="36576" anchor="ctr">
                    <a:solidFill>
                      <a:srgbClr val="3B3F44"/>
                    </a:solidFill>
                  </a:tcPr>
                </a:tc>
                <a:tc>
                  <a:txBody>
                    <a:bodyPr/>
                    <a:lstStyle/>
                    <a:p>
                      <a:r>
                        <a:rPr sz="1500" b="1">
                          <a:solidFill>
                            <a:srgbClr val="FFFFFF"/>
                          </a:solidFill>
                          <a:latin typeface="Aptos"/>
                        </a:rPr>
                        <a:t>%</a:t>
                      </a:r>
                    </a:p>
                  </a:txBody>
                  <a:tcPr marL="109728" marR="109728" marT="36576" marB="36576" anchor="ctr">
                    <a:solidFill>
                      <a:srgbClr val="3B3F44"/>
                    </a:solidFill>
                  </a:tcPr>
                </a:tc>
                <a:extLst>
                  <a:ext uri="{0D108BD9-81ED-4DB2-BD59-A6C34878D82A}">
                    <a16:rowId xmlns:a16="http://schemas.microsoft.com/office/drawing/2014/main" val="10000"/>
                  </a:ext>
                </a:extLst>
              </a:tr>
              <a:tr h="502920">
                <a:tc>
                  <a:txBody>
                    <a:bodyPr/>
                    <a:lstStyle/>
                    <a:p>
                      <a:r>
                        <a:rPr sz="1500" b="0">
                          <a:solidFill>
                            <a:srgbClr val="333333"/>
                          </a:solidFill>
                          <a:latin typeface="Aptos"/>
                        </a:rPr>
                        <a:t>TRELLIS_COMB (LUTs)</a:t>
                      </a:r>
                    </a:p>
                  </a:txBody>
                  <a:tcPr marL="109728" marR="109728" marT="36576" marB="36576" anchor="ctr">
                    <a:solidFill>
                      <a:srgbClr val="FFFFFF"/>
                    </a:solidFill>
                  </a:tcPr>
                </a:tc>
                <a:tc>
                  <a:txBody>
                    <a:bodyPr/>
                    <a:lstStyle/>
                    <a:p>
                      <a:r>
                        <a:rPr sz="1500" b="0">
                          <a:solidFill>
                            <a:srgbClr val="333333"/>
                          </a:solidFill>
                          <a:latin typeface="Aptos"/>
                        </a:rPr>
                        <a:t>1,770</a:t>
                      </a:r>
                    </a:p>
                  </a:txBody>
                  <a:tcPr marL="109728" marR="109728" marT="36576" marB="36576" anchor="ctr">
                    <a:solidFill>
                      <a:srgbClr val="FFFFFF"/>
                    </a:solidFill>
                  </a:tcPr>
                </a:tc>
                <a:tc>
                  <a:txBody>
                    <a:bodyPr/>
                    <a:lstStyle/>
                    <a:p>
                      <a:r>
                        <a:rPr sz="1500" b="0">
                          <a:solidFill>
                            <a:srgbClr val="333333"/>
                          </a:solidFill>
                          <a:latin typeface="Aptos"/>
                        </a:rPr>
                        <a:t>43,848</a:t>
                      </a:r>
                    </a:p>
                  </a:txBody>
                  <a:tcPr marL="109728" marR="109728" marT="36576" marB="36576" anchor="ctr">
                    <a:solidFill>
                      <a:srgbClr val="FFFFFF"/>
                    </a:solidFill>
                  </a:tcPr>
                </a:tc>
                <a:tc>
                  <a:txBody>
                    <a:bodyPr/>
                    <a:lstStyle/>
                    <a:p>
                      <a:r>
                        <a:rPr sz="1500" b="1">
                          <a:solidFill>
                            <a:srgbClr val="333333"/>
                          </a:solidFill>
                          <a:latin typeface="Aptos"/>
                        </a:rPr>
                        <a:t>4%</a:t>
                      </a:r>
                    </a:p>
                  </a:txBody>
                  <a:tcPr marL="109728" marR="109728" marT="36576" marB="36576" anchor="ctr">
                    <a:solidFill>
                      <a:srgbClr val="FFFFFF"/>
                    </a:solidFill>
                  </a:tcPr>
                </a:tc>
                <a:extLst>
                  <a:ext uri="{0D108BD9-81ED-4DB2-BD59-A6C34878D82A}">
                    <a16:rowId xmlns:a16="http://schemas.microsoft.com/office/drawing/2014/main" val="10001"/>
                  </a:ext>
                </a:extLst>
              </a:tr>
              <a:tr h="502920">
                <a:tc>
                  <a:txBody>
                    <a:bodyPr/>
                    <a:lstStyle/>
                    <a:p>
                      <a:r>
                        <a:rPr sz="1500" b="0">
                          <a:solidFill>
                            <a:srgbClr val="333333"/>
                          </a:solidFill>
                          <a:latin typeface="Aptos"/>
                        </a:rPr>
                        <a:t>TRELLIS_FF (flip-flops)</a:t>
                      </a:r>
                    </a:p>
                  </a:txBody>
                  <a:tcPr marL="109728" marR="109728" marT="36576" marB="36576" anchor="ctr">
                    <a:solidFill>
                      <a:srgbClr val="EFEFEF"/>
                    </a:solidFill>
                  </a:tcPr>
                </a:tc>
                <a:tc>
                  <a:txBody>
                    <a:bodyPr/>
                    <a:lstStyle/>
                    <a:p>
                      <a:r>
                        <a:rPr sz="1500" b="0">
                          <a:solidFill>
                            <a:srgbClr val="333333"/>
                          </a:solidFill>
                          <a:latin typeface="Aptos"/>
                        </a:rPr>
                        <a:t>591</a:t>
                      </a:r>
                    </a:p>
                  </a:txBody>
                  <a:tcPr marL="109728" marR="109728" marT="36576" marB="36576" anchor="ctr">
                    <a:solidFill>
                      <a:srgbClr val="EFEFEF"/>
                    </a:solidFill>
                  </a:tcPr>
                </a:tc>
                <a:tc>
                  <a:txBody>
                    <a:bodyPr/>
                    <a:lstStyle/>
                    <a:p>
                      <a:r>
                        <a:rPr sz="1500" b="0">
                          <a:solidFill>
                            <a:srgbClr val="333333"/>
                          </a:solidFill>
                          <a:latin typeface="Aptos"/>
                        </a:rPr>
                        <a:t>43,848</a:t>
                      </a:r>
                    </a:p>
                  </a:txBody>
                  <a:tcPr marL="109728" marR="109728" marT="36576" marB="36576" anchor="ctr">
                    <a:solidFill>
                      <a:srgbClr val="EFEFEF"/>
                    </a:solidFill>
                  </a:tcPr>
                </a:tc>
                <a:tc>
                  <a:txBody>
                    <a:bodyPr/>
                    <a:lstStyle/>
                    <a:p>
                      <a:r>
                        <a:rPr sz="1500" b="0">
                          <a:solidFill>
                            <a:srgbClr val="333333"/>
                          </a:solidFill>
                          <a:latin typeface="Aptos"/>
                        </a:rPr>
                        <a:t>1%</a:t>
                      </a:r>
                    </a:p>
                  </a:txBody>
                  <a:tcPr marL="109728" marR="109728" marT="36576" marB="36576" anchor="ctr">
                    <a:solidFill>
                      <a:srgbClr val="EFEFEF"/>
                    </a:solidFill>
                  </a:tcPr>
                </a:tc>
                <a:extLst>
                  <a:ext uri="{0D108BD9-81ED-4DB2-BD59-A6C34878D82A}">
                    <a16:rowId xmlns:a16="http://schemas.microsoft.com/office/drawing/2014/main" val="10002"/>
                  </a:ext>
                </a:extLst>
              </a:tr>
              <a:tr h="502920">
                <a:tc>
                  <a:txBody>
                    <a:bodyPr/>
                    <a:lstStyle/>
                    <a:p>
                      <a:r>
                        <a:rPr sz="1500" b="0">
                          <a:solidFill>
                            <a:srgbClr val="333333"/>
                          </a:solidFill>
                          <a:latin typeface="Aptos"/>
                        </a:rPr>
                        <a:t>DP16KD (block RAM)</a:t>
                      </a:r>
                    </a:p>
                  </a:txBody>
                  <a:tcPr marL="109728" marR="109728" marT="36576" marB="36576" anchor="ctr">
                    <a:solidFill>
                      <a:srgbClr val="FFFFFF"/>
                    </a:solidFill>
                  </a:tcPr>
                </a:tc>
                <a:tc>
                  <a:txBody>
                    <a:bodyPr/>
                    <a:lstStyle/>
                    <a:p>
                      <a:r>
                        <a:rPr sz="1500" b="0">
                          <a:solidFill>
                            <a:srgbClr val="333333"/>
                          </a:solidFill>
                          <a:latin typeface="Aptos"/>
                        </a:rPr>
                        <a:t>8</a:t>
                      </a:r>
                    </a:p>
                  </a:txBody>
                  <a:tcPr marL="109728" marR="109728" marT="36576" marB="36576" anchor="ctr">
                    <a:solidFill>
                      <a:srgbClr val="FFFFFF"/>
                    </a:solidFill>
                  </a:tcPr>
                </a:tc>
                <a:tc>
                  <a:txBody>
                    <a:bodyPr/>
                    <a:lstStyle/>
                    <a:p>
                      <a:r>
                        <a:rPr sz="1500" b="0">
                          <a:solidFill>
                            <a:srgbClr val="333333"/>
                          </a:solidFill>
                          <a:latin typeface="Aptos"/>
                        </a:rPr>
                        <a:t>108</a:t>
                      </a:r>
                    </a:p>
                  </a:txBody>
                  <a:tcPr marL="109728" marR="109728" marT="36576" marB="36576" anchor="ctr">
                    <a:solidFill>
                      <a:srgbClr val="FFFFFF"/>
                    </a:solidFill>
                  </a:tcPr>
                </a:tc>
                <a:tc>
                  <a:txBody>
                    <a:bodyPr/>
                    <a:lstStyle/>
                    <a:p>
                      <a:r>
                        <a:rPr sz="1500" b="0">
                          <a:solidFill>
                            <a:srgbClr val="333333"/>
                          </a:solidFill>
                          <a:latin typeface="Aptos"/>
                        </a:rPr>
                        <a:t>7%</a:t>
                      </a:r>
                    </a:p>
                  </a:txBody>
                  <a:tcPr marL="109728" marR="109728" marT="36576" marB="36576" anchor="ctr">
                    <a:solidFill>
                      <a:srgbClr val="FFFFFF"/>
                    </a:solidFill>
                  </a:tcPr>
                </a:tc>
                <a:extLst>
                  <a:ext uri="{0D108BD9-81ED-4DB2-BD59-A6C34878D82A}">
                    <a16:rowId xmlns:a16="http://schemas.microsoft.com/office/drawing/2014/main" val="10003"/>
                  </a:ext>
                </a:extLst>
              </a:tr>
              <a:tr h="502920">
                <a:tc>
                  <a:txBody>
                    <a:bodyPr/>
                    <a:lstStyle/>
                    <a:p>
                      <a:r>
                        <a:rPr sz="1500" b="0">
                          <a:solidFill>
                            <a:srgbClr val="333333"/>
                          </a:solidFill>
                          <a:latin typeface="Aptos"/>
                        </a:rPr>
                        <a:t>EHXPLLL (PLL)</a:t>
                      </a:r>
                    </a:p>
                  </a:txBody>
                  <a:tcPr marL="109728" marR="109728" marT="36576" marB="36576" anchor="ctr">
                    <a:solidFill>
                      <a:srgbClr val="EFEFEF"/>
                    </a:solidFill>
                  </a:tcPr>
                </a:tc>
                <a:tc>
                  <a:txBody>
                    <a:bodyPr/>
                    <a:lstStyle/>
                    <a:p>
                      <a:r>
                        <a:rPr sz="1500" b="0">
                          <a:solidFill>
                            <a:srgbClr val="333333"/>
                          </a:solidFill>
                          <a:latin typeface="Aptos"/>
                        </a:rPr>
                        <a:t>1</a:t>
                      </a:r>
                    </a:p>
                  </a:txBody>
                  <a:tcPr marL="109728" marR="109728" marT="36576" marB="36576" anchor="ctr">
                    <a:solidFill>
                      <a:srgbClr val="EFEFEF"/>
                    </a:solidFill>
                  </a:tcPr>
                </a:tc>
                <a:tc>
                  <a:txBody>
                    <a:bodyPr/>
                    <a:lstStyle/>
                    <a:p>
                      <a:r>
                        <a:rPr sz="1500" b="0">
                          <a:solidFill>
                            <a:srgbClr val="333333"/>
                          </a:solidFill>
                          <a:latin typeface="Aptos"/>
                        </a:rPr>
                        <a:t>4</a:t>
                      </a:r>
                    </a:p>
                  </a:txBody>
                  <a:tcPr marL="109728" marR="109728" marT="36576" marB="36576" anchor="ctr">
                    <a:solidFill>
                      <a:srgbClr val="EFEFEF"/>
                    </a:solidFill>
                  </a:tcPr>
                </a:tc>
                <a:tc>
                  <a:txBody>
                    <a:bodyPr/>
                    <a:lstStyle/>
                    <a:p>
                      <a:r>
                        <a:rPr sz="1500" b="0">
                          <a:solidFill>
                            <a:srgbClr val="333333"/>
                          </a:solidFill>
                          <a:latin typeface="Aptos"/>
                        </a:rPr>
                        <a:t>25%</a:t>
                      </a:r>
                    </a:p>
                  </a:txBody>
                  <a:tcPr marL="109728" marR="109728" marT="36576" marB="36576" anchor="ctr">
                    <a:solidFill>
                      <a:srgbClr val="EFEFEF"/>
                    </a:solidFill>
                  </a:tcPr>
                </a:tc>
                <a:extLst>
                  <a:ext uri="{0D108BD9-81ED-4DB2-BD59-A6C34878D82A}">
                    <a16:rowId xmlns:a16="http://schemas.microsoft.com/office/drawing/2014/main" val="10004"/>
                  </a:ext>
                </a:extLst>
              </a:tr>
              <a:tr h="502920">
                <a:tc>
                  <a:txBody>
                    <a:bodyPr/>
                    <a:lstStyle/>
                    <a:p>
                      <a:r>
                        <a:rPr sz="1500" b="0">
                          <a:solidFill>
                            <a:srgbClr val="333333"/>
                          </a:solidFill>
                          <a:latin typeface="Aptos"/>
                        </a:rPr>
                        <a:t>TRELLIS_IO (pins)</a:t>
                      </a:r>
                    </a:p>
                  </a:txBody>
                  <a:tcPr marL="109728" marR="109728" marT="36576" marB="36576" anchor="ctr">
                    <a:solidFill>
                      <a:srgbClr val="FFFFFF"/>
                    </a:solidFill>
                  </a:tcPr>
                </a:tc>
                <a:tc>
                  <a:txBody>
                    <a:bodyPr/>
                    <a:lstStyle/>
                    <a:p>
                      <a:r>
                        <a:rPr sz="1500" b="0">
                          <a:solidFill>
                            <a:srgbClr val="333333"/>
                          </a:solidFill>
                          <a:latin typeface="Aptos"/>
                        </a:rPr>
                        <a:t>63</a:t>
                      </a:r>
                    </a:p>
                  </a:txBody>
                  <a:tcPr marL="109728" marR="109728" marT="36576" marB="36576" anchor="ctr">
                    <a:solidFill>
                      <a:srgbClr val="FFFFFF"/>
                    </a:solidFill>
                  </a:tcPr>
                </a:tc>
                <a:tc>
                  <a:txBody>
                    <a:bodyPr/>
                    <a:lstStyle/>
                    <a:p>
                      <a:r>
                        <a:rPr sz="1500" b="0">
                          <a:solidFill>
                            <a:srgbClr val="333333"/>
                          </a:solidFill>
                          <a:latin typeface="Aptos"/>
                        </a:rPr>
                        <a:t>245</a:t>
                      </a:r>
                    </a:p>
                  </a:txBody>
                  <a:tcPr marL="109728" marR="109728" marT="36576" marB="36576" anchor="ctr">
                    <a:solidFill>
                      <a:srgbClr val="FFFFFF"/>
                    </a:solidFill>
                  </a:tcPr>
                </a:tc>
                <a:tc>
                  <a:txBody>
                    <a:bodyPr/>
                    <a:lstStyle/>
                    <a:p>
                      <a:r>
                        <a:rPr sz="1500" b="0">
                          <a:solidFill>
                            <a:srgbClr val="333333"/>
                          </a:solidFill>
                          <a:latin typeface="Aptos"/>
                        </a:rPr>
                        <a:t>25%</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4892040"/>
            <a:ext cx="6766560" cy="365760"/>
          </a:xfrm>
          <a:prstGeom prst="rect">
            <a:avLst/>
          </a:prstGeom>
          <a:noFill/>
        </p:spPr>
        <p:txBody>
          <a:bodyPr wrap="square">
            <a:spAutoFit/>
          </a:bodyPr>
          <a:lstStyle/>
          <a:p>
            <a:r>
              <a:rPr sz="1200" i="1">
                <a:solidFill>
                  <a:srgbClr val="8D8D8D"/>
                </a:solidFill>
                <a:latin typeface="Aptos"/>
              </a:rPr>
              <a:t>b8008_basic: CPU + 12 KB ROM + 4 KB RAM + UART + clock generation + front panel</a:t>
            </a:r>
          </a:p>
        </p:txBody>
      </p:sp>
      <p:sp>
        <p:nvSpPr>
          <p:cNvPr id="7" name="Rectangle 6"/>
          <p:cNvSpPr/>
          <p:nvPr/>
        </p:nvSpPr>
        <p:spPr>
          <a:xfrm>
            <a:off x="7680960" y="1783080"/>
            <a:ext cx="3931920" cy="141732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5400" b="1">
                <a:solidFill>
                  <a:srgbClr val="333333"/>
                </a:solidFill>
                <a:latin typeface="Aptos"/>
              </a:rPr>
              <a:t>4%</a:t>
            </a:r>
          </a:p>
          <a:p>
            <a:pPr algn="ctr">
              <a:spcBef>
                <a:spcPts val="400"/>
              </a:spcBef>
            </a:pPr>
            <a:r>
              <a:rPr sz="1400">
                <a:solidFill>
                  <a:srgbClr val="5A6068"/>
                </a:solidFill>
                <a:latin typeface="Aptos"/>
              </a:rPr>
              <a:t>of the fabric</a:t>
            </a:r>
          </a:p>
        </p:txBody>
      </p:sp>
      <p:sp>
        <p:nvSpPr>
          <p:cNvPr id="8" name="Rectangle 7"/>
          <p:cNvSpPr/>
          <p:nvPr/>
        </p:nvSpPr>
        <p:spPr>
          <a:xfrm>
            <a:off x="7680960" y="1783080"/>
            <a:ext cx="54864" cy="14173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3429000"/>
            <a:ext cx="4023360" cy="2743200"/>
          </a:xfrm>
          <a:prstGeom prst="rect">
            <a:avLst/>
          </a:prstGeom>
          <a:noFill/>
        </p:spPr>
        <p:txBody>
          <a:bodyPr wrap="square">
            <a:spAutoFit/>
          </a:bodyPr>
          <a:lstStyle/>
          <a:p>
            <a:pPr>
              <a:spcAft>
                <a:spcPts val="1400"/>
              </a:spcAft>
            </a:pPr>
            <a:r>
              <a:rPr sz="1500" b="0">
                <a:solidFill>
                  <a:srgbClr val="333333"/>
                </a:solidFill>
                <a:latin typeface="Aptos"/>
              </a:rPr>
              <a:t>The </a:t>
            </a:r>
            <a:r>
              <a:rPr sz="1500" b="1">
                <a:solidFill>
                  <a:srgbClr val="333333"/>
                </a:solidFill>
                <a:latin typeface="Aptos"/>
              </a:rPr>
              <a:t>whole system</a:t>
            </a:r>
            <a:r>
              <a:rPr sz="1500" b="0">
                <a:solidFill>
                  <a:srgbClr val="333333"/>
                </a:solidFill>
                <a:latin typeface="Aptos"/>
              </a:rPr>
              <a:t> — CPU, memory, serial port, clock generator — fits in one twenty-fifth of a mid-range 2013 FPGA.</a:t>
            </a:r>
          </a:p>
          <a:p>
            <a:pPr>
              <a:spcAft>
                <a:spcPts val="1400"/>
              </a:spcAft>
            </a:pPr>
            <a:r>
              <a:rPr sz="1500" b="0">
                <a:solidFill>
                  <a:srgbClr val="333333"/>
                </a:solidFill>
                <a:latin typeface="Aptos"/>
              </a:rPr>
              <a:t>The 8008 was 3,500 transistors. This chip has roughly </a:t>
            </a:r>
            <a:r>
              <a:rPr sz="1500" b="1">
                <a:solidFill>
                  <a:srgbClr val="333333"/>
                </a:solidFill>
                <a:latin typeface="Aptos"/>
              </a:rPr>
              <a:t>a million times</a:t>
            </a:r>
            <a:r>
              <a:rPr sz="1500" b="0">
                <a:solidFill>
                  <a:srgbClr val="333333"/>
                </a:solidFill>
                <a:latin typeface="Aptos"/>
              </a:rPr>
              <a:t> the logic and it is not an expensive part.</a:t>
            </a:r>
          </a:p>
          <a:p>
            <a:pPr>
              <a:spcAft>
                <a:spcPts val="1400"/>
              </a:spcAft>
            </a:pPr>
            <a:r>
              <a:rPr sz="1500" b="0">
                <a:solidFill>
                  <a:srgbClr val="333333"/>
                </a:solidFill>
                <a:latin typeface="Aptos"/>
              </a:rPr>
              <a:t>There is room on this die for 25 of these machines, running side by side.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4 — BUILDING THE THING</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Where the architecture came from</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8008_block_diagram.png"/>
          <p:cNvPicPr>
            <a:picLocks noChangeAspect="1"/>
          </p:cNvPicPr>
          <p:nvPr/>
        </p:nvPicPr>
        <p:blipFill>
          <a:blip r:embed="rId3"/>
          <a:stretch>
            <a:fillRect/>
          </a:stretch>
        </p:blipFill>
        <p:spPr>
          <a:xfrm>
            <a:off x="548640" y="1737360"/>
            <a:ext cx="3428172" cy="2423159"/>
          </a:xfrm>
          <a:prstGeom prst="rect">
            <a:avLst/>
          </a:prstGeom>
          <a:ln w="9525">
            <a:solidFill>
              <a:srgbClr val="8D8D8D"/>
            </a:solidFill>
          </a:ln>
          <a:effectLst/>
        </p:spPr>
      </p:pic>
      <p:sp>
        <p:nvSpPr>
          <p:cNvPr id="6" name="TextBox 5"/>
          <p:cNvSpPr txBox="1"/>
          <p:nvPr/>
        </p:nvSpPr>
        <p:spPr>
          <a:xfrm>
            <a:off x="548640" y="4215383"/>
            <a:ext cx="5029200" cy="365760"/>
          </a:xfrm>
          <a:prstGeom prst="rect">
            <a:avLst/>
          </a:prstGeom>
          <a:noFill/>
        </p:spPr>
        <p:txBody>
          <a:bodyPr wrap="square">
            <a:spAutoFit/>
          </a:bodyPr>
          <a:lstStyle/>
          <a:p>
            <a:r>
              <a:rPr sz="1200" i="1">
                <a:solidFill>
                  <a:srgbClr val="8D8D8D"/>
                </a:solidFill>
                <a:latin typeface="Aptos"/>
              </a:rPr>
              <a:t>Intel 8008 User’s Manual, 1972 — the block diagram</a:t>
            </a:r>
          </a:p>
        </p:txBody>
      </p:sp>
      <p:sp>
        <p:nvSpPr>
          <p:cNvPr id="7" name="TextBox 6"/>
          <p:cNvSpPr txBox="1"/>
          <p:nvPr/>
        </p:nvSpPr>
        <p:spPr>
          <a:xfrm>
            <a:off x="5852160" y="1737360"/>
            <a:ext cx="5760720" cy="2651760"/>
          </a:xfrm>
          <a:prstGeom prst="rect">
            <a:avLst/>
          </a:prstGeom>
          <a:noFill/>
        </p:spPr>
        <p:txBody>
          <a:bodyPr wrap="square">
            <a:spAutoFit/>
          </a:bodyPr>
          <a:lstStyle/>
          <a:p>
            <a:pPr>
              <a:spcAft>
                <a:spcPts val="1600"/>
              </a:spcAft>
            </a:pPr>
            <a:r>
              <a:rPr sz="1600" b="0">
                <a:solidFill>
                  <a:srgbClr val="333333"/>
                </a:solidFill>
                <a:latin typeface="Aptos"/>
              </a:rPr>
              <a:t>Every module in this design is </a:t>
            </a:r>
            <a:r>
              <a:rPr sz="1600" b="1">
                <a:solidFill>
                  <a:srgbClr val="333333"/>
                </a:solidFill>
                <a:latin typeface="Aptos"/>
              </a:rPr>
              <a:t>one box from that diagram.</a:t>
            </a:r>
          </a:p>
          <a:p>
            <a:pPr>
              <a:spcAft>
                <a:spcPts val="1600"/>
              </a:spcAft>
            </a:pPr>
            <a:r>
              <a:rPr sz="1600" b="0">
                <a:solidFill>
                  <a:srgbClr val="333333"/>
                </a:solidFill>
                <a:latin typeface="Aptos"/>
              </a:rPr>
              <a:t>Intel drew the *concept*. The RTL partition is mine: </a:t>
            </a:r>
            <a:r>
              <a:rPr sz="1600" b="1">
                <a:solidFill>
                  <a:srgbClr val="333333"/>
                </a:solidFill>
                <a:latin typeface="Aptos"/>
              </a:rPr>
              <a:t>25 independently testable modules</a:t>
            </a:r>
            <a:r>
              <a:rPr sz="1600" b="0">
                <a:solidFill>
                  <a:srgbClr val="333333"/>
                </a:solidFill>
                <a:latin typeface="Aptos"/>
              </a:rPr>
              <a:t>, each with explicit control signals and no knowledge of any other — derived from the datasheet, not from any existing implementation.</a:t>
            </a:r>
          </a:p>
        </p:txBody>
      </p:sp>
      <p:sp>
        <p:nvSpPr>
          <p:cNvPr id="8" name="Rectangle 7"/>
          <p:cNvSpPr/>
          <p:nvPr/>
        </p:nvSpPr>
        <p:spPr>
          <a:xfrm>
            <a:off x="548640" y="4526280"/>
            <a:ext cx="11064240" cy="169164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164592" rIns="320040" rtlCol="0" anchor="ctr"/>
          <a:lstStyle/>
          <a:p>
            <a:pPr algn="ctr"/>
            <a:r>
              <a:rPr sz="2100" b="1">
                <a:solidFill>
                  <a:srgbClr val="FFC220"/>
                </a:solidFill>
                <a:latin typeface="Aptos"/>
              </a:rPr>
              <a:t>As far as I can tell, this is the only block-based 8008 in existence.</a:t>
            </a:r>
          </a:p>
          <a:p>
            <a:pPr algn="ctr">
              <a:spcBef>
                <a:spcPts val="900"/>
              </a:spcBef>
            </a:pPr>
            <a:r>
              <a:rPr sz="1400" b="0">
                <a:solidFill>
                  <a:srgbClr val="F2F2F2"/>
                </a:solidFill>
                <a:latin typeface="Aptos"/>
              </a:rPr>
              <a:t>Eighteen months of looking — Google Groups, websites that look like they are from 1994, the SCELBI archives. Everything I found is an </a:t>
            </a:r>
            <a:r>
              <a:rPr sz="1400" b="1">
                <a:solidFill>
                  <a:srgbClr val="F2F2F2"/>
                </a:solidFill>
                <a:latin typeface="Aptos"/>
              </a:rPr>
              <a:t>instruction-set simulator</a:t>
            </a:r>
            <a:r>
              <a:rPr sz="1400" b="0">
                <a:solidFill>
                  <a:srgbClr val="F2F2F2"/>
                </a:solidFill>
                <a:latin typeface="Aptos"/>
              </a:rPr>
              <a:t>: sequential software that executes one opcode at a time.</a:t>
            </a:r>
          </a:p>
          <a:p>
            <a:pPr algn="ctr">
              <a:spcBef>
                <a:spcPts val="700"/>
              </a:spcBef>
            </a:pPr>
            <a:r>
              <a:rPr sz="1400" i="1">
                <a:solidFill>
                  <a:srgbClr val="C9CED6"/>
                </a:solidFill>
                <a:latin typeface="Aptos"/>
              </a:rPr>
              <a:t>If you find another, please tell me. I would genuinely like to see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4 — BUILDING THE THING</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The whole computer, on one die</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783080"/>
            <a:ext cx="4937760" cy="3931920"/>
          </a:xfrm>
          <a:prstGeom prst="rect">
            <a:avLst/>
          </a:prstGeom>
          <a:solidFill>
            <a:srgbClr val="FFFFFF"/>
          </a:solidFill>
          <a:ln w="254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874519"/>
            <a:ext cx="4572000" cy="411480"/>
          </a:xfrm>
          <a:prstGeom prst="rect">
            <a:avLst/>
          </a:prstGeom>
          <a:noFill/>
        </p:spPr>
        <p:txBody>
          <a:bodyPr wrap="square">
            <a:spAutoFit/>
          </a:bodyPr>
          <a:lstStyle/>
          <a:p>
            <a:r>
              <a:rPr sz="1500" b="1">
                <a:solidFill>
                  <a:srgbClr val="333333"/>
                </a:solidFill>
                <a:latin typeface="Aptos"/>
              </a:rPr>
              <a:t>b8008 CPU core — 25 VHDL modules</a:t>
            </a:r>
          </a:p>
        </p:txBody>
      </p:sp>
      <p:sp>
        <p:nvSpPr>
          <p:cNvPr id="7" name="Rectangle 6"/>
          <p:cNvSpPr/>
          <p:nvPr/>
        </p:nvSpPr>
        <p:spPr>
          <a:xfrm>
            <a:off x="777240" y="237744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timing &amp;</a:t>
            </a:r>
          </a:p>
          <a:p>
            <a:pPr algn="ctr"/>
            <a:r>
              <a:rPr sz="1100" b="0">
                <a:solidFill>
                  <a:srgbClr val="333333"/>
                </a:solidFill>
                <a:latin typeface="Aptos"/>
              </a:rPr>
              <a:t>control</a:t>
            </a:r>
          </a:p>
        </p:txBody>
      </p:sp>
      <p:sp>
        <p:nvSpPr>
          <p:cNvPr id="8" name="Rectangle 7"/>
          <p:cNvSpPr/>
          <p:nvPr/>
        </p:nvSpPr>
        <p:spPr>
          <a:xfrm>
            <a:off x="2350008" y="237744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instruction</a:t>
            </a:r>
          </a:p>
          <a:p>
            <a:pPr algn="ctr"/>
            <a:r>
              <a:rPr sz="1100" b="0">
                <a:solidFill>
                  <a:srgbClr val="333333"/>
                </a:solidFill>
                <a:latin typeface="Aptos"/>
              </a:rPr>
              <a:t>decoder</a:t>
            </a:r>
          </a:p>
        </p:txBody>
      </p:sp>
      <p:sp>
        <p:nvSpPr>
          <p:cNvPr id="9" name="Rectangle 8"/>
          <p:cNvSpPr/>
          <p:nvPr/>
        </p:nvSpPr>
        <p:spPr>
          <a:xfrm>
            <a:off x="3922776" y="237744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address</a:t>
            </a:r>
          </a:p>
          <a:p>
            <a:pPr algn="ctr"/>
            <a:r>
              <a:rPr sz="1100" b="0">
                <a:solidFill>
                  <a:srgbClr val="333333"/>
                </a:solidFill>
                <a:latin typeface="Aptos"/>
              </a:rPr>
              <a:t>stack (8×14)</a:t>
            </a:r>
          </a:p>
        </p:txBody>
      </p:sp>
      <p:sp>
        <p:nvSpPr>
          <p:cNvPr id="10" name="Rectangle 9"/>
          <p:cNvSpPr/>
          <p:nvPr/>
        </p:nvSpPr>
        <p:spPr>
          <a:xfrm>
            <a:off x="777240" y="342900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stack</a:t>
            </a:r>
          </a:p>
          <a:p>
            <a:pPr algn="ctr"/>
            <a:r>
              <a:rPr sz="1100" b="0">
                <a:solidFill>
                  <a:srgbClr val="333333"/>
                </a:solidFill>
                <a:latin typeface="Aptos"/>
              </a:rPr>
              <a:t>pointer</a:t>
            </a:r>
          </a:p>
        </p:txBody>
      </p:sp>
      <p:sp>
        <p:nvSpPr>
          <p:cNvPr id="11" name="Rectangle 10"/>
          <p:cNvSpPr/>
          <p:nvPr/>
        </p:nvSpPr>
        <p:spPr>
          <a:xfrm>
            <a:off x="2350008" y="342900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register file</a:t>
            </a:r>
          </a:p>
          <a:p>
            <a:pPr algn="ctr"/>
            <a:r>
              <a:rPr sz="1100" b="0">
                <a:solidFill>
                  <a:srgbClr val="333333"/>
                </a:solidFill>
                <a:latin typeface="Aptos"/>
              </a:rPr>
              <a:t>A B C D E H L</a:t>
            </a:r>
          </a:p>
        </p:txBody>
      </p:sp>
      <p:sp>
        <p:nvSpPr>
          <p:cNvPr id="12" name="Rectangle 11"/>
          <p:cNvSpPr/>
          <p:nvPr/>
        </p:nvSpPr>
        <p:spPr>
          <a:xfrm>
            <a:off x="3922776" y="342900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ALU +</a:t>
            </a:r>
          </a:p>
          <a:p>
            <a:pPr algn="ctr"/>
            <a:r>
              <a:rPr sz="1100" b="0">
                <a:solidFill>
                  <a:srgbClr val="333333"/>
                </a:solidFill>
                <a:latin typeface="Aptos"/>
              </a:rPr>
              <a:t>carry lookahead</a:t>
            </a:r>
          </a:p>
        </p:txBody>
      </p:sp>
      <p:sp>
        <p:nvSpPr>
          <p:cNvPr id="13" name="Rectangle 12"/>
          <p:cNvSpPr/>
          <p:nvPr/>
        </p:nvSpPr>
        <p:spPr>
          <a:xfrm>
            <a:off x="777240" y="448056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condition</a:t>
            </a:r>
          </a:p>
          <a:p>
            <a:pPr algn="ctr"/>
            <a:r>
              <a:rPr sz="1100" b="0">
                <a:solidFill>
                  <a:srgbClr val="333333"/>
                </a:solidFill>
                <a:latin typeface="Aptos"/>
              </a:rPr>
              <a:t>flags</a:t>
            </a:r>
          </a:p>
        </p:txBody>
      </p:sp>
      <p:sp>
        <p:nvSpPr>
          <p:cNvPr id="14" name="Rectangle 13"/>
          <p:cNvSpPr/>
          <p:nvPr/>
        </p:nvSpPr>
        <p:spPr>
          <a:xfrm>
            <a:off x="2350008" y="448056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temp</a:t>
            </a:r>
          </a:p>
          <a:p>
            <a:pPr algn="ctr"/>
            <a:r>
              <a:rPr sz="1100" b="0">
                <a:solidFill>
                  <a:srgbClr val="333333"/>
                </a:solidFill>
                <a:latin typeface="Aptos"/>
              </a:rPr>
              <a:t>registers</a:t>
            </a:r>
          </a:p>
        </p:txBody>
      </p:sp>
      <p:sp>
        <p:nvSpPr>
          <p:cNvPr id="15" name="Rectangle 14"/>
          <p:cNvSpPr/>
          <p:nvPr/>
        </p:nvSpPr>
        <p:spPr>
          <a:xfrm>
            <a:off x="3922776" y="4480560"/>
            <a:ext cx="1463040" cy="914400"/>
          </a:xfrm>
          <a:prstGeom prst="rect">
            <a:avLst/>
          </a:prstGeom>
          <a:solidFill>
            <a:srgbClr val="FFF3D3"/>
          </a:solidFill>
          <a:ln w="12700">
            <a:solidFill>
              <a:srgbClr val="FFC22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333333"/>
                </a:solidFill>
                <a:latin typeface="Aptos"/>
              </a:rPr>
              <a:t>I/O buffer</a:t>
            </a:r>
          </a:p>
        </p:txBody>
      </p:sp>
      <p:sp>
        <p:nvSpPr>
          <p:cNvPr id="16" name="Rectangle 15"/>
          <p:cNvSpPr/>
          <p:nvPr/>
        </p:nvSpPr>
        <p:spPr>
          <a:xfrm>
            <a:off x="5852160" y="1783080"/>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rom_12kx8_bram</a:t>
            </a:r>
            <a:r>
              <a:rPr sz="1200">
                <a:solidFill>
                  <a:srgbClr val="6A7078"/>
                </a:solidFill>
                <a:latin typeface="Aptos"/>
              </a:rPr>
              <a:t>   12 KB firmware — 6 × DP16KD</a:t>
            </a:r>
          </a:p>
        </p:txBody>
      </p:sp>
      <p:sp>
        <p:nvSpPr>
          <p:cNvPr id="17" name="Rectangle 16"/>
          <p:cNvSpPr/>
          <p:nvPr/>
        </p:nvSpPr>
        <p:spPr>
          <a:xfrm>
            <a:off x="5852160" y="2350008"/>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ram_sync</a:t>
            </a:r>
            <a:r>
              <a:rPr sz="1200">
                <a:solidFill>
                  <a:srgbClr val="6A7078"/>
                </a:solidFill>
                <a:latin typeface="Aptos"/>
              </a:rPr>
              <a:t>   4 KB program RAM — 2 × DP16KD</a:t>
            </a:r>
          </a:p>
        </p:txBody>
      </p:sp>
      <p:sp>
        <p:nvSpPr>
          <p:cNvPr id="18" name="Rectangle 17"/>
          <p:cNvSpPr/>
          <p:nvPr/>
        </p:nvSpPr>
        <p:spPr>
          <a:xfrm>
            <a:off x="5852160" y="2916936"/>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address_decoder</a:t>
            </a:r>
            <a:r>
              <a:rPr sz="1200">
                <a:solidFill>
                  <a:srgbClr val="6A7078"/>
                </a:solidFill>
                <a:latin typeface="Aptos"/>
              </a:rPr>
              <a:t>   RAM 0000-0FFF, ROM 1000-3FFF</a:t>
            </a:r>
          </a:p>
        </p:txBody>
      </p:sp>
      <p:sp>
        <p:nvSpPr>
          <p:cNvPr id="19" name="Rectangle 18"/>
          <p:cNvSpPr/>
          <p:nvPr/>
        </p:nvSpPr>
        <p:spPr>
          <a:xfrm>
            <a:off x="5852160" y="3483864"/>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usart</a:t>
            </a:r>
            <a:r>
              <a:rPr sz="1200">
                <a:solidFill>
                  <a:srgbClr val="6A7078"/>
                </a:solidFill>
                <a:latin typeface="Aptos"/>
              </a:rPr>
              <a:t>   115200 8N1 over USB</a:t>
            </a:r>
          </a:p>
        </p:txBody>
      </p:sp>
      <p:sp>
        <p:nvSpPr>
          <p:cNvPr id="20" name="Rectangle 19"/>
          <p:cNvSpPr/>
          <p:nvPr/>
        </p:nvSpPr>
        <p:spPr>
          <a:xfrm>
            <a:off x="5852160" y="4050791"/>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phase_clocks</a:t>
            </a:r>
            <a:r>
              <a:rPr sz="1200">
                <a:solidFill>
                  <a:srgbClr val="6A7078"/>
                </a:solidFill>
                <a:latin typeface="Aptos"/>
              </a:rPr>
              <a:t>   φ1 / φ2, 0.8 µs / 0.6 µs, non-overlapping</a:t>
            </a:r>
          </a:p>
        </p:txBody>
      </p:sp>
      <p:sp>
        <p:nvSpPr>
          <p:cNvPr id="21" name="Rectangle 20"/>
          <p:cNvSpPr/>
          <p:nvPr/>
        </p:nvSpPr>
        <p:spPr>
          <a:xfrm>
            <a:off x="5852160" y="4617720"/>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EHXPLLL</a:t>
            </a:r>
            <a:r>
              <a:rPr sz="1200">
                <a:solidFill>
                  <a:srgbClr val="6A7078"/>
                </a:solidFill>
                <a:latin typeface="Aptos"/>
              </a:rPr>
              <a:t>   hard PLL: 100 MHz board → 25 MHz system</a:t>
            </a:r>
          </a:p>
        </p:txBody>
      </p:sp>
      <p:sp>
        <p:nvSpPr>
          <p:cNvPr id="22" name="Rectangle 21"/>
          <p:cNvSpPr/>
          <p:nvPr/>
        </p:nvSpPr>
        <p:spPr>
          <a:xfrm>
            <a:off x="5852160" y="5184648"/>
            <a:ext cx="5760720" cy="51206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250" b="1">
                <a:solidFill>
                  <a:srgbClr val="333333"/>
                </a:solidFill>
                <a:latin typeface="Aptos Mono"/>
              </a:rPr>
              <a:t>debug_clock_control</a:t>
            </a:r>
            <a:r>
              <a:rPr sz="1200">
                <a:solidFill>
                  <a:srgbClr val="6A7078"/>
                </a:solidFill>
                <a:latin typeface="Aptos"/>
              </a:rPr>
              <a:t>   freeze / single-step the CPU</a:t>
            </a:r>
          </a:p>
        </p:txBody>
      </p:sp>
      <p:sp>
        <p:nvSpPr>
          <p:cNvPr id="23" name="Rectangle 22"/>
          <p:cNvSpPr/>
          <p:nvPr/>
        </p:nvSpPr>
        <p:spPr>
          <a:xfrm>
            <a:off x="548640" y="5897880"/>
            <a:ext cx="11064240" cy="73152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F2F2F2"/>
                </a:solidFill>
                <a:latin typeface="Aptos"/>
              </a:rPr>
              <a:t>In 1972 all of this was a rack. Intel’s own SIM8-01 reference board needed dozens of TTL chips just to make the CPU usable.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4 — BUILDING THE THING</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The trap I fell in: φ1 and φ2 are data, not clocks</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5760720" cy="2103120"/>
          </a:xfrm>
          <a:prstGeom prst="rect">
            <a:avLst/>
          </a:prstGeom>
          <a:noFill/>
        </p:spPr>
        <p:txBody>
          <a:bodyPr wrap="square">
            <a:spAutoFit/>
          </a:bodyPr>
          <a:lstStyle/>
          <a:p>
            <a:pPr>
              <a:spcAft>
                <a:spcPts val="1400"/>
              </a:spcAft>
            </a:pPr>
            <a:r>
              <a:rPr sz="1600" b="0">
                <a:solidFill>
                  <a:srgbClr val="333333"/>
                </a:solidFill>
                <a:latin typeface="Aptos"/>
              </a:rPr>
              <a:t>The 8008 needs </a:t>
            </a:r>
            <a:r>
              <a:rPr sz="1600" b="1">
                <a:solidFill>
                  <a:srgbClr val="333333"/>
                </a:solidFill>
                <a:latin typeface="Aptos"/>
              </a:rPr>
              <a:t>two non-overlapping clock phases</a:t>
            </a:r>
            <a:r>
              <a:rPr sz="1600" b="0">
                <a:solidFill>
                  <a:srgbClr val="333333"/>
                </a:solidFill>
                <a:latin typeface="Aptos"/>
              </a:rPr>
              <a:t>. The obvious move is to generate them and clock your logic from them.</a:t>
            </a:r>
          </a:p>
          <a:p>
            <a:pPr>
              <a:spcAft>
                <a:spcPts val="1400"/>
              </a:spcAft>
            </a:pPr>
            <a:r>
              <a:rPr sz="1600" b="0">
                <a:solidFill>
                  <a:srgbClr val="333333"/>
                </a:solidFill>
                <a:latin typeface="Aptos"/>
              </a:rPr>
              <a:t>Do that and you have just created </a:t>
            </a:r>
            <a:r>
              <a:rPr sz="1600" b="1">
                <a:solidFill>
                  <a:srgbClr val="333333"/>
                </a:solidFill>
                <a:latin typeface="Aptos"/>
              </a:rPr>
              <a:t>two new clock domains</a:t>
            </a:r>
            <a:r>
              <a:rPr sz="1600" b="0">
                <a:solidFill>
                  <a:srgbClr val="333333"/>
                </a:solidFill>
                <a:latin typeface="Aptos"/>
              </a:rPr>
              <a:t> — hand-made, skewed, un-analyzable by the timing engine, and impossible to close.</a:t>
            </a:r>
          </a:p>
        </p:txBody>
      </p:sp>
      <p:sp>
        <p:nvSpPr>
          <p:cNvPr id="6" name="Rectangle 5"/>
          <p:cNvSpPr/>
          <p:nvPr/>
        </p:nvSpPr>
        <p:spPr>
          <a:xfrm>
            <a:off x="548640" y="3931920"/>
            <a:ext cx="5760720" cy="2286000"/>
          </a:xfrm>
          <a:prstGeom prst="rect">
            <a:avLst/>
          </a:prstGeom>
          <a:solidFill>
            <a:srgbClr val="FFFFFF"/>
          </a:solidFill>
          <a:ln w="2540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3931920"/>
            <a:ext cx="576072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4069080"/>
            <a:ext cx="5303520" cy="2011680"/>
          </a:xfrm>
          <a:prstGeom prst="rect">
            <a:avLst/>
          </a:prstGeom>
          <a:noFill/>
        </p:spPr>
        <p:txBody>
          <a:bodyPr wrap="square">
            <a:spAutoFit/>
          </a:bodyPr>
          <a:lstStyle/>
          <a:p>
            <a:r>
              <a:rPr sz="1700" b="1">
                <a:solidFill>
                  <a:srgbClr val="333333"/>
                </a:solidFill>
                <a:latin typeface="Aptos"/>
              </a:rPr>
              <a:t>The fix</a:t>
            </a:r>
          </a:p>
          <a:p>
            <a:pPr>
              <a:spcBef>
                <a:spcPts val="800"/>
              </a:spcBef>
            </a:pPr>
            <a:r>
              <a:rPr sz="1450" b="0">
                <a:solidFill>
                  <a:srgbClr val="333333"/>
                </a:solidFill>
                <a:latin typeface="Aptos"/>
              </a:rPr>
              <a:t>One real clock — 25 MHz from the PLL. φ1 and φ2 become </a:t>
            </a:r>
            <a:r>
              <a:rPr sz="1450" b="1">
                <a:solidFill>
                  <a:srgbClr val="333333"/>
                </a:solidFill>
                <a:latin typeface="Aptos"/>
              </a:rPr>
              <a:t>ordinary signals</a:t>
            </a:r>
            <a:r>
              <a:rPr sz="1450" b="0">
                <a:solidFill>
                  <a:srgbClr val="333333"/>
                </a:solidFill>
                <a:latin typeface="Aptos"/>
              </a:rPr>
              <a:t>, plus one-cycle </a:t>
            </a:r>
            <a:r>
              <a:rPr sz="1450" b="0">
                <a:solidFill>
                  <a:srgbClr val="1F9DD8"/>
                </a:solidFill>
                <a:latin typeface="Aptos Mono"/>
              </a:rPr>
              <a:t>phi1_rising</a:t>
            </a:r>
            <a:r>
              <a:rPr sz="1450" b="0">
                <a:solidFill>
                  <a:srgbClr val="333333"/>
                </a:solidFill>
                <a:latin typeface="Aptos"/>
              </a:rPr>
              <a:t> / </a:t>
            </a:r>
            <a:r>
              <a:rPr sz="1450" b="0">
                <a:solidFill>
                  <a:srgbClr val="1F9DD8"/>
                </a:solidFill>
                <a:latin typeface="Aptos Mono"/>
              </a:rPr>
              <a:t>phi2_rising</a:t>
            </a:r>
            <a:r>
              <a:rPr sz="1450" b="0">
                <a:solidFill>
                  <a:srgbClr val="333333"/>
                </a:solidFill>
                <a:latin typeface="Aptos"/>
              </a:rPr>
              <a:t> enable pulses. Every flip-flop in the design is clocked by </a:t>
            </a:r>
            <a:r>
              <a:rPr sz="1450" b="0">
                <a:solidFill>
                  <a:srgbClr val="1F9DD8"/>
                </a:solidFill>
                <a:latin typeface="Aptos Mono"/>
              </a:rPr>
              <a:t>clk_sys</a:t>
            </a:r>
            <a:r>
              <a:rPr sz="1450" b="0">
                <a:solidFill>
                  <a:srgbClr val="333333"/>
                </a:solidFill>
                <a:latin typeface="Aptos"/>
              </a:rPr>
              <a:t> and gated by an enable.</a:t>
            </a:r>
          </a:p>
          <a:p>
            <a:pPr>
              <a:spcBef>
                <a:spcPts val="800"/>
              </a:spcBef>
            </a:pPr>
            <a:r>
              <a:rPr sz="1450" b="0">
                <a:solidFill>
                  <a:srgbClr val="333333"/>
                </a:solidFill>
                <a:latin typeface="Aptos"/>
              </a:rPr>
              <a:t>Result: </a:t>
            </a:r>
            <a:r>
              <a:rPr sz="1450" b="1">
                <a:solidFill>
                  <a:srgbClr val="333333"/>
                </a:solidFill>
                <a:latin typeface="Aptos"/>
              </a:rPr>
              <a:t>one clock domain</a:t>
            </a:r>
            <a:r>
              <a:rPr sz="1450" b="0">
                <a:solidFill>
                  <a:srgbClr val="333333"/>
                </a:solidFill>
                <a:latin typeface="Aptos"/>
              </a:rPr>
              <a:t>, fully timed, closes at 115 MHz.</a:t>
            </a:r>
          </a:p>
        </p:txBody>
      </p:sp>
      <p:sp>
        <p:nvSpPr>
          <p:cNvPr id="9" name="Rectangle 8"/>
          <p:cNvSpPr/>
          <p:nvPr/>
        </p:nvSpPr>
        <p:spPr>
          <a:xfrm>
            <a:off x="6629400" y="1783080"/>
            <a:ext cx="5029200" cy="24231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6FC2EA"/>
                </a:solidFill>
                <a:latin typeface="Aptos Mono"/>
              </a:rPr>
              <a:t>-- WRONG: phi1 as a clock</a:t>
            </a:r>
          </a:p>
          <a:p>
            <a:pPr>
              <a:spcAft>
                <a:spcPts val="0"/>
              </a:spcAft>
            </a:pPr>
            <a:r>
              <a:rPr sz="1300">
                <a:solidFill>
                  <a:srgbClr val="F2F2F2"/>
                </a:solidFill>
                <a:latin typeface="Aptos Mono"/>
              </a:rPr>
              <a:t>process(phi1)</a:t>
            </a:r>
          </a:p>
          <a:p>
            <a:pPr>
              <a:spcAft>
                <a:spcPts val="0"/>
              </a:spcAft>
            </a:pPr>
            <a:r>
              <a:rPr sz="1300">
                <a:solidFill>
                  <a:srgbClr val="F2F2F2"/>
                </a:solidFill>
                <a:latin typeface="Aptos Mono"/>
              </a:rPr>
              <a:t>begin</a:t>
            </a:r>
          </a:p>
          <a:p>
            <a:pPr>
              <a:spcAft>
                <a:spcPts val="0"/>
              </a:spcAft>
            </a:pPr>
            <a:r>
              <a:rPr sz="1300">
                <a:solidFill>
                  <a:srgbClr val="F2F2F2"/>
                </a:solidFill>
                <a:latin typeface="Aptos Mono"/>
              </a:rPr>
              <a:t>  if rising_edge(phi1) then</a:t>
            </a:r>
          </a:p>
          <a:p>
            <a:pPr>
              <a:spcAft>
                <a:spcPts val="0"/>
              </a:spcAft>
            </a:pPr>
            <a:r>
              <a:rPr sz="1300">
                <a:solidFill>
                  <a:srgbClr val="F2F2F2"/>
                </a:solidFill>
                <a:latin typeface="Aptos Mono"/>
              </a:rPr>
              <a:t>    sp &lt;= sp + 1;</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end process;</a:t>
            </a:r>
          </a:p>
        </p:txBody>
      </p:sp>
      <p:sp>
        <p:nvSpPr>
          <p:cNvPr id="10" name="Rectangle 9"/>
          <p:cNvSpPr/>
          <p:nvPr/>
        </p:nvSpPr>
        <p:spPr>
          <a:xfrm>
            <a:off x="6629400" y="4434840"/>
            <a:ext cx="5029200" cy="178308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none" lIns="201168" tIns="137160" rIns="137160" bIns="109728" rtlCol="0" anchor="ctr"/>
          <a:lstStyle/>
          <a:p>
            <a:pPr algn="ctr">
              <a:spcAft>
                <a:spcPts val="0"/>
              </a:spcAft>
            </a:pPr>
            <a:r>
              <a:rPr sz="1300">
                <a:solidFill>
                  <a:srgbClr val="6FC2EA"/>
                </a:solidFill>
                <a:latin typeface="Aptos Mono"/>
              </a:rPr>
              <a:t>-- RIGHT: phi1 as an enable</a:t>
            </a:r>
          </a:p>
          <a:p>
            <a:pPr>
              <a:spcAft>
                <a:spcPts val="0"/>
              </a:spcAft>
            </a:pPr>
            <a:r>
              <a:rPr sz="1300">
                <a:solidFill>
                  <a:srgbClr val="F2F2F2"/>
                </a:solidFill>
                <a:latin typeface="Aptos Mono"/>
              </a:rPr>
              <a:t>if rising_edge(clk) then</a:t>
            </a:r>
          </a:p>
          <a:p>
            <a:pPr>
              <a:spcAft>
                <a:spcPts val="0"/>
              </a:spcAft>
            </a:pPr>
            <a:r>
              <a:rPr sz="1300">
                <a:solidFill>
                  <a:srgbClr val="F2F2F2"/>
                </a:solidFill>
                <a:latin typeface="Aptos Mono"/>
              </a:rPr>
              <a:t>  if phi1_rising = '1' then</a:t>
            </a:r>
          </a:p>
          <a:p>
            <a:pPr>
              <a:spcAft>
                <a:spcPts val="0"/>
              </a:spcAft>
            </a:pPr>
            <a:r>
              <a:rPr sz="1300">
                <a:solidFill>
                  <a:srgbClr val="F2F2F2"/>
                </a:solidFill>
                <a:latin typeface="Aptos Mono"/>
              </a:rPr>
              <a:t>    sp &lt;= sp + 1;</a:t>
            </a:r>
          </a:p>
          <a:p>
            <a:pPr>
              <a:spcAft>
                <a:spcPts val="0"/>
              </a:spcAft>
            </a:pPr>
            <a:r>
              <a:rPr sz="1300">
                <a:solidFill>
                  <a:srgbClr val="F2F2F2"/>
                </a:solidFill>
                <a:latin typeface="Aptos Mono"/>
              </a:rPr>
              <a:t>  end if;</a:t>
            </a:r>
          </a:p>
          <a:p>
            <a:pPr>
              <a:spcAft>
                <a:spcPts val="0"/>
              </a:spcAft>
            </a:pPr>
            <a:r>
              <a:rPr sz="1300">
                <a:solidFill>
                  <a:srgbClr val="F2F2F2"/>
                </a:solidFill>
                <a:latin typeface="Aptos Mono"/>
              </a:rPr>
              <a:t>end if;</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PART 4 — BUILDING THE THING</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War story: the day the toolchain ate my ROM</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783080"/>
            <a:ext cx="2194560" cy="7315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Symptom</a:t>
            </a:r>
          </a:p>
        </p:txBody>
      </p:sp>
      <p:sp>
        <p:nvSpPr>
          <p:cNvPr id="6" name="TextBox 5"/>
          <p:cNvSpPr txBox="1"/>
          <p:nvPr/>
        </p:nvSpPr>
        <p:spPr>
          <a:xfrm>
            <a:off x="2926080" y="1801368"/>
            <a:ext cx="8686800" cy="777240"/>
          </a:xfrm>
          <a:prstGeom prst="rect">
            <a:avLst/>
          </a:prstGeom>
          <a:noFill/>
        </p:spPr>
        <p:txBody>
          <a:bodyPr wrap="square">
            <a:spAutoFit/>
          </a:bodyPr>
          <a:lstStyle/>
          <a:p>
            <a:r>
              <a:rPr sz="1450" b="0">
                <a:solidFill>
                  <a:srgbClr val="F2F2F2"/>
                </a:solidFill>
                <a:latin typeface="Aptos"/>
              </a:rPr>
              <a:t>CPU hangs at boot on hardware. </a:t>
            </a:r>
            <a:r>
              <a:rPr sz="1450" b="1">
                <a:solidFill>
                  <a:srgbClr val="F2F2F2"/>
                </a:solidFill>
                <a:latin typeface="Aptos"/>
              </a:rPr>
              <a:t>Simulation passes perfectly.</a:t>
            </a:r>
          </a:p>
        </p:txBody>
      </p:sp>
      <p:sp>
        <p:nvSpPr>
          <p:cNvPr id="7" name="Rounded Rectangle 6"/>
          <p:cNvSpPr/>
          <p:nvPr/>
        </p:nvSpPr>
        <p:spPr>
          <a:xfrm>
            <a:off x="548640" y="2624328"/>
            <a:ext cx="2194560" cy="7315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Red herring #1</a:t>
            </a:r>
          </a:p>
        </p:txBody>
      </p:sp>
      <p:sp>
        <p:nvSpPr>
          <p:cNvPr id="8" name="TextBox 7"/>
          <p:cNvSpPr txBox="1"/>
          <p:nvPr/>
        </p:nvSpPr>
        <p:spPr>
          <a:xfrm>
            <a:off x="2926080" y="2642616"/>
            <a:ext cx="8686800" cy="777240"/>
          </a:xfrm>
          <a:prstGeom prst="rect">
            <a:avLst/>
          </a:prstGeom>
          <a:noFill/>
        </p:spPr>
        <p:txBody>
          <a:bodyPr wrap="square">
            <a:spAutoFit/>
          </a:bodyPr>
          <a:lstStyle/>
          <a:p>
            <a:r>
              <a:rPr sz="1450" b="0">
                <a:solidFill>
                  <a:srgbClr val="F2F2F2"/>
                </a:solidFill>
                <a:latin typeface="Aptos"/>
              </a:rPr>
              <a:t>Adding 32 bytes of padding "fixes" it. 399 bytes → crash; 431 bytes → fine. Must be a size threshold?</a:t>
            </a:r>
          </a:p>
        </p:txBody>
      </p:sp>
      <p:sp>
        <p:nvSpPr>
          <p:cNvPr id="9" name="Rounded Rectangle 8"/>
          <p:cNvSpPr/>
          <p:nvPr/>
        </p:nvSpPr>
        <p:spPr>
          <a:xfrm>
            <a:off x="548640" y="3465576"/>
            <a:ext cx="2194560" cy="7315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Red herring #2</a:t>
            </a:r>
          </a:p>
        </p:txBody>
      </p:sp>
      <p:sp>
        <p:nvSpPr>
          <p:cNvPr id="10" name="TextBox 9"/>
          <p:cNvSpPr txBox="1"/>
          <p:nvPr/>
        </p:nvSpPr>
        <p:spPr>
          <a:xfrm>
            <a:off x="2926080" y="3483864"/>
            <a:ext cx="8686800" cy="777240"/>
          </a:xfrm>
          <a:prstGeom prst="rect">
            <a:avLst/>
          </a:prstGeom>
          <a:noFill/>
        </p:spPr>
        <p:txBody>
          <a:bodyPr wrap="square">
            <a:spAutoFit/>
          </a:bodyPr>
          <a:lstStyle/>
          <a:p>
            <a:r>
              <a:rPr sz="1450" b="0">
                <a:solidFill>
                  <a:srgbClr val="F2F2F2"/>
                </a:solidFill>
                <a:latin typeface="Aptos"/>
              </a:rPr>
              <a:t>Shrink the ROM to 1 KB → *different* failure. Runs, but no UART output at all. So, not size.</a:t>
            </a:r>
          </a:p>
        </p:txBody>
      </p:sp>
      <p:sp>
        <p:nvSpPr>
          <p:cNvPr id="11" name="Rounded Rectangle 10"/>
          <p:cNvSpPr/>
          <p:nvPr/>
        </p:nvSpPr>
        <p:spPr>
          <a:xfrm>
            <a:off x="548640" y="4306824"/>
            <a:ext cx="2194560" cy="731520"/>
          </a:xfrm>
          <a:prstGeom prst="round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2F2F2"/>
                </a:solidFill>
                <a:latin typeface="Aptos"/>
              </a:rPr>
              <a:t>Root cause</a:t>
            </a:r>
          </a:p>
        </p:txBody>
      </p:sp>
      <p:sp>
        <p:nvSpPr>
          <p:cNvPr id="12" name="TextBox 11"/>
          <p:cNvSpPr txBox="1"/>
          <p:nvPr/>
        </p:nvSpPr>
        <p:spPr>
          <a:xfrm>
            <a:off x="2926080" y="4325112"/>
            <a:ext cx="8686800" cy="777240"/>
          </a:xfrm>
          <a:prstGeom prst="rect">
            <a:avLst/>
          </a:prstGeom>
          <a:noFill/>
        </p:spPr>
        <p:txBody>
          <a:bodyPr wrap="square">
            <a:spAutoFit/>
          </a:bodyPr>
          <a:lstStyle/>
          <a:p>
            <a:r>
              <a:rPr sz="1450" b="0">
                <a:solidFill>
                  <a:srgbClr val="F2F2F2"/>
                </a:solidFill>
                <a:latin typeface="Aptos"/>
              </a:rPr>
              <a:t>The ROM array was initialized </a:t>
            </a:r>
            <a:r>
              <a:rPr sz="1450" b="0">
                <a:solidFill>
                  <a:srgbClr val="FFC220"/>
                </a:solidFill>
                <a:latin typeface="Aptos Mono"/>
              </a:rPr>
              <a:t>(others =&gt; x"FF")</a:t>
            </a:r>
            <a:r>
              <a:rPr sz="1450" b="0">
                <a:solidFill>
                  <a:srgbClr val="F2F2F2"/>
                </a:solidFill>
                <a:latin typeface="Aptos"/>
              </a:rPr>
              <a:t>. Yosys’ optimizer sees a mostly-all-ones memory and mangles the initialization.</a:t>
            </a:r>
          </a:p>
        </p:txBody>
      </p:sp>
      <p:sp>
        <p:nvSpPr>
          <p:cNvPr id="13" name="Rounded Rectangle 12"/>
          <p:cNvSpPr/>
          <p:nvPr/>
        </p:nvSpPr>
        <p:spPr>
          <a:xfrm>
            <a:off x="548640" y="5148072"/>
            <a:ext cx="2194560" cy="731520"/>
          </a:xfrm>
          <a:prstGeom prst="round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333333"/>
                </a:solidFill>
                <a:latin typeface="Aptos"/>
              </a:rPr>
              <a:t>Fix</a:t>
            </a:r>
          </a:p>
        </p:txBody>
      </p:sp>
      <p:sp>
        <p:nvSpPr>
          <p:cNvPr id="14" name="TextBox 13"/>
          <p:cNvSpPr txBox="1"/>
          <p:nvPr/>
        </p:nvSpPr>
        <p:spPr>
          <a:xfrm>
            <a:off x="2926080" y="5166359"/>
            <a:ext cx="8686800" cy="777240"/>
          </a:xfrm>
          <a:prstGeom prst="rect">
            <a:avLst/>
          </a:prstGeom>
          <a:noFill/>
        </p:spPr>
        <p:txBody>
          <a:bodyPr wrap="square">
            <a:spAutoFit/>
          </a:bodyPr>
          <a:lstStyle/>
          <a:p>
            <a:r>
              <a:rPr sz="1450" b="0">
                <a:solidFill>
                  <a:srgbClr val="F2F2F2"/>
                </a:solidFill>
                <a:latin typeface="Aptos"/>
              </a:rPr>
              <a:t>Change the fill to </a:t>
            </a:r>
            <a:r>
              <a:rPr sz="1450" b="0">
                <a:solidFill>
                  <a:srgbClr val="FFC220"/>
                </a:solidFill>
                <a:latin typeface="Aptos Mono"/>
              </a:rPr>
              <a:t>x"00"</a:t>
            </a:r>
            <a:r>
              <a:rPr sz="1450" b="0">
                <a:solidFill>
                  <a:srgbClr val="F2F2F2"/>
                </a:solidFill>
                <a:latin typeface="Aptos"/>
              </a:rPr>
              <a:t>. </a:t>
            </a:r>
            <a:r>
              <a:rPr sz="1450" b="1">
                <a:solidFill>
                  <a:srgbClr val="F2F2F2"/>
                </a:solidFill>
                <a:latin typeface="Aptos"/>
              </a:rPr>
              <a:t>One character.</a:t>
            </a:r>
            <a:r>
              <a:rPr sz="1450" b="0">
                <a:solidFill>
                  <a:srgbClr val="F2F2F2"/>
                </a:solidFill>
                <a:latin typeface="Aptos"/>
              </a:rPr>
              <a:t> Works perfectly, and has ever since.</a:t>
            </a:r>
          </a:p>
        </p:txBody>
      </p:sp>
      <p:sp>
        <p:nvSpPr>
          <p:cNvPr id="15" name="Rectangle 14"/>
          <p:cNvSpPr/>
          <p:nvPr/>
        </p:nvSpPr>
        <p:spPr>
          <a:xfrm>
            <a:off x="548640" y="6035040"/>
            <a:ext cx="11064240" cy="6858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2F2F2"/>
                </a:solidFill>
                <a:latin typeface="Aptos"/>
              </a:rPr>
              <a:t>Written up as a bug report against Yosys — </a:t>
            </a:r>
            <a:r>
              <a:rPr sz="1500" b="0">
                <a:solidFill>
                  <a:srgbClr val="FFC220"/>
                </a:solidFill>
                <a:latin typeface="Aptos Mono"/>
              </a:rPr>
              <a:t>docs/bug-report-yosys-rom-0xff.md</a:t>
            </a:r>
            <a:r>
              <a:rPr sz="1500" b="0">
                <a:solidFill>
                  <a:srgbClr val="F2F2F2"/>
                </a:solidFill>
                <a:latin typeface="Aptos"/>
              </a:rPr>
              <a:t>. You can only do that when the tools are open.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4 — BUILDING THE THING</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A trick worth stealing: patch firmware, skip the build</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11155680" cy="822960"/>
          </a:xfrm>
          <a:prstGeom prst="rect">
            <a:avLst/>
          </a:prstGeom>
          <a:noFill/>
        </p:spPr>
        <p:txBody>
          <a:bodyPr wrap="square">
            <a:spAutoFit/>
          </a:bodyPr>
          <a:lstStyle/>
          <a:p>
            <a:pPr>
              <a:spcAft>
                <a:spcPts val="800"/>
              </a:spcAft>
            </a:pPr>
            <a:r>
              <a:rPr sz="1700" b="0">
                <a:solidFill>
                  <a:srgbClr val="333333"/>
                </a:solidFill>
                <a:latin typeface="Aptos"/>
              </a:rPr>
              <a:t>Problem: my firmware lives in block RAM. Changing one byte of assembly meant a full 90-second resynthesis — and a new place &amp; route, so new timing, for a change that touches no logic at all.</a:t>
            </a:r>
          </a:p>
        </p:txBody>
      </p:sp>
      <p:sp>
        <p:nvSpPr>
          <p:cNvPr id="6" name="Rounded Rectangle 5"/>
          <p:cNvSpPr/>
          <p:nvPr/>
        </p:nvSpPr>
        <p:spPr>
          <a:xfrm>
            <a:off x="548640" y="2743200"/>
            <a:ext cx="1828800" cy="960120"/>
          </a:xfrm>
          <a:prstGeom prst="roundRect">
            <a:avLst/>
          </a:prstGeom>
          <a:solidFill>
            <a:srgbClr val="FFFFFF"/>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333333"/>
                </a:solidFill>
                <a:latin typeface="Aptos"/>
              </a:rPr>
              <a:t>edit .asm</a:t>
            </a:r>
          </a:p>
        </p:txBody>
      </p:sp>
      <p:cxnSp>
        <p:nvCxnSpPr>
          <p:cNvPr id="7" name="Connector 6"/>
          <p:cNvCxnSpPr/>
          <p:nvPr/>
        </p:nvCxnSpPr>
        <p:spPr>
          <a:xfrm>
            <a:off x="2432304" y="3223260"/>
            <a:ext cx="256032"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0" y="2743200"/>
            <a:ext cx="1828800" cy="960120"/>
          </a:xfrm>
          <a:prstGeom prst="roundRect">
            <a:avLst/>
          </a:prstGeom>
          <a:solidFill>
            <a:srgbClr val="FFFFFF"/>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333333"/>
                </a:solidFill>
                <a:latin typeface="Aptos"/>
              </a:rPr>
              <a:t>assemble</a:t>
            </a:r>
          </a:p>
        </p:txBody>
      </p:sp>
      <p:cxnSp>
        <p:nvCxnSpPr>
          <p:cNvPr id="9" name="Connector 8"/>
          <p:cNvCxnSpPr/>
          <p:nvPr/>
        </p:nvCxnSpPr>
        <p:spPr>
          <a:xfrm>
            <a:off x="4626864" y="3223260"/>
            <a:ext cx="256032"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37760" y="2743200"/>
            <a:ext cx="1828800" cy="960120"/>
          </a:xfrm>
          <a:prstGeom prst="roundRect">
            <a:avLst/>
          </a:prstGeom>
          <a:solidFill>
            <a:srgbClr val="FFFFFF"/>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333333"/>
                </a:solidFill>
                <a:latin typeface="Aptos"/>
              </a:rPr>
              <a:t>ecpbram</a:t>
            </a:r>
          </a:p>
          <a:p>
            <a:pPr algn="ctr"/>
            <a:r>
              <a:rPr sz="1300" b="1">
                <a:solidFill>
                  <a:srgbClr val="333333"/>
                </a:solidFill>
                <a:latin typeface="Aptos"/>
              </a:rPr>
              <a:t>patch</a:t>
            </a:r>
          </a:p>
        </p:txBody>
      </p:sp>
      <p:cxnSp>
        <p:nvCxnSpPr>
          <p:cNvPr id="11" name="Connector 10"/>
          <p:cNvCxnSpPr/>
          <p:nvPr/>
        </p:nvCxnSpPr>
        <p:spPr>
          <a:xfrm>
            <a:off x="6821424" y="3223260"/>
            <a:ext cx="256032"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32320" y="2743200"/>
            <a:ext cx="1828800" cy="960120"/>
          </a:xfrm>
          <a:prstGeom prst="roundRect">
            <a:avLst/>
          </a:prstGeom>
          <a:solidFill>
            <a:srgbClr val="FFFFFF"/>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333333"/>
                </a:solidFill>
                <a:latin typeface="Aptos"/>
              </a:rPr>
              <a:t>repack .bit</a:t>
            </a:r>
          </a:p>
        </p:txBody>
      </p:sp>
      <p:cxnSp>
        <p:nvCxnSpPr>
          <p:cNvPr id="13" name="Connector 12"/>
          <p:cNvCxnSpPr/>
          <p:nvPr/>
        </p:nvCxnSpPr>
        <p:spPr>
          <a:xfrm>
            <a:off x="9015984" y="3223260"/>
            <a:ext cx="256032" cy="0"/>
          </a:xfrm>
          <a:prstGeom prst="bentConnector3">
            <a:avLst/>
          </a:prstGeom>
          <a:ln w="25400">
            <a:solidFill>
              <a:srgbClr val="3B3F44"/>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26880" y="2743200"/>
            <a:ext cx="1828800" cy="960120"/>
          </a:xfrm>
          <a:prstGeom prst="roundRect">
            <a:avLst/>
          </a:prstGeom>
          <a:solidFill>
            <a:srgbClr val="FFFFFF"/>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333333"/>
                </a:solidFill>
                <a:latin typeface="Aptos"/>
              </a:rPr>
              <a:t>flash</a:t>
            </a:r>
          </a:p>
        </p:txBody>
      </p:sp>
      <p:sp>
        <p:nvSpPr>
          <p:cNvPr id="15" name="TextBox 14"/>
          <p:cNvSpPr txBox="1"/>
          <p:nvPr/>
        </p:nvSpPr>
        <p:spPr>
          <a:xfrm>
            <a:off x="548640" y="4114800"/>
            <a:ext cx="5577840" cy="2194560"/>
          </a:xfrm>
          <a:prstGeom prst="rect">
            <a:avLst/>
          </a:prstGeom>
          <a:noFill/>
        </p:spPr>
        <p:txBody>
          <a:bodyPr wrap="square">
            <a:spAutoFit/>
          </a:bodyPr>
          <a:lstStyle/>
          <a:p>
            <a:pPr>
              <a:spcAft>
                <a:spcPts val="1300"/>
              </a:spcAft>
            </a:pPr>
            <a:r>
              <a:rPr sz="1500" b="0">
                <a:solidFill>
                  <a:srgbClr val="333333"/>
                </a:solidFill>
                <a:latin typeface="Aptos"/>
              </a:rPr>
              <a:t>The block-RAM contents sit in the post-route </a:t>
            </a:r>
            <a:r>
              <a:rPr sz="1500" b="1">
                <a:solidFill>
                  <a:srgbClr val="333333"/>
                </a:solidFill>
                <a:latin typeface="Aptos"/>
              </a:rPr>
              <a:t>config file</a:t>
            </a:r>
            <a:r>
              <a:rPr sz="1500" b="0">
                <a:solidFill>
                  <a:srgbClr val="333333"/>
                </a:solidFill>
                <a:latin typeface="Aptos"/>
              </a:rPr>
              <a:t>, not the netlist.</a:t>
            </a:r>
          </a:p>
          <a:p>
            <a:pPr>
              <a:spcAft>
                <a:spcPts val="1300"/>
              </a:spcAft>
            </a:pPr>
            <a:r>
              <a:rPr sz="1500" b="0">
                <a:solidFill>
                  <a:srgbClr val="1F9DD8"/>
                </a:solidFill>
                <a:latin typeface="Aptos Mono"/>
              </a:rPr>
              <a:t>ecpbram</a:t>
            </a:r>
            <a:r>
              <a:rPr sz="1500" b="0">
                <a:solidFill>
                  <a:srgbClr val="333333"/>
                </a:solidFill>
                <a:latin typeface="Aptos"/>
              </a:rPr>
              <a:t> finds the old contents by pattern-matching and substitutes the new ones.</a:t>
            </a:r>
          </a:p>
          <a:p>
            <a:pPr>
              <a:spcAft>
                <a:spcPts val="1300"/>
              </a:spcAft>
            </a:pPr>
            <a:r>
              <a:rPr sz="1500" b="0">
                <a:solidFill>
                  <a:srgbClr val="333333"/>
                </a:solidFill>
                <a:latin typeface="Aptos"/>
              </a:rPr>
              <a:t>Unused ROM space is filled with </a:t>
            </a:r>
            <a:r>
              <a:rPr sz="1500" b="1">
                <a:solidFill>
                  <a:srgbClr val="333333"/>
                </a:solidFill>
                <a:latin typeface="Aptos"/>
              </a:rPr>
              <a:t>random bytes</a:t>
            </a:r>
            <a:r>
              <a:rPr sz="1500" b="0">
                <a:solidFill>
                  <a:srgbClr val="333333"/>
                </a:solidFill>
                <a:latin typeface="Aptos"/>
              </a:rPr>
              <a:t> so the match pattern is unique.</a:t>
            </a:r>
          </a:p>
        </p:txBody>
      </p:sp>
      <p:sp>
        <p:nvSpPr>
          <p:cNvPr id="16" name="Rectangle 15"/>
          <p:cNvSpPr/>
          <p:nvPr/>
        </p:nvSpPr>
        <p:spPr>
          <a:xfrm>
            <a:off x="6492240" y="4114800"/>
            <a:ext cx="5120640" cy="2194560"/>
          </a:xfrm>
          <a:prstGeom prst="rect">
            <a:avLst/>
          </a:prstGeom>
          <a:solidFill>
            <a:srgbClr val="FFF3D3"/>
          </a:solidFill>
          <a:ln w="19050">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20840" y="4297680"/>
            <a:ext cx="4663440" cy="1920240"/>
          </a:xfrm>
          <a:prstGeom prst="rect">
            <a:avLst/>
          </a:prstGeom>
          <a:noFill/>
        </p:spPr>
        <p:txBody>
          <a:bodyPr wrap="square">
            <a:spAutoFit/>
          </a:bodyPr>
          <a:lstStyle/>
          <a:p>
            <a:pPr algn="ctr"/>
            <a:r>
              <a:rPr sz="3800" b="1">
                <a:solidFill>
                  <a:srgbClr val="333333"/>
                </a:solidFill>
                <a:latin typeface="Aptos"/>
              </a:rPr>
              <a:t>90 s  →  3 s</a:t>
            </a:r>
          </a:p>
          <a:p>
            <a:pPr algn="ctr">
              <a:spcBef>
                <a:spcPts val="1000"/>
              </a:spcBef>
            </a:pPr>
            <a:r>
              <a:rPr sz="1400" b="0">
                <a:solidFill>
                  <a:srgbClr val="4A5058"/>
                </a:solidFill>
                <a:latin typeface="Aptos"/>
              </a:rPr>
              <a:t>Same bitstream, same timing, new firmware. The RTL never gets touched, so it cannot regress.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5 — PROOF</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How you know gateware is right</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11155680" cy="685800"/>
          </a:xfrm>
          <a:prstGeom prst="rect">
            <a:avLst/>
          </a:prstGeom>
          <a:noFill/>
        </p:spPr>
        <p:txBody>
          <a:bodyPr wrap="square">
            <a:spAutoFit/>
          </a:bodyPr>
          <a:lstStyle/>
          <a:p>
            <a:pPr>
              <a:spcAft>
                <a:spcPts val="800"/>
              </a:spcAft>
            </a:pPr>
            <a:r>
              <a:rPr sz="1700" b="0">
                <a:solidFill>
                  <a:srgbClr val="333333"/>
                </a:solidFill>
                <a:latin typeface="Aptos"/>
              </a:rPr>
              <a:t>You cannot printf a circuit. Verification is not a phase here — it is the medium you work in.</a:t>
            </a:r>
          </a:p>
        </p:txBody>
      </p:sp>
      <p:graphicFrame>
        <p:nvGraphicFramePr>
          <p:cNvPr id="6" name="Table 5"/>
          <p:cNvGraphicFramePr>
            <a:graphicFrameLocks noGrp="1"/>
          </p:cNvGraphicFramePr>
          <p:nvPr/>
        </p:nvGraphicFramePr>
        <p:xfrm>
          <a:off x="548640" y="2514600"/>
          <a:ext cx="6858000" cy="3017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02920">
                <a:tc>
                  <a:txBody>
                    <a:bodyPr/>
                    <a:lstStyle/>
                    <a:p>
                      <a:r>
                        <a:rPr sz="1400" b="1">
                          <a:solidFill>
                            <a:srgbClr val="FFFFFF"/>
                          </a:solidFill>
                          <a:latin typeface="Aptos"/>
                        </a:rPr>
                        <a:t>Layer</a:t>
                      </a:r>
                    </a:p>
                  </a:txBody>
                  <a:tcPr marL="109728" marR="109728" marT="36576" marB="36576" anchor="ctr">
                    <a:solidFill>
                      <a:srgbClr val="3B3F44"/>
                    </a:solidFill>
                  </a:tcPr>
                </a:tc>
                <a:tc>
                  <a:txBody>
                    <a:bodyPr/>
                    <a:lstStyle/>
                    <a:p>
                      <a:r>
                        <a:rPr sz="1400" b="1">
                          <a:solidFill>
                            <a:srgbClr val="FFFFFF"/>
                          </a:solidFill>
                          <a:latin typeface="Aptos"/>
                        </a:rPr>
                        <a:t>What it proves</a:t>
                      </a:r>
                    </a:p>
                  </a:txBody>
                  <a:tcPr marL="109728" marR="109728" marT="36576" marB="36576" anchor="ctr">
                    <a:solidFill>
                      <a:srgbClr val="3B3F44"/>
                    </a:solidFill>
                  </a:tcPr>
                </a:tc>
                <a:tc>
                  <a:txBody>
                    <a:bodyPr/>
                    <a:lstStyle/>
                    <a:p>
                      <a:r>
                        <a:rPr sz="1400" b="1">
                          <a:solidFill>
                            <a:srgbClr val="FFFFFF"/>
                          </a:solidFill>
                          <a:latin typeface="Aptos"/>
                        </a:rPr>
                        <a:t>Result</a:t>
                      </a:r>
                    </a:p>
                  </a:txBody>
                  <a:tcPr marL="109728" marR="109728" marT="36576" marB="36576" anchor="ctr">
                    <a:solidFill>
                      <a:srgbClr val="3B3F44"/>
                    </a:solidFill>
                  </a:tcPr>
                </a:tc>
                <a:extLst>
                  <a:ext uri="{0D108BD9-81ED-4DB2-BD59-A6C34878D82A}">
                    <a16:rowId xmlns:a16="http://schemas.microsoft.com/office/drawing/2014/main" val="10000"/>
                  </a:ext>
                </a:extLst>
              </a:tr>
              <a:tr h="502920">
                <a:tc>
                  <a:txBody>
                    <a:bodyPr/>
                    <a:lstStyle/>
                    <a:p>
                      <a:r>
                        <a:rPr sz="1400" b="0">
                          <a:solidFill>
                            <a:srgbClr val="333333"/>
                          </a:solidFill>
                          <a:latin typeface="Aptos"/>
                        </a:rPr>
                        <a:t>Per-module testbench</a:t>
                      </a:r>
                    </a:p>
                  </a:txBody>
                  <a:tcPr marL="109728" marR="109728" marT="36576" marB="36576" anchor="ctr">
                    <a:solidFill>
                      <a:srgbClr val="FFFFFF"/>
                    </a:solidFill>
                  </a:tcPr>
                </a:tc>
                <a:tc>
                  <a:txBody>
                    <a:bodyPr/>
                    <a:lstStyle/>
                    <a:p>
                      <a:r>
                        <a:rPr sz="1400" b="0">
                          <a:solidFill>
                            <a:srgbClr val="333333"/>
                          </a:solidFill>
                          <a:latin typeface="Aptos"/>
                        </a:rPr>
                        <a:t>Each dumb block in isolation</a:t>
                      </a:r>
                    </a:p>
                  </a:txBody>
                  <a:tcPr marL="109728" marR="109728" marT="36576" marB="36576" anchor="ctr">
                    <a:solidFill>
                      <a:srgbClr val="FFFFFF"/>
                    </a:solidFill>
                  </a:tcPr>
                </a:tc>
                <a:tc>
                  <a:txBody>
                    <a:bodyPr/>
                    <a:lstStyle/>
                    <a:p>
                      <a:r>
                        <a:rPr sz="1400" b="0">
                          <a:solidFill>
                            <a:srgbClr val="333333"/>
                          </a:solidFill>
                          <a:latin typeface="Aptos"/>
                        </a:rPr>
                        <a:t>25 modules</a:t>
                      </a:r>
                    </a:p>
                  </a:txBody>
                  <a:tcPr marL="109728" marR="109728" marT="36576" marB="36576" anchor="ctr">
                    <a:solidFill>
                      <a:srgbClr val="FFFFFF"/>
                    </a:solidFill>
                  </a:tcPr>
                </a:tc>
                <a:extLst>
                  <a:ext uri="{0D108BD9-81ED-4DB2-BD59-A6C34878D82A}">
                    <a16:rowId xmlns:a16="http://schemas.microsoft.com/office/drawing/2014/main" val="10001"/>
                  </a:ext>
                </a:extLst>
              </a:tr>
              <a:tr h="502920">
                <a:tc>
                  <a:txBody>
                    <a:bodyPr/>
                    <a:lstStyle/>
                    <a:p>
                      <a:r>
                        <a:rPr sz="1400" b="0">
                          <a:solidFill>
                            <a:srgbClr val="333333"/>
                          </a:solidFill>
                          <a:latin typeface="Aptos"/>
                        </a:rPr>
                        <a:t>Exhaustive ALU sweep</a:t>
                      </a:r>
                    </a:p>
                  </a:txBody>
                  <a:tcPr marL="109728" marR="109728" marT="36576" marB="36576" anchor="ctr">
                    <a:solidFill>
                      <a:srgbClr val="EFEFEF"/>
                    </a:solidFill>
                  </a:tcPr>
                </a:tc>
                <a:tc>
                  <a:txBody>
                    <a:bodyPr/>
                    <a:lstStyle/>
                    <a:p>
                      <a:r>
                        <a:rPr sz="1400" b="0">
                          <a:solidFill>
                            <a:srgbClr val="333333"/>
                          </a:solidFill>
                          <a:latin typeface="Aptos"/>
                        </a:rPr>
                        <a:t>All 1,049,600 arithmetic + logical cases vs a reference model</a:t>
                      </a:r>
                    </a:p>
                  </a:txBody>
                  <a:tcPr marL="109728" marR="109728" marT="36576" marB="36576" anchor="ctr">
                    <a:solidFill>
                      <a:srgbClr val="EFEFEF"/>
                    </a:solidFill>
                  </a:tcPr>
                </a:tc>
                <a:tc>
                  <a:txBody>
                    <a:bodyPr/>
                    <a:lstStyle/>
                    <a:p>
                      <a:r>
                        <a:rPr sz="1400" b="1">
                          <a:solidFill>
                            <a:srgbClr val="333333"/>
                          </a:solidFill>
                          <a:latin typeface="Aptos"/>
                        </a:rPr>
                        <a:t>PASS</a:t>
                      </a:r>
                    </a:p>
                  </a:txBody>
                  <a:tcPr marL="109728" marR="109728" marT="36576" marB="36576" anchor="ctr">
                    <a:solidFill>
                      <a:srgbClr val="EFEFEF"/>
                    </a:solidFill>
                  </a:tcPr>
                </a:tc>
                <a:extLst>
                  <a:ext uri="{0D108BD9-81ED-4DB2-BD59-A6C34878D82A}">
                    <a16:rowId xmlns:a16="http://schemas.microsoft.com/office/drawing/2014/main" val="10002"/>
                  </a:ext>
                </a:extLst>
              </a:tr>
              <a:tr h="502920">
                <a:tc>
                  <a:txBody>
                    <a:bodyPr/>
                    <a:lstStyle/>
                    <a:p>
                      <a:r>
                        <a:rPr sz="1400" b="0">
                          <a:solidFill>
                            <a:srgbClr val="333333"/>
                          </a:solidFill>
                          <a:latin typeface="Aptos"/>
                        </a:rPr>
                        <a:t>Regression suite</a:t>
                      </a:r>
                    </a:p>
                  </a:txBody>
                  <a:tcPr marL="109728" marR="109728" marT="36576" marB="36576" anchor="ctr">
                    <a:solidFill>
                      <a:srgbClr val="FFFFFF"/>
                    </a:solidFill>
                  </a:tcPr>
                </a:tc>
                <a:tc>
                  <a:txBody>
                    <a:bodyPr/>
                    <a:lstStyle/>
                    <a:p>
                      <a:r>
                        <a:rPr sz="1400" b="0">
                          <a:solidFill>
                            <a:srgbClr val="333333"/>
                          </a:solidFill>
                          <a:latin typeface="Aptos"/>
                        </a:rPr>
                        <a:t>Real assembly programs in simulation</a:t>
                      </a:r>
                    </a:p>
                  </a:txBody>
                  <a:tcPr marL="109728" marR="109728" marT="36576" marB="36576" anchor="ctr">
                    <a:solidFill>
                      <a:srgbClr val="FFFFFF"/>
                    </a:solidFill>
                  </a:tcPr>
                </a:tc>
                <a:tc>
                  <a:txBody>
                    <a:bodyPr/>
                    <a:lstStyle/>
                    <a:p>
                      <a:r>
                        <a:rPr sz="1400" b="1">
                          <a:solidFill>
                            <a:srgbClr val="333333"/>
                          </a:solidFill>
                          <a:latin typeface="Aptos"/>
                        </a:rPr>
                        <a:t>37 / 37</a:t>
                      </a:r>
                    </a:p>
                  </a:txBody>
                  <a:tcPr marL="109728" marR="109728" marT="36576" marB="36576" anchor="ctr">
                    <a:solidFill>
                      <a:srgbClr val="FFFFFF"/>
                    </a:solidFill>
                  </a:tcPr>
                </a:tc>
                <a:extLst>
                  <a:ext uri="{0D108BD9-81ED-4DB2-BD59-A6C34878D82A}">
                    <a16:rowId xmlns:a16="http://schemas.microsoft.com/office/drawing/2014/main" val="10003"/>
                  </a:ext>
                </a:extLst>
              </a:tr>
              <a:tr h="502920">
                <a:tc>
                  <a:txBody>
                    <a:bodyPr/>
                    <a:lstStyle/>
                    <a:p>
                      <a:r>
                        <a:rPr sz="1400" b="0">
                          <a:solidFill>
                            <a:srgbClr val="333333"/>
                          </a:solidFill>
                          <a:latin typeface="Aptos"/>
                        </a:rPr>
                        <a:t>Cycle-exact T-states</a:t>
                      </a:r>
                    </a:p>
                  </a:txBody>
                  <a:tcPr marL="109728" marR="109728" marT="36576" marB="36576" anchor="ctr">
                    <a:solidFill>
                      <a:srgbClr val="EFEFEF"/>
                    </a:solidFill>
                  </a:tcPr>
                </a:tc>
                <a:tc>
                  <a:txBody>
                    <a:bodyPr/>
                    <a:lstStyle/>
                    <a:p>
                      <a:r>
                        <a:rPr sz="1400" b="0">
                          <a:solidFill>
                            <a:srgbClr val="333333"/>
                          </a:solidFill>
                          <a:latin typeface="Aptos"/>
                        </a:rPr>
                        <a:t>Every timing class vs the 1972 datasheet</a:t>
                      </a:r>
                    </a:p>
                  </a:txBody>
                  <a:tcPr marL="109728" marR="109728" marT="36576" marB="36576" anchor="ctr">
                    <a:solidFill>
                      <a:srgbClr val="EFEFEF"/>
                    </a:solidFill>
                  </a:tcPr>
                </a:tc>
                <a:tc>
                  <a:txBody>
                    <a:bodyPr/>
                    <a:lstStyle/>
                    <a:p>
                      <a:r>
                        <a:rPr sz="1400" b="1">
                          <a:solidFill>
                            <a:srgbClr val="333333"/>
                          </a:solidFill>
                          <a:latin typeface="Aptos"/>
                        </a:rPr>
                        <a:t>27 / 27</a:t>
                      </a:r>
                    </a:p>
                  </a:txBody>
                  <a:tcPr marL="109728" marR="109728" marT="36576" marB="36576" anchor="ctr">
                    <a:solidFill>
                      <a:srgbClr val="EFEFEF"/>
                    </a:solidFill>
                  </a:tcPr>
                </a:tc>
                <a:extLst>
                  <a:ext uri="{0D108BD9-81ED-4DB2-BD59-A6C34878D82A}">
                    <a16:rowId xmlns:a16="http://schemas.microsoft.com/office/drawing/2014/main" val="10004"/>
                  </a:ext>
                </a:extLst>
              </a:tr>
              <a:tr h="502920">
                <a:tc>
                  <a:txBody>
                    <a:bodyPr/>
                    <a:lstStyle/>
                    <a:p>
                      <a:r>
                        <a:rPr sz="1400" b="0">
                          <a:solidFill>
                            <a:srgbClr val="333333"/>
                          </a:solidFill>
                          <a:latin typeface="Aptos"/>
                        </a:rPr>
                        <a:t>ISA self-test </a:t>
                      </a:r>
                      <a:r>
                        <a:rPr sz="1400" b="1">
                          <a:solidFill>
                            <a:srgbClr val="333333"/>
                          </a:solidFill>
                          <a:latin typeface="Aptos"/>
                        </a:rPr>
                        <a:t>on the board</a:t>
                      </a:r>
                    </a:p>
                  </a:txBody>
                  <a:tcPr marL="109728" marR="109728" marT="36576" marB="36576" anchor="ctr">
                    <a:solidFill>
                      <a:srgbClr val="FFFFFF"/>
                    </a:solidFill>
                  </a:tcPr>
                </a:tc>
                <a:tc>
                  <a:txBody>
                    <a:bodyPr/>
                    <a:lstStyle/>
                    <a:p>
                      <a:r>
                        <a:rPr sz="1400" b="0">
                          <a:solidFill>
                            <a:srgbClr val="333333"/>
                          </a:solidFill>
                          <a:latin typeface="Aptos"/>
                        </a:rPr>
                        <a:t>The final word</a:t>
                      </a:r>
                    </a:p>
                  </a:txBody>
                  <a:tcPr marL="109728" marR="109728" marT="36576" marB="36576" anchor="ctr">
                    <a:solidFill>
                      <a:srgbClr val="FFFFFF"/>
                    </a:solidFill>
                  </a:tcPr>
                </a:tc>
                <a:tc>
                  <a:txBody>
                    <a:bodyPr/>
                    <a:lstStyle/>
                    <a:p>
                      <a:r>
                        <a:rPr sz="1400" b="1">
                          <a:solidFill>
                            <a:srgbClr val="333333"/>
                          </a:solidFill>
                          <a:latin typeface="Aptos"/>
                        </a:rPr>
                        <a:t>46 / 46</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680960" y="2514600"/>
            <a:ext cx="3931920" cy="301752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0" y="2697480"/>
            <a:ext cx="3474720" cy="2743200"/>
          </a:xfrm>
          <a:prstGeom prst="rect">
            <a:avLst/>
          </a:prstGeom>
          <a:noFill/>
        </p:spPr>
        <p:txBody>
          <a:bodyPr wrap="square">
            <a:spAutoFit/>
          </a:bodyPr>
          <a:lstStyle/>
          <a:p>
            <a:r>
              <a:rPr sz="2000" b="1">
                <a:solidFill>
                  <a:srgbClr val="FFC220"/>
                </a:solidFill>
                <a:latin typeface="Aptos"/>
              </a:rPr>
              <a:t>The rule I now
live by</a:t>
            </a:r>
          </a:p>
          <a:p>
            <a:pPr>
              <a:spcBef>
                <a:spcPts val="1600"/>
              </a:spcBef>
            </a:pPr>
            <a:r>
              <a:rPr sz="1600" b="0">
                <a:solidFill>
                  <a:srgbClr val="F2F2F2"/>
                </a:solidFill>
                <a:latin typeface="Aptos"/>
              </a:rPr>
              <a:t>Simulation passing is a </a:t>
            </a:r>
            <a:r>
              <a:rPr sz="1600" b="1">
                <a:solidFill>
                  <a:srgbClr val="F2F2F2"/>
                </a:solidFill>
                <a:latin typeface="Aptos"/>
              </a:rPr>
              <a:t>hypothesis</a:t>
            </a:r>
            <a:r>
              <a:rPr sz="1600" b="0">
                <a:solidFill>
                  <a:srgbClr val="F2F2F2"/>
                </a:solidFill>
                <a:latin typeface="Aptos"/>
              </a:rPr>
              <a:t>.</a:t>
            </a:r>
          </a:p>
          <a:p>
            <a:pPr>
              <a:spcBef>
                <a:spcPts val="1000"/>
              </a:spcBef>
            </a:pPr>
            <a:r>
              <a:rPr sz="1600" b="0">
                <a:solidFill>
                  <a:srgbClr val="F2F2F2"/>
                </a:solidFill>
                <a:latin typeface="Aptos"/>
              </a:rPr>
              <a:t>Hardware is the </a:t>
            </a:r>
            <a:r>
              <a:rPr sz="1600" b="1">
                <a:solidFill>
                  <a:srgbClr val="F2F2F2"/>
                </a:solidFill>
                <a:latin typeface="Aptos"/>
              </a:rPr>
              <a:t>proof</a:t>
            </a:r>
            <a:r>
              <a:rPr sz="1600" b="0">
                <a:solidFill>
                  <a:srgbClr val="F2F2F2"/>
                </a:solidFill>
                <a:latin typeface="Aptos"/>
              </a:rPr>
              <a:t>.</a:t>
            </a:r>
          </a:p>
          <a:p>
            <a:pPr>
              <a:spcBef>
                <a:spcPts val="1600"/>
              </a:spcBef>
            </a:pPr>
            <a:r>
              <a:rPr sz="1350" b="0">
                <a:solidFill>
                  <a:srgbClr val="F2F2F2"/>
                </a:solidFill>
                <a:latin typeface="Aptos"/>
              </a:rPr>
              <a:t>Nothing is done until the board says so.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5 — PROOF</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Beyond tests: proofs, equivalence, fuzzing</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54480"/>
            <a:ext cx="11155680" cy="548640"/>
          </a:xfrm>
          <a:prstGeom prst="rect">
            <a:avLst/>
          </a:prstGeom>
          <a:noFill/>
        </p:spPr>
        <p:txBody>
          <a:bodyPr wrap="square">
            <a:spAutoFit/>
          </a:bodyPr>
          <a:lstStyle/>
          <a:p>
            <a:pPr>
              <a:spcAft>
                <a:spcPts val="800"/>
              </a:spcAft>
            </a:pPr>
            <a:r>
              <a:rPr sz="1600" b="0">
                <a:solidFill>
                  <a:srgbClr val="333333"/>
                </a:solidFill>
                <a:latin typeface="Aptos"/>
              </a:rPr>
              <a:t>Same open-source ecosystem as the build flow — YosysHQ tools, all running in CI on every push.</a:t>
            </a:r>
          </a:p>
        </p:txBody>
      </p:sp>
      <p:graphicFrame>
        <p:nvGraphicFramePr>
          <p:cNvPr id="6" name="Table 5"/>
          <p:cNvGraphicFramePr>
            <a:graphicFrameLocks noGrp="1"/>
          </p:cNvGraphicFramePr>
          <p:nvPr/>
        </p:nvGraphicFramePr>
        <p:xfrm>
          <a:off x="548640" y="2194560"/>
          <a:ext cx="1106424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33400">
                <a:tc>
                  <a:txBody>
                    <a:bodyPr/>
                    <a:lstStyle/>
                    <a:p>
                      <a:r>
                        <a:rPr sz="1350" b="1">
                          <a:solidFill>
                            <a:srgbClr val="FFFFFF"/>
                          </a:solidFill>
                          <a:latin typeface="Aptos"/>
                        </a:rPr>
                        <a:t>Layer</a:t>
                      </a:r>
                    </a:p>
                  </a:txBody>
                  <a:tcPr marL="109728" marR="109728" marT="36576" marB="36576" anchor="ctr">
                    <a:solidFill>
                      <a:srgbClr val="3B3F44"/>
                    </a:solidFill>
                  </a:tcPr>
                </a:tc>
                <a:tc>
                  <a:txBody>
                    <a:bodyPr/>
                    <a:lstStyle/>
                    <a:p>
                      <a:r>
                        <a:rPr sz="1350" b="1">
                          <a:solidFill>
                            <a:srgbClr val="FFFFFF"/>
                          </a:solidFill>
                          <a:latin typeface="Aptos"/>
                        </a:rPr>
                        <a:t>What it checks</a:t>
                      </a:r>
                    </a:p>
                  </a:txBody>
                  <a:tcPr marL="109728" marR="109728" marT="36576" marB="36576" anchor="ctr">
                    <a:solidFill>
                      <a:srgbClr val="3B3F44"/>
                    </a:solidFill>
                  </a:tcPr>
                </a:tc>
                <a:tc>
                  <a:txBody>
                    <a:bodyPr/>
                    <a:lstStyle/>
                    <a:p>
                      <a:r>
                        <a:rPr sz="1350" b="1">
                          <a:solidFill>
                            <a:srgbClr val="FFFFFF"/>
                          </a:solidFill>
                          <a:latin typeface="Aptos"/>
                        </a:rPr>
                        <a:t>Scale</a:t>
                      </a:r>
                    </a:p>
                  </a:txBody>
                  <a:tcPr marL="109728" marR="109728" marT="36576" marB="36576" anchor="ctr">
                    <a:solidFill>
                      <a:srgbClr val="3B3F44"/>
                    </a:solidFill>
                  </a:tcPr>
                </a:tc>
                <a:extLst>
                  <a:ext uri="{0D108BD9-81ED-4DB2-BD59-A6C34878D82A}">
                    <a16:rowId xmlns:a16="http://schemas.microsoft.com/office/drawing/2014/main" val="10000"/>
                  </a:ext>
                </a:extLst>
              </a:tr>
              <a:tr h="533400">
                <a:tc>
                  <a:txBody>
                    <a:bodyPr/>
                    <a:lstStyle/>
                    <a:p>
                      <a:r>
                        <a:rPr sz="1350" b="0">
                          <a:solidFill>
                            <a:srgbClr val="333333"/>
                          </a:solidFill>
                          <a:latin typeface="Aptos"/>
                        </a:rPr>
                        <a:t>SBY property proofs</a:t>
                      </a:r>
                    </a:p>
                  </a:txBody>
                  <a:tcPr marL="109728" marR="109728" marT="36576" marB="36576" anchor="ctr">
                    <a:solidFill>
                      <a:srgbClr val="FFFFFF"/>
                    </a:solidFill>
                  </a:tcPr>
                </a:tc>
                <a:tc>
                  <a:txBody>
                    <a:bodyPr/>
                    <a:lstStyle/>
                    <a:p>
                      <a:r>
                        <a:rPr sz="1350" b="0">
                          <a:solidFill>
                            <a:srgbClr val="333333"/>
                          </a:solidFill>
                          <a:latin typeface="Aptos"/>
                        </a:rPr>
                        <a:t>Module contracts as PSL assertions, proven by SMT solver (k-induction / bounded)</a:t>
                      </a:r>
                    </a:p>
                  </a:txBody>
                  <a:tcPr marL="109728" marR="109728" marT="36576" marB="36576" anchor="ctr">
                    <a:solidFill>
                      <a:srgbClr val="FFFFFF"/>
                    </a:solidFill>
                  </a:tcPr>
                </a:tc>
                <a:tc>
                  <a:txBody>
                    <a:bodyPr/>
                    <a:lstStyle/>
                    <a:p>
                      <a:r>
                        <a:rPr sz="1350" b="0">
                          <a:solidFill>
                            <a:srgbClr val="333333"/>
                          </a:solidFill>
                          <a:latin typeface="Aptos"/>
                        </a:rPr>
                        <a:t>11 suites</a:t>
                      </a:r>
                    </a:p>
                  </a:txBody>
                  <a:tcPr marL="109728" marR="109728" marT="36576" marB="36576" anchor="ctr">
                    <a:solidFill>
                      <a:srgbClr val="FFFFFF"/>
                    </a:solidFill>
                  </a:tcPr>
                </a:tc>
                <a:extLst>
                  <a:ext uri="{0D108BD9-81ED-4DB2-BD59-A6C34878D82A}">
                    <a16:rowId xmlns:a16="http://schemas.microsoft.com/office/drawing/2014/main" val="10001"/>
                  </a:ext>
                </a:extLst>
              </a:tr>
              <a:tr h="533400">
                <a:tc>
                  <a:txBody>
                    <a:bodyPr/>
                    <a:lstStyle/>
                    <a:p>
                      <a:r>
                        <a:rPr sz="1350" b="0">
                          <a:solidFill>
                            <a:srgbClr val="333333"/>
                          </a:solidFill>
                          <a:latin typeface="Aptos"/>
                        </a:rPr>
                        <a:t>Equivalence checks</a:t>
                      </a:r>
                    </a:p>
                  </a:txBody>
                  <a:tcPr marL="109728" marR="109728" marT="36576" marB="36576" anchor="ctr">
                    <a:solidFill>
                      <a:srgbClr val="EFEFEF"/>
                    </a:solidFill>
                  </a:tcPr>
                </a:tc>
                <a:tc>
                  <a:txBody>
                    <a:bodyPr/>
                    <a:lstStyle/>
                    <a:p>
                      <a:r>
                        <a:rPr sz="1350" b="0">
                          <a:solidFill>
                            <a:srgbClr val="333333"/>
                          </a:solidFill>
                          <a:latin typeface="Aptos"/>
                        </a:rPr>
                        <a:t>RTL vs its synthesized gate netlist (Yosys round trip)</a:t>
                      </a:r>
                    </a:p>
                  </a:txBody>
                  <a:tcPr marL="109728" marR="109728" marT="36576" marB="36576" anchor="ctr">
                    <a:solidFill>
                      <a:srgbClr val="EFEFEF"/>
                    </a:solidFill>
                  </a:tcPr>
                </a:tc>
                <a:tc>
                  <a:txBody>
                    <a:bodyPr/>
                    <a:lstStyle/>
                    <a:p>
                      <a:r>
                        <a:rPr sz="1350" b="0">
                          <a:solidFill>
                            <a:srgbClr val="333333"/>
                          </a:solidFill>
                          <a:latin typeface="Aptos"/>
                        </a:rPr>
                        <a:t>7 miters + 6 EQY</a:t>
                      </a:r>
                    </a:p>
                  </a:txBody>
                  <a:tcPr marL="109728" marR="109728" marT="36576" marB="36576" anchor="ctr">
                    <a:solidFill>
                      <a:srgbClr val="EFEFEF"/>
                    </a:solidFill>
                  </a:tcPr>
                </a:tc>
                <a:extLst>
                  <a:ext uri="{0D108BD9-81ED-4DB2-BD59-A6C34878D82A}">
                    <a16:rowId xmlns:a16="http://schemas.microsoft.com/office/drawing/2014/main" val="10002"/>
                  </a:ext>
                </a:extLst>
              </a:tr>
              <a:tr h="533400">
                <a:tc>
                  <a:txBody>
                    <a:bodyPr/>
                    <a:lstStyle/>
                    <a:p>
                      <a:r>
                        <a:rPr sz="1350" b="0">
                          <a:solidFill>
                            <a:srgbClr val="333333"/>
                          </a:solidFill>
                          <a:latin typeface="Aptos"/>
                        </a:rPr>
                        <a:t>Exhaustive sweeps</a:t>
                      </a:r>
                    </a:p>
                  </a:txBody>
                  <a:tcPr marL="109728" marR="109728" marT="36576" marB="36576" anchor="ctr">
                    <a:solidFill>
                      <a:srgbClr val="FFFFFF"/>
                    </a:solidFill>
                  </a:tcPr>
                </a:tc>
                <a:tc>
                  <a:txBody>
                    <a:bodyPr/>
                    <a:lstStyle/>
                    <a:p>
                      <a:r>
                        <a:rPr sz="1350" b="0">
                          <a:solidFill>
                            <a:srgbClr val="333333"/>
                          </a:solidFill>
                          <a:latin typeface="Aptos"/>
                        </a:rPr>
                        <a:t>ALU and instruction decoder vs independent Python models</a:t>
                      </a:r>
                    </a:p>
                  </a:txBody>
                  <a:tcPr marL="109728" marR="109728" marT="36576" marB="36576" anchor="ctr">
                    <a:solidFill>
                      <a:srgbClr val="FFFFFF"/>
                    </a:solidFill>
                  </a:tcPr>
                </a:tc>
                <a:tc>
                  <a:txBody>
                    <a:bodyPr/>
                    <a:lstStyle/>
                    <a:p>
                      <a:r>
                        <a:rPr sz="1350" b="0">
                          <a:solidFill>
                            <a:srgbClr val="333333"/>
                          </a:solidFill>
                          <a:latin typeface="Aptos"/>
                        </a:rPr>
                        <a:t>1,049,600 + 256 cases</a:t>
                      </a:r>
                    </a:p>
                  </a:txBody>
                  <a:tcPr marL="109728" marR="109728" marT="36576" marB="36576" anchor="ctr">
                    <a:solidFill>
                      <a:srgbClr val="FFFFFF"/>
                    </a:solidFill>
                  </a:tcPr>
                </a:tc>
                <a:extLst>
                  <a:ext uri="{0D108BD9-81ED-4DB2-BD59-A6C34878D82A}">
                    <a16:rowId xmlns:a16="http://schemas.microsoft.com/office/drawing/2014/main" val="10003"/>
                  </a:ext>
                </a:extLst>
              </a:tr>
              <a:tr h="533400">
                <a:tc>
                  <a:txBody>
                    <a:bodyPr/>
                    <a:lstStyle/>
                    <a:p>
                      <a:r>
                        <a:rPr sz="1350" b="0">
                          <a:solidFill>
                            <a:srgbClr val="333333"/>
                          </a:solidFill>
                          <a:latin typeface="Aptos"/>
                        </a:rPr>
                        <a:t>cocotb monitors</a:t>
                      </a:r>
                    </a:p>
                  </a:txBody>
                  <a:tcPr marL="109728" marR="109728" marT="36576" marB="36576" anchor="ctr">
                    <a:solidFill>
                      <a:srgbClr val="EFEFEF"/>
                    </a:solidFill>
                  </a:tcPr>
                </a:tc>
                <a:tc>
                  <a:txBody>
                    <a:bodyPr/>
                    <a:lstStyle/>
                    <a:p>
                      <a:r>
                        <a:rPr sz="1350" b="0">
                          <a:solidFill>
                            <a:srgbClr val="333333"/>
                          </a:solidFill>
                          <a:latin typeface="Aptos"/>
                        </a:rPr>
                        <a:t>External bus protocol on the full core; per-instruction control-signal scenarios</a:t>
                      </a:r>
                    </a:p>
                  </a:txBody>
                  <a:tcPr marL="109728" marR="109728" marT="36576" marB="36576" anchor="ctr">
                    <a:solidFill>
                      <a:srgbClr val="EFEFEF"/>
                    </a:solidFill>
                  </a:tcPr>
                </a:tc>
                <a:tc>
                  <a:txBody>
                    <a:bodyPr/>
                    <a:lstStyle/>
                    <a:p>
                      <a:r>
                        <a:rPr sz="1350" b="0">
                          <a:solidFill>
                            <a:srgbClr val="333333"/>
                          </a:solidFill>
                          <a:latin typeface="Aptos"/>
                        </a:rPr>
                        <a:t>RTL + netlist</a:t>
                      </a:r>
                    </a:p>
                  </a:txBody>
                  <a:tcPr marL="109728" marR="109728" marT="36576" marB="36576" anchor="ctr">
                    <a:solidFill>
                      <a:srgbClr val="EFEFEF"/>
                    </a:solidFill>
                  </a:tcPr>
                </a:tc>
                <a:extLst>
                  <a:ext uri="{0D108BD9-81ED-4DB2-BD59-A6C34878D82A}">
                    <a16:rowId xmlns:a16="http://schemas.microsoft.com/office/drawing/2014/main" val="10004"/>
                  </a:ext>
                </a:extLst>
              </a:tr>
              <a:tr h="533400">
                <a:tc>
                  <a:txBody>
                    <a:bodyPr/>
                    <a:lstStyle/>
                    <a:p>
                      <a:r>
                        <a:rPr sz="1350" b="0">
                          <a:solidFill>
                            <a:srgbClr val="333333"/>
                          </a:solidFill>
                          <a:latin typeface="Aptos"/>
                        </a:rPr>
                        <a:t>Differential fuzzer</a:t>
                      </a:r>
                    </a:p>
                  </a:txBody>
                  <a:tcPr marL="109728" marR="109728" marT="36576" marB="36576" anchor="ctr">
                    <a:solidFill>
                      <a:srgbClr val="FFFFFF"/>
                    </a:solidFill>
                  </a:tcPr>
                </a:tc>
                <a:tc>
                  <a:txBody>
                    <a:bodyPr/>
                    <a:lstStyle/>
                    <a:p>
                      <a:r>
                        <a:rPr sz="1350" b="0">
                          <a:solidFill>
                            <a:srgbClr val="333333"/>
                          </a:solidFill>
                          <a:latin typeface="Aptos"/>
                        </a:rPr>
                        <a:t>Random legal programs under three oracles: bus monitor, datasheet timing, RTL-vs-netlist trace diff</a:t>
                      </a:r>
                    </a:p>
                  </a:txBody>
                  <a:tcPr marL="109728" marR="109728" marT="36576" marB="36576" anchor="ctr">
                    <a:solidFill>
                      <a:srgbClr val="FFFFFF"/>
                    </a:solidFill>
                  </a:tcPr>
                </a:tc>
                <a:tc>
                  <a:txBody>
                    <a:bodyPr/>
                    <a:lstStyle/>
                    <a:p>
                      <a:r>
                        <a:rPr sz="1350" b="0">
                          <a:solidFill>
                            <a:srgbClr val="333333"/>
                          </a:solidFill>
                          <a:latin typeface="Aptos"/>
                        </a:rPr>
                        <a:t>seeded, both cores</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548640" y="5623560"/>
            <a:ext cx="11064240" cy="777240"/>
          </a:xfrm>
          <a:prstGeom prst="rect">
            <a:avLst/>
          </a:prstGeom>
          <a:solidFill>
            <a:srgbClr val="FFF3D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a:solidFill>
                  <a:srgbClr val="333333"/>
                </a:solidFill>
                <a:latin typeface="Aptos"/>
              </a:rPr>
              <a:t>37 CI jobs on every push  ·  every checker mutation-tested  ·  verification plan: 102 rows, zero gaps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LIVE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The circuit, running</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ttice_logo_ondark.png"/>
          <p:cNvPicPr>
            <a:picLocks noChangeAspect="1"/>
          </p:cNvPicPr>
          <p:nvPr/>
        </p:nvPicPr>
        <p:blipFill>
          <a:blip r:embed="rId3"/>
          <a:stretch>
            <a:fillRect/>
          </a:stretch>
        </p:blipFill>
        <p:spPr>
          <a:xfrm>
            <a:off x="9982462" y="320040"/>
            <a:ext cx="1706313" cy="310896"/>
          </a:xfrm>
          <a:prstGeom prst="rect">
            <a:avLst/>
          </a:prstGeom>
          <a:effectLst/>
        </p:spPr>
      </p:pic>
      <p:sp>
        <p:nvSpPr>
          <p:cNvPr id="6" name="TextBox 5"/>
          <p:cNvSpPr txBox="1"/>
          <p:nvPr/>
        </p:nvSpPr>
        <p:spPr>
          <a:xfrm>
            <a:off x="548640" y="1828800"/>
            <a:ext cx="6400800" cy="4023360"/>
          </a:xfrm>
          <a:prstGeom prst="rect">
            <a:avLst/>
          </a:prstGeom>
          <a:noFill/>
        </p:spPr>
        <p:txBody>
          <a:bodyPr wrap="square">
            <a:spAutoFit/>
          </a:bodyPr>
          <a:lstStyle/>
          <a:p>
            <a:pPr>
              <a:spcAft>
                <a:spcPts val="1800"/>
              </a:spcAft>
            </a:pPr>
            <a:r>
              <a:rPr sz="1700" b="0">
                <a:solidFill>
                  <a:srgbClr val="F2F2F2"/>
                </a:solidFill>
                <a:latin typeface="Aptos"/>
              </a:rPr>
              <a:t>•  </a:t>
            </a:r>
            <a:r>
              <a:rPr sz="1700" b="1">
                <a:solidFill>
                  <a:srgbClr val="F2F2F2"/>
                </a:solidFill>
                <a:latin typeface="Aptos"/>
              </a:rPr>
              <a:t>The clocks</a:t>
            </a:r>
            <a:r>
              <a:rPr sz="1700" b="0">
                <a:solidFill>
                  <a:srgbClr val="F2F2F2"/>
                </a:solidFill>
                <a:latin typeface="Aptos"/>
              </a:rPr>
              <a:t> — φ1 / φ2 on the scope, generated by the fabric</a:t>
            </a:r>
          </a:p>
          <a:p>
            <a:pPr>
              <a:spcAft>
                <a:spcPts val="1800"/>
              </a:spcAft>
            </a:pPr>
            <a:r>
              <a:rPr sz="1700" b="0">
                <a:solidFill>
                  <a:srgbClr val="F2F2F2"/>
                </a:solidFill>
                <a:latin typeface="Aptos"/>
              </a:rPr>
              <a:t>•  </a:t>
            </a:r>
            <a:r>
              <a:rPr sz="1700" b="1">
                <a:solidFill>
                  <a:srgbClr val="F2F2F2"/>
                </a:solidFill>
                <a:latin typeface="Aptos"/>
              </a:rPr>
              <a:t>Pi to 50 digits</a:t>
            </a:r>
            <a:r>
              <a:rPr sz="1700" b="0">
                <a:solidFill>
                  <a:srgbClr val="F2F2F2"/>
                </a:solidFill>
                <a:latin typeface="Aptos"/>
              </a:rPr>
              <a:t> — multiprecision arithmetic, ~75 s at 500 kHz</a:t>
            </a:r>
          </a:p>
          <a:p>
            <a:pPr>
              <a:spcAft>
                <a:spcPts val="1800"/>
              </a:spcAft>
            </a:pPr>
            <a:r>
              <a:rPr sz="1700" b="0">
                <a:solidFill>
                  <a:srgbClr val="F2F2F2"/>
                </a:solidFill>
                <a:latin typeface="Aptos"/>
              </a:rPr>
              <a:t>•  </a:t>
            </a:r>
            <a:r>
              <a:rPr sz="1700" b="1">
                <a:solidFill>
                  <a:srgbClr val="F2F2F2"/>
                </a:solidFill>
                <a:latin typeface="Aptos"/>
              </a:rPr>
              <a:t>SCELBI floating-point calculator (1974)</a:t>
            </a:r>
            <a:r>
              <a:rPr sz="1700" b="0">
                <a:solidFill>
                  <a:srgbClr val="F2F2F2"/>
                </a:solidFill>
                <a:latin typeface="Aptos"/>
              </a:rPr>
              <a:t> — </a:t>
            </a:r>
            <a:r>
              <a:rPr sz="1700" b="0">
                <a:solidFill>
                  <a:srgbClr val="FFC220"/>
                </a:solidFill>
                <a:latin typeface="Aptos Mono"/>
              </a:rPr>
              <a:t>12.2 X 2.2 = 26.84</a:t>
            </a:r>
          </a:p>
          <a:p>
            <a:pPr>
              <a:spcAft>
                <a:spcPts val="1800"/>
              </a:spcAft>
            </a:pPr>
            <a:r>
              <a:rPr sz="1700" b="0">
                <a:solidFill>
                  <a:srgbClr val="F2F2F2"/>
                </a:solidFill>
                <a:latin typeface="Aptos"/>
              </a:rPr>
              <a:t>•  </a:t>
            </a:r>
            <a:r>
              <a:rPr sz="1700" b="1">
                <a:solidFill>
                  <a:srgbClr val="F2F2F2"/>
                </a:solidFill>
                <a:latin typeface="Aptos"/>
              </a:rPr>
              <a:t>The finale</a:t>
            </a:r>
            <a:r>
              <a:rPr sz="1700" b="0">
                <a:solidFill>
                  <a:srgbClr val="F2F2F2"/>
                </a:solidFill>
                <a:latin typeface="Aptos"/>
              </a:rPr>
              <a:t> — power on → BASIC → </a:t>
            </a:r>
            <a:r>
              <a:rPr sz="1700" b="0">
                <a:solidFill>
                  <a:srgbClr val="FFC220"/>
                </a:solidFill>
                <a:latin typeface="Aptos Mono"/>
              </a:rPr>
              <a:t>MON</a:t>
            </a:r>
            <a:r>
              <a:rPr sz="1700" b="0">
                <a:solidFill>
                  <a:srgbClr val="F2F2F2"/>
                </a:solidFill>
                <a:latin typeface="Aptos"/>
              </a:rPr>
              <a:t> → machine monitor → </a:t>
            </a:r>
            <a:r>
              <a:rPr sz="1700" b="0">
                <a:solidFill>
                  <a:srgbClr val="FFC220"/>
                </a:solidFill>
                <a:latin typeface="Aptos Mono"/>
              </a:rPr>
              <a:t>G 1FB6</a:t>
            </a:r>
            <a:r>
              <a:rPr sz="1700" b="0">
                <a:solidFill>
                  <a:srgbClr val="F2F2F2"/>
                </a:solidFill>
                <a:latin typeface="Aptos"/>
              </a:rPr>
              <a:t> → back in BASIC, program intact</a:t>
            </a:r>
          </a:p>
        </p:txBody>
      </p:sp>
      <p:pic>
        <p:nvPicPr>
          <p:cNvPr id="7" name="Picture 6" descr="two_phase_oscope_cap_1.png"/>
          <p:cNvPicPr>
            <a:picLocks noChangeAspect="1"/>
          </p:cNvPicPr>
          <p:nvPr/>
        </p:nvPicPr>
        <p:blipFill>
          <a:blip r:embed="rId4"/>
          <a:stretch>
            <a:fillRect/>
          </a:stretch>
        </p:blipFill>
        <p:spPr>
          <a:xfrm>
            <a:off x="7223760" y="1828800"/>
            <a:ext cx="3048000" cy="1828800"/>
          </a:xfrm>
          <a:prstGeom prst="rect">
            <a:avLst/>
          </a:prstGeom>
          <a:ln w="9525">
            <a:solidFill>
              <a:srgbClr val="8D8D8D"/>
            </a:solidFill>
          </a:ln>
          <a:effectLst/>
        </p:spPr>
      </p:pic>
      <p:sp>
        <p:nvSpPr>
          <p:cNvPr id="8" name="TextBox 7"/>
          <p:cNvSpPr txBox="1"/>
          <p:nvPr/>
        </p:nvSpPr>
        <p:spPr>
          <a:xfrm>
            <a:off x="7223760" y="3730752"/>
            <a:ext cx="4480560" cy="365760"/>
          </a:xfrm>
          <a:prstGeom prst="rect">
            <a:avLst/>
          </a:prstGeom>
          <a:noFill/>
        </p:spPr>
        <p:txBody>
          <a:bodyPr wrap="square">
            <a:spAutoFit/>
          </a:bodyPr>
          <a:lstStyle/>
          <a:p>
            <a:r>
              <a:rPr sz="1200" i="1">
                <a:solidFill>
                  <a:srgbClr val="9AA0A8"/>
                </a:solidFill>
                <a:latin typeface="Aptos"/>
              </a:rPr>
              <a:t>φ1 / φ2 from the FPGA — non-overlapping, 0.8 µs and 0.6 µs</a:t>
            </a:r>
          </a:p>
        </p:txBody>
      </p:sp>
      <p:pic>
        <p:nvPicPr>
          <p:cNvPr id="9" name="Picture 8" descr="tiny_os_scelbal.png"/>
          <p:cNvPicPr>
            <a:picLocks noChangeAspect="1"/>
          </p:cNvPicPr>
          <p:nvPr/>
        </p:nvPicPr>
        <p:blipFill>
          <a:blip r:embed="rId5"/>
          <a:stretch>
            <a:fillRect/>
          </a:stretch>
        </p:blipFill>
        <p:spPr>
          <a:xfrm>
            <a:off x="7223760" y="4160520"/>
            <a:ext cx="3135595" cy="2194559"/>
          </a:xfrm>
          <a:prstGeom prst="rect">
            <a:avLst/>
          </a:prstGeom>
          <a:ln w="9525">
            <a:solidFill>
              <a:srgbClr val="8D8D8D"/>
            </a:solid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FFC220"/>
                </a:solidFill>
                <a:latin typeface="Aptos"/>
              </a:rPr>
              <a:t>PART 6 — HOW THIS GOT BUILT</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F2F2F2"/>
                </a:solidFill>
                <a:latin typeface="Aptos"/>
              </a:rPr>
              <a:t>Three versions, eighteen months</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71600"/>
            <a:ext cx="11064240" cy="584775"/>
          </a:xfrm>
          <a:prstGeom prst="rect">
            <a:avLst/>
          </a:prstGeom>
          <a:noFill/>
        </p:spPr>
        <p:txBody>
          <a:bodyPr wrap="square">
            <a:spAutoFit/>
          </a:bodyPr>
          <a:lstStyle/>
          <a:p>
            <a:pPr>
              <a:spcAft>
                <a:spcPts val="800"/>
              </a:spcAft>
            </a:pPr>
            <a:r>
              <a:rPr sz="1600" b="0" dirty="0">
                <a:solidFill>
                  <a:srgbClr val="F2F2F2"/>
                </a:solidFill>
                <a:latin typeface="Aptos"/>
              </a:rPr>
              <a:t>Eighteen months ago I could not read a VHDL </a:t>
            </a:r>
            <a:r>
              <a:rPr sz="1600" b="0" dirty="0">
                <a:solidFill>
                  <a:srgbClr val="FFC220"/>
                </a:solidFill>
                <a:latin typeface="Aptos Mono"/>
              </a:rPr>
              <a:t>process</a:t>
            </a:r>
            <a:r>
              <a:rPr sz="1600" b="0" dirty="0">
                <a:solidFill>
                  <a:srgbClr val="F2F2F2"/>
                </a:solidFill>
                <a:latin typeface="Aptos"/>
              </a:rPr>
              <a:t>. </a:t>
            </a:r>
            <a:r>
              <a:rPr sz="1600" b="1" dirty="0">
                <a:solidFill>
                  <a:srgbClr val="F2F2F2"/>
                </a:solidFill>
                <a:latin typeface="Aptos"/>
              </a:rPr>
              <a:t>Most of the VHDL here was </a:t>
            </a:r>
            <a:r>
              <a:rPr sz="1600" b="1" u="sng" dirty="0">
                <a:solidFill>
                  <a:srgbClr val="F2F2F2"/>
                </a:solidFill>
                <a:latin typeface="Aptos"/>
              </a:rPr>
              <a:t>drafted</a:t>
            </a:r>
            <a:r>
              <a:rPr sz="1600" b="1" dirty="0">
                <a:solidFill>
                  <a:srgbClr val="F2F2F2"/>
                </a:solidFill>
                <a:latin typeface="Aptos"/>
              </a:rPr>
              <a:t> by AI</a:t>
            </a:r>
            <a:r>
              <a:rPr sz="1600" b="0" dirty="0">
                <a:solidFill>
                  <a:srgbClr val="F2F2F2"/>
                </a:solidFill>
                <a:latin typeface="Aptos"/>
              </a:rPr>
              <a:t> — the architecture, the spec, and every review were mine.</a:t>
            </a:r>
          </a:p>
        </p:txBody>
      </p:sp>
      <p:sp>
        <p:nvSpPr>
          <p:cNvPr id="6" name="Rectangle 5"/>
          <p:cNvSpPr/>
          <p:nvPr/>
        </p:nvSpPr>
        <p:spPr>
          <a:xfrm>
            <a:off x="548640" y="1901952"/>
            <a:ext cx="2560320" cy="29718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219456" rIns="128016" rtlCol="0" anchor="ctr"/>
          <a:lstStyle/>
          <a:p>
            <a:pPr algn="l"/>
            <a:r>
              <a:rPr sz="1050" b="1">
                <a:solidFill>
                  <a:srgbClr val="FFC220"/>
                </a:solidFill>
                <a:latin typeface="Aptos"/>
              </a:rPr>
              <a:t>STEP ZERO</a:t>
            </a:r>
          </a:p>
          <a:p>
            <a:pPr algn="l">
              <a:spcBef>
                <a:spcPts val="700"/>
              </a:spcBef>
            </a:pPr>
            <a:r>
              <a:rPr sz="1900" b="1">
                <a:solidFill>
                  <a:srgbClr val="F2F2F2"/>
                </a:solidFill>
                <a:latin typeface="Aptos"/>
              </a:rPr>
              <a:t>The book</a:t>
            </a:r>
          </a:p>
          <a:p>
            <a:pPr algn="l">
              <a:spcBef>
                <a:spcPts val="900"/>
              </a:spcBef>
            </a:pPr>
            <a:r>
              <a:rPr sz="1200">
                <a:solidFill>
                  <a:srgbClr val="B6BCC4"/>
                </a:solidFill>
                <a:latin typeface="Aptos"/>
              </a:rPr>
              <a:t>Getting Started with FPGAs —
Russell Merrick, No Starch Press.</a:t>
            </a:r>
          </a:p>
          <a:p>
            <a:pPr algn="l">
              <a:spcBef>
                <a:spcPts val="1100"/>
              </a:spcBef>
            </a:pPr>
            <a:r>
              <a:rPr sz="1200" b="1">
                <a:solidFill>
                  <a:srgbClr val="B6BCC4"/>
                </a:solidFill>
                <a:latin typeface="Aptos"/>
              </a:rPr>
              <a:t>Cover to cover before I wrote
a line of VHDL.</a:t>
            </a:r>
          </a:p>
        </p:txBody>
      </p:sp>
      <p:sp>
        <p:nvSpPr>
          <p:cNvPr id="7" name="Rectangle 6"/>
          <p:cNvSpPr/>
          <p:nvPr/>
        </p:nvSpPr>
        <p:spPr>
          <a:xfrm>
            <a:off x="548640" y="1901952"/>
            <a:ext cx="256032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337560" y="1901952"/>
            <a:ext cx="2560320" cy="29718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219456" rIns="128016" rtlCol="0" anchor="ctr"/>
          <a:lstStyle/>
          <a:p>
            <a:pPr algn="l"/>
            <a:r>
              <a:rPr sz="1050" b="1">
                <a:solidFill>
                  <a:srgbClr val="E09A95"/>
                </a:solidFill>
                <a:latin typeface="Aptos"/>
              </a:rPr>
              <a:t>VERSION 1</a:t>
            </a:r>
          </a:p>
          <a:p>
            <a:pPr algn="l">
              <a:spcBef>
                <a:spcPts val="700"/>
              </a:spcBef>
            </a:pPr>
            <a:r>
              <a:rPr sz="1900" b="1">
                <a:solidFill>
                  <a:srgbClr val="F2F2F2"/>
                </a:solidFill>
                <a:latin typeface="Aptos Mono"/>
              </a:rPr>
              <a:t>s8008</a:t>
            </a:r>
          </a:p>
          <a:p>
            <a:pPr algn="l">
              <a:spcBef>
                <a:spcPts val="900"/>
              </a:spcBef>
            </a:pPr>
            <a:r>
              <a:rPr sz="1200">
                <a:solidFill>
                  <a:srgbClr val="B6BCC4"/>
                </a:solidFill>
                <a:latin typeface="Aptos"/>
              </a:rPr>
              <a:t>Monolithic, single-cycle.
1,500 lines in one file.</a:t>
            </a:r>
          </a:p>
          <a:p>
            <a:pPr algn="l">
              <a:spcBef>
                <a:spcPts val="1100"/>
              </a:spcBef>
            </a:pPr>
            <a:r>
              <a:rPr sz="1200" b="1">
                <a:solidFill>
                  <a:srgbClr val="E09A95"/>
                </a:solidFill>
                <a:latin typeface="Aptos"/>
              </a:rPr>
              <a:t>✗  Passed its entire simulation
suite. ALU returned garbage
on the board.</a:t>
            </a:r>
          </a:p>
        </p:txBody>
      </p:sp>
      <p:sp>
        <p:nvSpPr>
          <p:cNvPr id="9" name="Rectangle 8"/>
          <p:cNvSpPr/>
          <p:nvPr/>
        </p:nvSpPr>
        <p:spPr>
          <a:xfrm>
            <a:off x="3337560" y="1901952"/>
            <a:ext cx="2560320" cy="82296"/>
          </a:xfrm>
          <a:prstGeom prst="rect">
            <a:avLst/>
          </a:prstGeom>
          <a:solidFill>
            <a:srgbClr val="9B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79" y="1901952"/>
            <a:ext cx="2560320" cy="29718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219456" rIns="128016" rtlCol="0" anchor="ctr"/>
          <a:lstStyle/>
          <a:p>
            <a:pPr algn="l"/>
            <a:r>
              <a:rPr sz="1050" b="1">
                <a:solidFill>
                  <a:srgbClr val="E09A95"/>
                </a:solidFill>
                <a:latin typeface="Aptos"/>
              </a:rPr>
              <a:t>VERSION 2</a:t>
            </a:r>
          </a:p>
          <a:p>
            <a:pPr algn="l">
              <a:spcBef>
                <a:spcPts val="700"/>
              </a:spcBef>
            </a:pPr>
            <a:r>
              <a:rPr sz="1900" b="1">
                <a:solidFill>
                  <a:srgbClr val="F2F2F2"/>
                </a:solidFill>
                <a:latin typeface="Aptos Mono"/>
              </a:rPr>
              <a:t>v8008</a:t>
            </a:r>
          </a:p>
          <a:p>
            <a:pPr algn="l">
              <a:spcBef>
                <a:spcPts val="900"/>
              </a:spcBef>
            </a:pPr>
            <a:r>
              <a:rPr sz="1200">
                <a:solidFill>
                  <a:srgbClr val="B6BCC4"/>
                </a:solidFill>
                <a:latin typeface="Aptos"/>
              </a:rPr>
              <a:t>Multi-cycle rewrite.
Too clever, too entangled.</a:t>
            </a:r>
          </a:p>
          <a:p>
            <a:pPr algn="l">
              <a:spcBef>
                <a:spcPts val="1100"/>
              </a:spcBef>
            </a:pPr>
            <a:r>
              <a:rPr sz="1200" b="1">
                <a:solidFill>
                  <a:srgbClr val="E09A95"/>
                </a:solidFill>
                <a:latin typeface="Aptos"/>
              </a:rPr>
              <a:t>✗  Collapsed under its own
complexity.</a:t>
            </a:r>
          </a:p>
        </p:txBody>
      </p:sp>
      <p:sp>
        <p:nvSpPr>
          <p:cNvPr id="11" name="Rectangle 10"/>
          <p:cNvSpPr/>
          <p:nvPr/>
        </p:nvSpPr>
        <p:spPr>
          <a:xfrm>
            <a:off x="6126479" y="1901952"/>
            <a:ext cx="2560320" cy="82296"/>
          </a:xfrm>
          <a:prstGeom prst="rect">
            <a:avLst/>
          </a:prstGeom>
          <a:solidFill>
            <a:srgbClr val="9B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915400" y="1901952"/>
            <a:ext cx="2560320" cy="29718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219456" rIns="128016" rtlCol="0" anchor="ctr"/>
          <a:lstStyle/>
          <a:p>
            <a:pPr algn="l"/>
            <a:r>
              <a:rPr sz="1050" b="1">
                <a:solidFill>
                  <a:srgbClr val="FFC220"/>
                </a:solidFill>
                <a:latin typeface="Aptos"/>
              </a:rPr>
              <a:t>VERSION 3</a:t>
            </a:r>
          </a:p>
          <a:p>
            <a:pPr algn="l">
              <a:spcBef>
                <a:spcPts val="700"/>
              </a:spcBef>
            </a:pPr>
            <a:r>
              <a:rPr sz="1900" b="1">
                <a:solidFill>
                  <a:srgbClr val="F2F2F2"/>
                </a:solidFill>
                <a:latin typeface="Aptos Mono"/>
              </a:rPr>
              <a:t>b8008</a:t>
            </a:r>
          </a:p>
          <a:p>
            <a:pPr algn="l">
              <a:spcBef>
                <a:spcPts val="900"/>
              </a:spcBef>
            </a:pPr>
            <a:r>
              <a:rPr sz="1200">
                <a:solidFill>
                  <a:srgbClr val="B6BCC4"/>
                </a:solidFill>
                <a:latin typeface="Aptos"/>
              </a:rPr>
              <a:t>25 dumb modules, derived from
the 1972 block diagram.</a:t>
            </a:r>
          </a:p>
          <a:p>
            <a:pPr algn="l">
              <a:spcBef>
                <a:spcPts val="1100"/>
              </a:spcBef>
            </a:pPr>
            <a:r>
              <a:rPr sz="1200" b="1">
                <a:solidFill>
                  <a:srgbClr val="FFC220"/>
                </a:solidFill>
                <a:latin typeface="Aptos"/>
              </a:rPr>
              <a:t>✓  Silicon validated.
46/46 on the board.</a:t>
            </a:r>
          </a:p>
        </p:txBody>
      </p:sp>
      <p:sp>
        <p:nvSpPr>
          <p:cNvPr id="13" name="Rectangle 12"/>
          <p:cNvSpPr/>
          <p:nvPr/>
        </p:nvSpPr>
        <p:spPr>
          <a:xfrm>
            <a:off x="8915400" y="1901952"/>
            <a:ext cx="2560320" cy="8229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074920"/>
            <a:ext cx="11064240" cy="1280160"/>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wrap="square" lIns="320040" rIns="320040" rtlCol="0" anchor="ctr"/>
          <a:lstStyle/>
          <a:p>
            <a:pPr algn="ctr"/>
            <a:r>
              <a:rPr sz="1800" b="0">
                <a:solidFill>
                  <a:srgbClr val="F2F2F2"/>
                </a:solidFill>
                <a:latin typeface="Aptos"/>
              </a:rPr>
              <a:t>Both failures were the </a:t>
            </a:r>
            <a:r>
              <a:rPr sz="1800" b="1">
                <a:solidFill>
                  <a:srgbClr val="F2F2F2"/>
                </a:solidFill>
                <a:latin typeface="Aptos"/>
              </a:rPr>
              <a:t>same</a:t>
            </a:r>
            <a:r>
              <a:rPr sz="1800" b="0">
                <a:solidFill>
                  <a:srgbClr val="F2F2F2"/>
                </a:solidFill>
                <a:latin typeface="Aptos"/>
              </a:rPr>
              <a:t> failure: I was building the architecture the corpus knew — an instruction-set simulator written in VHDL — instead of the one the datasheet drew.</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6 — HOW THIS GOT BUILT</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What it did, and what I had to learn</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697480" y="1627632"/>
            <a:ext cx="4114800" cy="320040"/>
          </a:xfrm>
          <a:prstGeom prst="rect">
            <a:avLst/>
          </a:prstGeom>
          <a:noFill/>
        </p:spPr>
        <p:txBody>
          <a:bodyPr wrap="square">
            <a:spAutoFit/>
          </a:bodyPr>
          <a:lstStyle/>
          <a:p>
            <a:r>
              <a:rPr sz="1100" b="1">
                <a:solidFill>
                  <a:srgbClr val="8D8D8D"/>
                </a:solidFill>
                <a:latin typeface="Aptos"/>
              </a:rPr>
              <a:t>WHAT THE AI DID</a:t>
            </a:r>
          </a:p>
        </p:txBody>
      </p:sp>
      <p:sp>
        <p:nvSpPr>
          <p:cNvPr id="6" name="TextBox 5"/>
          <p:cNvSpPr txBox="1"/>
          <p:nvPr/>
        </p:nvSpPr>
        <p:spPr>
          <a:xfrm>
            <a:off x="7086600" y="1627632"/>
            <a:ext cx="4480560" cy="320040"/>
          </a:xfrm>
          <a:prstGeom prst="rect">
            <a:avLst/>
          </a:prstGeom>
          <a:noFill/>
        </p:spPr>
        <p:txBody>
          <a:bodyPr wrap="square">
            <a:spAutoFit/>
          </a:bodyPr>
          <a:lstStyle/>
          <a:p>
            <a:r>
              <a:rPr sz="1100" b="1">
                <a:solidFill>
                  <a:srgbClr val="8A6D00"/>
                </a:solidFill>
                <a:latin typeface="Aptos"/>
              </a:rPr>
              <a:t>WHAT I HAD TO LEARN MYSELF</a:t>
            </a:r>
          </a:p>
        </p:txBody>
      </p:sp>
      <p:sp>
        <p:nvSpPr>
          <p:cNvPr id="7" name="Rectangle 6"/>
          <p:cNvSpPr/>
          <p:nvPr/>
        </p:nvSpPr>
        <p:spPr>
          <a:xfrm>
            <a:off x="548640" y="2011680"/>
            <a:ext cx="11064240" cy="129844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011680"/>
            <a:ext cx="82296" cy="129844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395728"/>
            <a:ext cx="1828800" cy="731520"/>
          </a:xfrm>
          <a:prstGeom prst="rect">
            <a:avLst/>
          </a:prstGeom>
          <a:noFill/>
        </p:spPr>
        <p:txBody>
          <a:bodyPr wrap="square">
            <a:spAutoFit/>
          </a:bodyPr>
          <a:lstStyle/>
          <a:p>
            <a:r>
              <a:rPr sz="1450" b="1">
                <a:solidFill>
                  <a:srgbClr val="333333"/>
                </a:solidFill>
                <a:latin typeface="Aptos"/>
              </a:rPr>
              <a:t>What an FPGA is</a:t>
            </a:r>
          </a:p>
        </p:txBody>
      </p:sp>
      <p:sp>
        <p:nvSpPr>
          <p:cNvPr id="10" name="TextBox 9"/>
          <p:cNvSpPr txBox="1"/>
          <p:nvPr/>
        </p:nvSpPr>
        <p:spPr>
          <a:xfrm>
            <a:off x="2697480" y="2130552"/>
            <a:ext cx="4206240" cy="1097280"/>
          </a:xfrm>
          <a:prstGeom prst="rect">
            <a:avLst/>
          </a:prstGeom>
          <a:noFill/>
        </p:spPr>
        <p:txBody>
          <a:bodyPr wrap="square">
            <a:spAutoFit/>
          </a:bodyPr>
          <a:lstStyle/>
          <a:p>
            <a:r>
              <a:rPr sz="1250" b="0">
                <a:solidFill>
                  <a:srgbClr val="5A6068"/>
                </a:solidFill>
                <a:latin typeface="Aptos"/>
              </a:rPr>
              <a:t>Could explain any of it, instantly, at any depth. LUTs, routing, block RAM, bitstreams — perfect answers on demand.</a:t>
            </a:r>
          </a:p>
        </p:txBody>
      </p:sp>
      <p:sp>
        <p:nvSpPr>
          <p:cNvPr id="11" name="TextBox 10"/>
          <p:cNvSpPr txBox="1"/>
          <p:nvPr/>
        </p:nvSpPr>
        <p:spPr>
          <a:xfrm>
            <a:off x="7086600" y="2130552"/>
            <a:ext cx="4526280" cy="1097280"/>
          </a:xfrm>
          <a:prstGeom prst="rect">
            <a:avLst/>
          </a:prstGeom>
          <a:noFill/>
        </p:spPr>
        <p:txBody>
          <a:bodyPr wrap="square">
            <a:spAutoFit/>
          </a:bodyPr>
          <a:lstStyle/>
          <a:p>
            <a:r>
              <a:rPr sz="1250" b="0">
                <a:solidFill>
                  <a:srgbClr val="333333"/>
                </a:solidFill>
                <a:latin typeface="Aptos"/>
              </a:rPr>
              <a:t>That understanding is not explanation. The book made me </a:t>
            </a:r>
            <a:r>
              <a:rPr sz="1250" b="1">
                <a:solidFill>
                  <a:srgbClr val="333333"/>
                </a:solidFill>
                <a:latin typeface="Aptos"/>
              </a:rPr>
              <a:t>build</a:t>
            </a:r>
            <a:r>
              <a:rPr sz="1250" b="0">
                <a:solidFill>
                  <a:srgbClr val="333333"/>
                </a:solidFill>
                <a:latin typeface="Aptos"/>
              </a:rPr>
              <a:t> the model, in sequence, with exercises. An AI would have let me skip building it — and then I would have had nothing to check its work against.</a:t>
            </a:r>
          </a:p>
        </p:txBody>
      </p:sp>
      <p:sp>
        <p:nvSpPr>
          <p:cNvPr id="12" name="Rectangle 11"/>
          <p:cNvSpPr/>
          <p:nvPr/>
        </p:nvSpPr>
        <p:spPr>
          <a:xfrm>
            <a:off x="548640" y="3383280"/>
            <a:ext cx="11064240" cy="129844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383280"/>
            <a:ext cx="82296" cy="129844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767328"/>
            <a:ext cx="1828800" cy="731520"/>
          </a:xfrm>
          <a:prstGeom prst="rect">
            <a:avLst/>
          </a:prstGeom>
          <a:noFill/>
        </p:spPr>
        <p:txBody>
          <a:bodyPr wrap="square">
            <a:spAutoFit/>
          </a:bodyPr>
          <a:lstStyle/>
          <a:p>
            <a:r>
              <a:rPr sz="1450" b="1">
                <a:solidFill>
                  <a:srgbClr val="333333"/>
                </a:solidFill>
                <a:latin typeface="Aptos"/>
              </a:rPr>
              <a:t>What HDL says</a:t>
            </a:r>
          </a:p>
        </p:txBody>
      </p:sp>
      <p:sp>
        <p:nvSpPr>
          <p:cNvPr id="15" name="TextBox 14"/>
          <p:cNvSpPr txBox="1"/>
          <p:nvPr/>
        </p:nvSpPr>
        <p:spPr>
          <a:xfrm>
            <a:off x="2697480" y="3502152"/>
            <a:ext cx="4206240" cy="1097280"/>
          </a:xfrm>
          <a:prstGeom prst="rect">
            <a:avLst/>
          </a:prstGeom>
          <a:noFill/>
        </p:spPr>
        <p:txBody>
          <a:bodyPr wrap="square">
            <a:spAutoFit/>
          </a:bodyPr>
          <a:lstStyle/>
          <a:p>
            <a:r>
              <a:rPr sz="1250" b="0">
                <a:solidFill>
                  <a:srgbClr val="5A6068"/>
                </a:solidFill>
                <a:latin typeface="Aptos"/>
              </a:rPr>
              <a:t>Drafted most of the VHDL. Reading and critiquing code is a faster way to learn than writing from scratch — </a:t>
            </a:r>
            <a:r>
              <a:rPr sz="1250" b="1">
                <a:solidFill>
                  <a:srgbClr val="5A6068"/>
                </a:solidFill>
                <a:latin typeface="Aptos"/>
              </a:rPr>
              <a:t>this is where it carried the most weight.</a:t>
            </a:r>
          </a:p>
        </p:txBody>
      </p:sp>
      <p:sp>
        <p:nvSpPr>
          <p:cNvPr id="16" name="TextBox 15"/>
          <p:cNvSpPr txBox="1"/>
          <p:nvPr/>
        </p:nvSpPr>
        <p:spPr>
          <a:xfrm>
            <a:off x="7086600" y="3502152"/>
            <a:ext cx="4526280" cy="1097280"/>
          </a:xfrm>
          <a:prstGeom prst="rect">
            <a:avLst/>
          </a:prstGeom>
          <a:noFill/>
        </p:spPr>
        <p:txBody>
          <a:bodyPr wrap="square">
            <a:spAutoFit/>
          </a:bodyPr>
          <a:lstStyle/>
          <a:p>
            <a:r>
              <a:rPr sz="1250" b="0">
                <a:solidFill>
                  <a:srgbClr val="333333"/>
                </a:solidFill>
                <a:latin typeface="Aptos"/>
              </a:rPr>
              <a:t>The concurrency model. Until you have it you cannot tell correct RTL from *plausible* RTL — and it produces plausible RTL all day long.</a:t>
            </a:r>
          </a:p>
        </p:txBody>
      </p:sp>
      <p:sp>
        <p:nvSpPr>
          <p:cNvPr id="17" name="Rectangle 16"/>
          <p:cNvSpPr/>
          <p:nvPr/>
        </p:nvSpPr>
        <p:spPr>
          <a:xfrm>
            <a:off x="548640" y="4754880"/>
            <a:ext cx="11064240" cy="129844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754880"/>
            <a:ext cx="82296" cy="129844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138928"/>
            <a:ext cx="1828800" cy="731520"/>
          </a:xfrm>
          <a:prstGeom prst="rect">
            <a:avLst/>
          </a:prstGeom>
          <a:noFill/>
        </p:spPr>
        <p:txBody>
          <a:bodyPr wrap="square">
            <a:spAutoFit/>
          </a:bodyPr>
          <a:lstStyle/>
          <a:p>
            <a:r>
              <a:rPr sz="1450" b="1">
                <a:solidFill>
                  <a:srgbClr val="333333"/>
                </a:solidFill>
                <a:latin typeface="Aptos"/>
              </a:rPr>
              <a:t>Inference</a:t>
            </a:r>
          </a:p>
        </p:txBody>
      </p:sp>
      <p:sp>
        <p:nvSpPr>
          <p:cNvPr id="20" name="TextBox 19"/>
          <p:cNvSpPr txBox="1"/>
          <p:nvPr/>
        </p:nvSpPr>
        <p:spPr>
          <a:xfrm>
            <a:off x="2697480" y="4873752"/>
            <a:ext cx="4206240" cy="1097280"/>
          </a:xfrm>
          <a:prstGeom prst="rect">
            <a:avLst/>
          </a:prstGeom>
          <a:noFill/>
        </p:spPr>
        <p:txBody>
          <a:bodyPr wrap="square">
            <a:spAutoFit/>
          </a:bodyPr>
          <a:lstStyle/>
          <a:p>
            <a:r>
              <a:rPr sz="1250" b="0">
                <a:solidFill>
                  <a:srgbClr val="5A6068"/>
                </a:solidFill>
                <a:latin typeface="Aptos"/>
              </a:rPr>
              <a:t>Wrote the block-RAM version. Would just as happily have written the async-read version, and never mentioned the difference.</a:t>
            </a:r>
          </a:p>
        </p:txBody>
      </p:sp>
      <p:sp>
        <p:nvSpPr>
          <p:cNvPr id="21" name="TextBox 20"/>
          <p:cNvSpPr txBox="1"/>
          <p:nvPr/>
        </p:nvSpPr>
        <p:spPr>
          <a:xfrm>
            <a:off x="7086600" y="4873752"/>
            <a:ext cx="4526280" cy="1097280"/>
          </a:xfrm>
          <a:prstGeom prst="rect">
            <a:avLst/>
          </a:prstGeom>
          <a:noFill/>
        </p:spPr>
        <p:txBody>
          <a:bodyPr wrap="square">
            <a:spAutoFit/>
          </a:bodyPr>
          <a:lstStyle/>
          <a:p>
            <a:r>
              <a:rPr sz="1250" b="0">
                <a:solidFill>
                  <a:srgbClr val="333333"/>
                </a:solidFill>
                <a:latin typeface="Aptos"/>
              </a:rPr>
              <a:t>Which one was right — from the </a:t>
            </a:r>
            <a:r>
              <a:rPr sz="1250" b="1">
                <a:solidFill>
                  <a:srgbClr val="333333"/>
                </a:solidFill>
                <a:latin typeface="Aptos"/>
              </a:rPr>
              <a:t>utilization report</a:t>
            </a:r>
            <a:r>
              <a:rPr sz="1250" b="0">
                <a:solidFill>
                  <a:srgbClr val="333333"/>
                </a:solidFill>
                <a:latin typeface="Aptos"/>
              </a:rPr>
              <a:t>, not from the code. Both simulate identically. One does not fit on the chip.</a:t>
            </a:r>
          </a:p>
        </p:txBody>
      </p:sp>
      <p:sp>
        <p:nvSpPr>
          <p:cNvPr id="22" name="Rectangle 21"/>
          <p:cNvSpPr/>
          <p:nvPr/>
        </p:nvSpPr>
        <p:spPr>
          <a:xfrm>
            <a:off x="548640" y="6181344"/>
            <a:ext cx="11064240" cy="658368"/>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0">
                <a:solidFill>
                  <a:srgbClr val="F2F2F2"/>
                </a:solidFill>
                <a:latin typeface="Aptos"/>
              </a:rPr>
              <a:t>The pattern: it was fastest where I could already check it — and useless where I could not.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PART 6 — HOW THIS GOT BUILT</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What it did, and what I had to learn  (cont.)</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697480" y="1627632"/>
            <a:ext cx="4114800" cy="320040"/>
          </a:xfrm>
          <a:prstGeom prst="rect">
            <a:avLst/>
          </a:prstGeom>
          <a:noFill/>
        </p:spPr>
        <p:txBody>
          <a:bodyPr wrap="square">
            <a:spAutoFit/>
          </a:bodyPr>
          <a:lstStyle/>
          <a:p>
            <a:r>
              <a:rPr sz="1100" b="1">
                <a:solidFill>
                  <a:srgbClr val="8D8D8D"/>
                </a:solidFill>
                <a:latin typeface="Aptos"/>
              </a:rPr>
              <a:t>WHAT THE AI DID</a:t>
            </a:r>
          </a:p>
        </p:txBody>
      </p:sp>
      <p:sp>
        <p:nvSpPr>
          <p:cNvPr id="6" name="TextBox 5"/>
          <p:cNvSpPr txBox="1"/>
          <p:nvPr/>
        </p:nvSpPr>
        <p:spPr>
          <a:xfrm>
            <a:off x="7086600" y="1627632"/>
            <a:ext cx="4480560" cy="320040"/>
          </a:xfrm>
          <a:prstGeom prst="rect">
            <a:avLst/>
          </a:prstGeom>
          <a:noFill/>
        </p:spPr>
        <p:txBody>
          <a:bodyPr wrap="square">
            <a:spAutoFit/>
          </a:bodyPr>
          <a:lstStyle/>
          <a:p>
            <a:r>
              <a:rPr sz="1100" b="1">
                <a:solidFill>
                  <a:srgbClr val="8A6D00"/>
                </a:solidFill>
                <a:latin typeface="Aptos"/>
              </a:rPr>
              <a:t>WHAT I HAD TO LEARN MYSELF</a:t>
            </a:r>
          </a:p>
        </p:txBody>
      </p:sp>
      <p:sp>
        <p:nvSpPr>
          <p:cNvPr id="7" name="Rectangle 6"/>
          <p:cNvSpPr/>
          <p:nvPr/>
        </p:nvSpPr>
        <p:spPr>
          <a:xfrm>
            <a:off x="548640" y="1993392"/>
            <a:ext cx="11064240" cy="74980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993392"/>
            <a:ext cx="82296" cy="74980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139696"/>
            <a:ext cx="1828800" cy="548640"/>
          </a:xfrm>
          <a:prstGeom prst="rect">
            <a:avLst/>
          </a:prstGeom>
          <a:noFill/>
        </p:spPr>
        <p:txBody>
          <a:bodyPr wrap="square">
            <a:spAutoFit/>
          </a:bodyPr>
          <a:lstStyle/>
          <a:p>
            <a:r>
              <a:rPr sz="1350" b="1">
                <a:solidFill>
                  <a:srgbClr val="333333"/>
                </a:solidFill>
                <a:latin typeface="Aptos"/>
              </a:rPr>
              <a:t>The toolchain</a:t>
            </a:r>
          </a:p>
        </p:txBody>
      </p:sp>
      <p:sp>
        <p:nvSpPr>
          <p:cNvPr id="10" name="TextBox 9"/>
          <p:cNvSpPr txBox="1"/>
          <p:nvPr/>
        </p:nvSpPr>
        <p:spPr>
          <a:xfrm>
            <a:off x="2697480" y="2048256"/>
            <a:ext cx="4206240" cy="731520"/>
          </a:xfrm>
          <a:prstGeom prst="rect">
            <a:avLst/>
          </a:prstGeom>
          <a:noFill/>
        </p:spPr>
        <p:txBody>
          <a:bodyPr wrap="square">
            <a:spAutoFit/>
          </a:bodyPr>
          <a:lstStyle/>
          <a:p>
            <a:r>
              <a:rPr sz="1150" b="0">
                <a:solidFill>
                  <a:srgbClr val="5A6068"/>
                </a:solidFill>
                <a:latin typeface="Aptos"/>
              </a:rPr>
              <a:t>Assembled the Makefile. Explained the flags.</a:t>
            </a:r>
          </a:p>
        </p:txBody>
      </p:sp>
      <p:sp>
        <p:nvSpPr>
          <p:cNvPr id="11" name="TextBox 10"/>
          <p:cNvSpPr txBox="1"/>
          <p:nvPr/>
        </p:nvSpPr>
        <p:spPr>
          <a:xfrm>
            <a:off x="7086600" y="2048256"/>
            <a:ext cx="4526280" cy="731520"/>
          </a:xfrm>
          <a:prstGeom prst="rect">
            <a:avLst/>
          </a:prstGeom>
          <a:noFill/>
        </p:spPr>
        <p:txBody>
          <a:bodyPr wrap="square">
            <a:spAutoFit/>
          </a:bodyPr>
          <a:lstStyle/>
          <a:p>
            <a:r>
              <a:rPr sz="1150" b="0">
                <a:solidFill>
                  <a:srgbClr val="333333"/>
                </a:solidFill>
                <a:latin typeface="Aptos"/>
              </a:rPr>
              <a:t>To read the </a:t>
            </a:r>
            <a:r>
              <a:rPr sz="1150" b="1">
                <a:solidFill>
                  <a:srgbClr val="333333"/>
                </a:solidFill>
                <a:latin typeface="Aptos"/>
              </a:rPr>
              <a:t>reports</a:t>
            </a:r>
            <a:r>
              <a:rPr sz="1150" b="0">
                <a:solidFill>
                  <a:srgbClr val="333333"/>
                </a:solidFill>
                <a:latin typeface="Aptos"/>
              </a:rPr>
              <a:t>. Routing is two-thirds of my critical path — no model told me that; nextpnr did. The physics is not in the code, so it is not in the model.</a:t>
            </a:r>
          </a:p>
        </p:txBody>
      </p:sp>
      <p:sp>
        <p:nvSpPr>
          <p:cNvPr id="12" name="Rectangle 11"/>
          <p:cNvSpPr/>
          <p:nvPr/>
        </p:nvSpPr>
        <p:spPr>
          <a:xfrm>
            <a:off x="548640" y="2798064"/>
            <a:ext cx="11064240" cy="74980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798064"/>
            <a:ext cx="82296" cy="74980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944368"/>
            <a:ext cx="1828800" cy="548640"/>
          </a:xfrm>
          <a:prstGeom prst="rect">
            <a:avLst/>
          </a:prstGeom>
          <a:noFill/>
        </p:spPr>
        <p:txBody>
          <a:bodyPr wrap="square">
            <a:spAutoFit/>
          </a:bodyPr>
          <a:lstStyle/>
          <a:p>
            <a:r>
              <a:rPr sz="1350" b="1">
                <a:solidFill>
                  <a:srgbClr val="333333"/>
                </a:solidFill>
                <a:latin typeface="Aptos"/>
              </a:rPr>
              <a:t>φ1 / φ2 as clocks</a:t>
            </a:r>
          </a:p>
        </p:txBody>
      </p:sp>
      <p:sp>
        <p:nvSpPr>
          <p:cNvPr id="15" name="TextBox 14"/>
          <p:cNvSpPr txBox="1"/>
          <p:nvPr/>
        </p:nvSpPr>
        <p:spPr>
          <a:xfrm>
            <a:off x="2697480" y="2852928"/>
            <a:ext cx="4206240" cy="731520"/>
          </a:xfrm>
          <a:prstGeom prst="rect">
            <a:avLst/>
          </a:prstGeom>
          <a:noFill/>
        </p:spPr>
        <p:txBody>
          <a:bodyPr wrap="square">
            <a:spAutoFit/>
          </a:bodyPr>
          <a:lstStyle/>
          <a:p>
            <a:r>
              <a:rPr sz="1150" b="0">
                <a:solidFill>
                  <a:srgbClr val="5A6068"/>
                </a:solidFill>
                <a:latin typeface="Aptos"/>
              </a:rPr>
              <a:t>Would write </a:t>
            </a:r>
            <a:r>
              <a:rPr sz="1150" b="0">
                <a:solidFill>
                  <a:srgbClr val="1F9DD8"/>
                </a:solidFill>
                <a:latin typeface="Aptos Mono"/>
              </a:rPr>
              <a:t>rising_edge(phi1)</a:t>
            </a:r>
            <a:r>
              <a:rPr sz="1150" b="0">
                <a:solidFill>
                  <a:srgbClr val="5A6068"/>
                </a:solidFill>
                <a:latin typeface="Aptos"/>
              </a:rPr>
              <a:t> without hesitation. Valid VHDL. Simulates perfectly.</a:t>
            </a:r>
          </a:p>
        </p:txBody>
      </p:sp>
      <p:sp>
        <p:nvSpPr>
          <p:cNvPr id="16" name="TextBox 15"/>
          <p:cNvSpPr txBox="1"/>
          <p:nvPr/>
        </p:nvSpPr>
        <p:spPr>
          <a:xfrm>
            <a:off x="7086600" y="2852928"/>
            <a:ext cx="4526280" cy="731520"/>
          </a:xfrm>
          <a:prstGeom prst="rect">
            <a:avLst/>
          </a:prstGeom>
          <a:noFill/>
        </p:spPr>
        <p:txBody>
          <a:bodyPr wrap="square">
            <a:spAutoFit/>
          </a:bodyPr>
          <a:lstStyle/>
          <a:p>
            <a:r>
              <a:rPr sz="1150" b="0">
                <a:solidFill>
                  <a:srgbClr val="333333"/>
                </a:solidFill>
                <a:latin typeface="Aptos"/>
              </a:rPr>
              <a:t>That it creates a clock domain the timing engine cannot analyze. Learned from a design that would not close.</a:t>
            </a:r>
          </a:p>
        </p:txBody>
      </p:sp>
      <p:sp>
        <p:nvSpPr>
          <p:cNvPr id="17" name="Rectangle 16"/>
          <p:cNvSpPr/>
          <p:nvPr/>
        </p:nvSpPr>
        <p:spPr>
          <a:xfrm>
            <a:off x="548640" y="3602736"/>
            <a:ext cx="11064240" cy="74980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602736"/>
            <a:ext cx="82296" cy="74980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749039"/>
            <a:ext cx="1828800" cy="548640"/>
          </a:xfrm>
          <a:prstGeom prst="rect">
            <a:avLst/>
          </a:prstGeom>
          <a:noFill/>
        </p:spPr>
        <p:txBody>
          <a:bodyPr wrap="square">
            <a:spAutoFit/>
          </a:bodyPr>
          <a:lstStyle/>
          <a:p>
            <a:r>
              <a:rPr sz="1350" b="1">
                <a:solidFill>
                  <a:srgbClr val="333333"/>
                </a:solidFill>
                <a:latin typeface="Aptos"/>
              </a:rPr>
              <a:t>The 0xFF bug</a:t>
            </a:r>
          </a:p>
        </p:txBody>
      </p:sp>
      <p:sp>
        <p:nvSpPr>
          <p:cNvPr id="20" name="TextBox 19"/>
          <p:cNvSpPr txBox="1"/>
          <p:nvPr/>
        </p:nvSpPr>
        <p:spPr>
          <a:xfrm>
            <a:off x="2697480" y="3657600"/>
            <a:ext cx="4206240" cy="731520"/>
          </a:xfrm>
          <a:prstGeom prst="rect">
            <a:avLst/>
          </a:prstGeom>
          <a:noFill/>
        </p:spPr>
        <p:txBody>
          <a:bodyPr wrap="square">
            <a:spAutoFit/>
          </a:bodyPr>
          <a:lstStyle/>
          <a:p>
            <a:r>
              <a:rPr sz="1150" b="0">
                <a:solidFill>
                  <a:srgbClr val="5A6068"/>
                </a:solidFill>
                <a:latin typeface="Aptos"/>
              </a:rPr>
              <a:t>Nothing. It </a:t>
            </a:r>
            <a:r>
              <a:rPr sz="1150" b="1">
                <a:solidFill>
                  <a:srgbClr val="5A6068"/>
                </a:solidFill>
                <a:latin typeface="Aptos"/>
              </a:rPr>
              <a:t>could not</a:t>
            </a:r>
            <a:r>
              <a:rPr sz="1150" b="0">
                <a:solidFill>
                  <a:srgbClr val="5A6068"/>
                </a:solidFill>
                <a:latin typeface="Aptos"/>
              </a:rPr>
              <a:t> — the bug lives below the RTL, inside the synthesizer.</a:t>
            </a:r>
          </a:p>
        </p:txBody>
      </p:sp>
      <p:sp>
        <p:nvSpPr>
          <p:cNvPr id="21" name="TextBox 20"/>
          <p:cNvSpPr txBox="1"/>
          <p:nvPr/>
        </p:nvSpPr>
        <p:spPr>
          <a:xfrm>
            <a:off x="7086600" y="3657600"/>
            <a:ext cx="4526280" cy="731520"/>
          </a:xfrm>
          <a:prstGeom prst="rect">
            <a:avLst/>
          </a:prstGeom>
          <a:noFill/>
        </p:spPr>
        <p:txBody>
          <a:bodyPr wrap="square">
            <a:spAutoFit/>
          </a:bodyPr>
          <a:lstStyle/>
          <a:p>
            <a:r>
              <a:rPr sz="1150" b="0">
                <a:solidFill>
                  <a:srgbClr val="333333"/>
                </a:solidFill>
                <a:latin typeface="Aptos"/>
              </a:rPr>
              <a:t>Three days of bisection. And that when simulation and silicon disagree, the toolchain itself is a suspect.</a:t>
            </a:r>
          </a:p>
        </p:txBody>
      </p:sp>
      <p:sp>
        <p:nvSpPr>
          <p:cNvPr id="22" name="Rectangle 21"/>
          <p:cNvSpPr/>
          <p:nvPr/>
        </p:nvSpPr>
        <p:spPr>
          <a:xfrm>
            <a:off x="548640" y="4407408"/>
            <a:ext cx="11064240" cy="74980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407408"/>
            <a:ext cx="82296" cy="74980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4553712"/>
            <a:ext cx="1828800" cy="548640"/>
          </a:xfrm>
          <a:prstGeom prst="rect">
            <a:avLst/>
          </a:prstGeom>
          <a:noFill/>
        </p:spPr>
        <p:txBody>
          <a:bodyPr wrap="square">
            <a:spAutoFit/>
          </a:bodyPr>
          <a:lstStyle/>
          <a:p>
            <a:r>
              <a:rPr sz="1350" b="1">
                <a:solidFill>
                  <a:srgbClr val="333333"/>
                </a:solidFill>
                <a:latin typeface="Aptos"/>
              </a:rPr>
              <a:t>The architecture</a:t>
            </a:r>
          </a:p>
        </p:txBody>
      </p:sp>
      <p:sp>
        <p:nvSpPr>
          <p:cNvPr id="25" name="TextBox 24"/>
          <p:cNvSpPr txBox="1"/>
          <p:nvPr/>
        </p:nvSpPr>
        <p:spPr>
          <a:xfrm>
            <a:off x="2697480" y="4462272"/>
            <a:ext cx="4206240" cy="731520"/>
          </a:xfrm>
          <a:prstGeom prst="rect">
            <a:avLst/>
          </a:prstGeom>
          <a:noFill/>
        </p:spPr>
        <p:txBody>
          <a:bodyPr wrap="square">
            <a:spAutoFit/>
          </a:bodyPr>
          <a:lstStyle/>
          <a:p>
            <a:r>
              <a:rPr sz="1150" b="0">
                <a:solidFill>
                  <a:srgbClr val="5A6068"/>
                </a:solidFill>
                <a:latin typeface="Aptos"/>
              </a:rPr>
              <a:t>Pulled toward an instruction-set simulator every time, because that is all its corpus contained.</a:t>
            </a:r>
          </a:p>
        </p:txBody>
      </p:sp>
      <p:sp>
        <p:nvSpPr>
          <p:cNvPr id="26" name="TextBox 25"/>
          <p:cNvSpPr txBox="1"/>
          <p:nvPr/>
        </p:nvSpPr>
        <p:spPr>
          <a:xfrm>
            <a:off x="7086600" y="4462272"/>
            <a:ext cx="4526280" cy="731520"/>
          </a:xfrm>
          <a:prstGeom prst="rect">
            <a:avLst/>
          </a:prstGeom>
          <a:noFill/>
        </p:spPr>
        <p:txBody>
          <a:bodyPr wrap="square">
            <a:spAutoFit/>
          </a:bodyPr>
          <a:lstStyle/>
          <a:p>
            <a:r>
              <a:rPr sz="1150" b="1">
                <a:solidFill>
                  <a:srgbClr val="333333"/>
                </a:solidFill>
                <a:latin typeface="Aptos"/>
              </a:rPr>
              <a:t>The block diagram, from the 1972 datasheet.</a:t>
            </a:r>
            <a:r>
              <a:rPr sz="1150" b="0">
                <a:solidFill>
                  <a:srgbClr val="333333"/>
                </a:solidFill>
                <a:latin typeface="Aptos"/>
              </a:rPr>
              <a:t> This is the one that mattered — and the one thing no model could have handed me.</a:t>
            </a:r>
          </a:p>
        </p:txBody>
      </p:sp>
      <p:sp>
        <p:nvSpPr>
          <p:cNvPr id="27" name="Rectangle 26"/>
          <p:cNvSpPr/>
          <p:nvPr/>
        </p:nvSpPr>
        <p:spPr>
          <a:xfrm>
            <a:off x="548640" y="5212080"/>
            <a:ext cx="11064240" cy="749808"/>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5212080"/>
            <a:ext cx="82296" cy="749808"/>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5358384"/>
            <a:ext cx="1828800" cy="548640"/>
          </a:xfrm>
          <a:prstGeom prst="rect">
            <a:avLst/>
          </a:prstGeom>
          <a:noFill/>
        </p:spPr>
        <p:txBody>
          <a:bodyPr wrap="square">
            <a:spAutoFit/>
          </a:bodyPr>
          <a:lstStyle/>
          <a:p>
            <a:r>
              <a:rPr sz="1350" b="1">
                <a:solidFill>
                  <a:srgbClr val="333333"/>
                </a:solidFill>
                <a:latin typeface="Aptos"/>
              </a:rPr>
              <a:t>Verification</a:t>
            </a:r>
          </a:p>
        </p:txBody>
      </p:sp>
      <p:sp>
        <p:nvSpPr>
          <p:cNvPr id="30" name="TextBox 29"/>
          <p:cNvSpPr txBox="1"/>
          <p:nvPr/>
        </p:nvSpPr>
        <p:spPr>
          <a:xfrm>
            <a:off x="2697480" y="5266944"/>
            <a:ext cx="4206240" cy="731520"/>
          </a:xfrm>
          <a:prstGeom prst="rect">
            <a:avLst/>
          </a:prstGeom>
          <a:noFill/>
        </p:spPr>
        <p:txBody>
          <a:bodyPr wrap="square">
            <a:spAutoFit/>
          </a:bodyPr>
          <a:lstStyle/>
          <a:p>
            <a:r>
              <a:rPr sz="1150" b="0">
                <a:solidFill>
                  <a:srgbClr val="5A6068"/>
                </a:solidFill>
                <a:latin typeface="Aptos"/>
              </a:rPr>
              <a:t>Wrote most of the testbench scaffolding.</a:t>
            </a:r>
          </a:p>
        </p:txBody>
      </p:sp>
      <p:sp>
        <p:nvSpPr>
          <p:cNvPr id="31" name="TextBox 30"/>
          <p:cNvSpPr txBox="1"/>
          <p:nvPr/>
        </p:nvSpPr>
        <p:spPr>
          <a:xfrm>
            <a:off x="7086600" y="5266944"/>
            <a:ext cx="4526280" cy="731520"/>
          </a:xfrm>
          <a:prstGeom prst="rect">
            <a:avLst/>
          </a:prstGeom>
          <a:noFill/>
        </p:spPr>
        <p:txBody>
          <a:bodyPr wrap="square">
            <a:spAutoFit/>
          </a:bodyPr>
          <a:lstStyle/>
          <a:p>
            <a:r>
              <a:rPr sz="1150" b="0">
                <a:solidFill>
                  <a:srgbClr val="1F9DD8"/>
                </a:solidFill>
                <a:latin typeface="Aptos Mono"/>
              </a:rPr>
              <a:t>isa.json</a:t>
            </a:r>
            <a:r>
              <a:rPr sz="1150" b="0">
                <a:solidFill>
                  <a:srgbClr val="333333"/>
                </a:solidFill>
                <a:latin typeface="Aptos"/>
              </a:rPr>
              <a:t>, transcribed by hand from the datasheet. The spec has to come from the source, not the model — otherwise you are grading its homework with its own answer key.</a:t>
            </a:r>
          </a:p>
        </p:txBody>
      </p:sp>
      <p:sp>
        <p:nvSpPr>
          <p:cNvPr id="32" name="Rectangle 31"/>
          <p:cNvSpPr/>
          <p:nvPr/>
        </p:nvSpPr>
        <p:spPr>
          <a:xfrm>
            <a:off x="548640" y="6062472"/>
            <a:ext cx="11064240" cy="64008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F2F2F2"/>
                </a:solidFill>
                <a:latin typeface="Aptos"/>
              </a:rPr>
              <a:t>Version three worked because by then I had learned </a:t>
            </a:r>
            <a:r>
              <a:rPr sz="1800" b="1">
                <a:solidFill>
                  <a:srgbClr val="F2F2F2"/>
                </a:solidFill>
                <a:latin typeface="Aptos"/>
              </a:rPr>
              <a:t>the right-hand column.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7315200" cy="320040"/>
          </a:xfrm>
          <a:prstGeom prst="rect">
            <a:avLst/>
          </a:prstGeom>
          <a:noFill/>
        </p:spPr>
        <p:txBody>
          <a:bodyPr wrap="square">
            <a:spAutoFit/>
          </a:bodyPr>
          <a:lstStyle/>
          <a:p>
            <a:r>
              <a:rPr sz="1200" b="1">
                <a:solidFill>
                  <a:srgbClr val="3B3F44"/>
                </a:solidFill>
                <a:latin typeface="Aptos"/>
              </a:rPr>
              <a:t>CLOSE</a:t>
            </a:r>
          </a:p>
        </p:txBody>
      </p:sp>
      <p:sp>
        <p:nvSpPr>
          <p:cNvPr id="3" name="TextBox 2"/>
          <p:cNvSpPr txBox="1"/>
          <p:nvPr/>
        </p:nvSpPr>
        <p:spPr>
          <a:xfrm>
            <a:off x="502920" y="566928"/>
            <a:ext cx="11155680" cy="914400"/>
          </a:xfrm>
          <a:prstGeom prst="rect">
            <a:avLst/>
          </a:prstGeom>
          <a:noFill/>
        </p:spPr>
        <p:txBody>
          <a:bodyPr wrap="square">
            <a:spAutoFit/>
          </a:bodyPr>
          <a:lstStyle/>
          <a:p>
            <a:r>
              <a:rPr sz="3200" b="1">
                <a:solidFill>
                  <a:srgbClr val="333333"/>
                </a:solidFill>
                <a:latin typeface="Aptos"/>
              </a:rPr>
              <a:t>What I’d tell you about learning this way</a:t>
            </a:r>
          </a:p>
        </p:txBody>
      </p:sp>
      <p:sp>
        <p:nvSpPr>
          <p:cNvPr id="4" name="Rectangle 3"/>
          <p:cNvSpPr/>
          <p:nvPr/>
        </p:nvSpPr>
        <p:spPr>
          <a:xfrm>
            <a:off x="548640" y="1280160"/>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664208"/>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64208"/>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655064"/>
            <a:ext cx="10607040" cy="713232"/>
          </a:xfrm>
          <a:prstGeom prst="rect">
            <a:avLst/>
          </a:prstGeom>
          <a:noFill/>
        </p:spPr>
        <p:txBody>
          <a:bodyPr wrap="square">
            <a:spAutoFit/>
          </a:bodyPr>
          <a:lstStyle/>
          <a:p>
            <a:r>
              <a:rPr sz="1550" b="1">
                <a:solidFill>
                  <a:srgbClr val="333333"/>
                </a:solidFill>
                <a:latin typeface="Aptos"/>
              </a:rPr>
              <a:t>Read the book first.</a:t>
            </a:r>
          </a:p>
          <a:p>
            <a:r>
              <a:rPr sz="1200" b="0">
                <a:solidFill>
                  <a:srgbClr val="5A6068"/>
                </a:solidFill>
                <a:latin typeface="Aptos"/>
              </a:rPr>
              <a:t>Foundations are not delegable. An AI will explain a LUT perfectly and leave you unable to check its work.</a:t>
            </a:r>
          </a:p>
        </p:txBody>
      </p:sp>
      <p:sp>
        <p:nvSpPr>
          <p:cNvPr id="8" name="Rectangle 7"/>
          <p:cNvSpPr/>
          <p:nvPr/>
        </p:nvSpPr>
        <p:spPr>
          <a:xfrm>
            <a:off x="548640" y="2423160"/>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423160"/>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14016"/>
            <a:ext cx="10607040" cy="713232"/>
          </a:xfrm>
          <a:prstGeom prst="rect">
            <a:avLst/>
          </a:prstGeom>
          <a:noFill/>
        </p:spPr>
        <p:txBody>
          <a:bodyPr wrap="square">
            <a:spAutoFit/>
          </a:bodyPr>
          <a:lstStyle/>
          <a:p>
            <a:r>
              <a:rPr sz="1550" b="1">
                <a:solidFill>
                  <a:srgbClr val="333333"/>
                </a:solidFill>
                <a:latin typeface="Aptos"/>
              </a:rPr>
              <a:t>Own the specification.</a:t>
            </a:r>
          </a:p>
          <a:p>
            <a:r>
              <a:rPr sz="1200" b="0">
                <a:solidFill>
                  <a:srgbClr val="5A6068"/>
                </a:solidFill>
                <a:latin typeface="Aptos"/>
              </a:rPr>
              <a:t>I transcribed every opcode’s T-state sequence from the 1972 manual by hand. The spec has to come from the primary source.</a:t>
            </a:r>
          </a:p>
        </p:txBody>
      </p:sp>
      <p:sp>
        <p:nvSpPr>
          <p:cNvPr id="11" name="Rectangle 10"/>
          <p:cNvSpPr/>
          <p:nvPr/>
        </p:nvSpPr>
        <p:spPr>
          <a:xfrm>
            <a:off x="548640" y="3182112"/>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182112"/>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172968"/>
            <a:ext cx="10607040" cy="713232"/>
          </a:xfrm>
          <a:prstGeom prst="rect">
            <a:avLst/>
          </a:prstGeom>
          <a:noFill/>
        </p:spPr>
        <p:txBody>
          <a:bodyPr wrap="square">
            <a:spAutoFit/>
          </a:bodyPr>
          <a:lstStyle/>
          <a:p>
            <a:r>
              <a:rPr sz="1550" b="1">
                <a:solidFill>
                  <a:srgbClr val="333333"/>
                </a:solidFill>
                <a:latin typeface="Aptos"/>
              </a:rPr>
              <a:t>Derive the architecture yourself.</a:t>
            </a:r>
          </a:p>
          <a:p>
            <a:r>
              <a:rPr sz="1200" b="0">
                <a:solidFill>
                  <a:srgbClr val="5A6068"/>
                </a:solidFill>
                <a:latin typeface="Aptos"/>
              </a:rPr>
              <a:t>Its corpus had only emulators. The block-based design came from the datasheet — and it is the thing that made version three work.</a:t>
            </a:r>
          </a:p>
        </p:txBody>
      </p:sp>
      <p:sp>
        <p:nvSpPr>
          <p:cNvPr id="14" name="Rectangle 13"/>
          <p:cNvSpPr/>
          <p:nvPr/>
        </p:nvSpPr>
        <p:spPr>
          <a:xfrm>
            <a:off x="548640" y="3941063"/>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941063"/>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931920"/>
            <a:ext cx="10607040" cy="713232"/>
          </a:xfrm>
          <a:prstGeom prst="rect">
            <a:avLst/>
          </a:prstGeom>
          <a:noFill/>
        </p:spPr>
        <p:txBody>
          <a:bodyPr wrap="square">
            <a:spAutoFit/>
          </a:bodyPr>
          <a:lstStyle/>
          <a:p>
            <a:r>
              <a:rPr sz="1550" b="1">
                <a:solidFill>
                  <a:srgbClr val="333333"/>
                </a:solidFill>
                <a:latin typeface="Aptos"/>
              </a:rPr>
              <a:t>Keep modules small enough to fully review.</a:t>
            </a:r>
          </a:p>
          <a:p>
            <a:r>
              <a:rPr sz="1200" b="0">
                <a:solidFill>
                  <a:srgbClr val="5A6068"/>
                </a:solidFill>
                <a:latin typeface="Aptos"/>
              </a:rPr>
              <a:t>50 to 100 lines, one job. Small enough for me to check, and small enough for it to get right.</a:t>
            </a:r>
          </a:p>
        </p:txBody>
      </p:sp>
      <p:sp>
        <p:nvSpPr>
          <p:cNvPr id="17" name="Rectangle 16"/>
          <p:cNvSpPr/>
          <p:nvPr/>
        </p:nvSpPr>
        <p:spPr>
          <a:xfrm>
            <a:off x="548640" y="4700016"/>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700016"/>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690872"/>
            <a:ext cx="10607040" cy="713232"/>
          </a:xfrm>
          <a:prstGeom prst="rect">
            <a:avLst/>
          </a:prstGeom>
          <a:noFill/>
        </p:spPr>
        <p:txBody>
          <a:bodyPr wrap="square">
            <a:spAutoFit/>
          </a:bodyPr>
          <a:lstStyle/>
          <a:p>
            <a:r>
              <a:rPr sz="1550" b="1">
                <a:solidFill>
                  <a:srgbClr val="333333"/>
                </a:solidFill>
                <a:latin typeface="Aptos"/>
              </a:rPr>
              <a:t>Let it draft. You reject.</a:t>
            </a:r>
          </a:p>
          <a:p>
            <a:r>
              <a:rPr sz="1200" b="0">
                <a:solidFill>
                  <a:srgbClr val="5A6068"/>
                </a:solidFill>
                <a:latin typeface="Aptos"/>
              </a:rPr>
              <a:t>It made two complete rewrites </a:t>
            </a:r>
            <a:r>
              <a:rPr sz="1200" b="1">
                <a:solidFill>
                  <a:srgbClr val="5A6068"/>
                </a:solidFill>
                <a:latin typeface="Aptos"/>
              </a:rPr>
              <a:t>affordable</a:t>
            </a:r>
            <a:r>
              <a:rPr sz="1200" b="0">
                <a:solidFill>
                  <a:srgbClr val="5A6068"/>
                </a:solidFill>
                <a:latin typeface="Aptos"/>
              </a:rPr>
              <a:t> — without that I would have shipped version one’s architecture and lived with it.</a:t>
            </a:r>
          </a:p>
        </p:txBody>
      </p:sp>
      <p:sp>
        <p:nvSpPr>
          <p:cNvPr id="20" name="Rectangle 19"/>
          <p:cNvSpPr/>
          <p:nvPr/>
        </p:nvSpPr>
        <p:spPr>
          <a:xfrm>
            <a:off x="548640" y="5458968"/>
            <a:ext cx="11064240" cy="694944"/>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5458968"/>
            <a:ext cx="82296" cy="694944"/>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449824"/>
            <a:ext cx="10607040" cy="713232"/>
          </a:xfrm>
          <a:prstGeom prst="rect">
            <a:avLst/>
          </a:prstGeom>
          <a:noFill/>
        </p:spPr>
        <p:txBody>
          <a:bodyPr wrap="square">
            <a:spAutoFit/>
          </a:bodyPr>
          <a:lstStyle/>
          <a:p>
            <a:r>
              <a:rPr sz="1550" b="1">
                <a:solidFill>
                  <a:srgbClr val="333333"/>
                </a:solidFill>
                <a:latin typeface="Aptos"/>
              </a:rPr>
              <a:t>Nothing is done until the board says so.</a:t>
            </a:r>
          </a:p>
          <a:p>
            <a:r>
              <a:rPr sz="1200" b="0">
                <a:solidFill>
                  <a:srgbClr val="5A6068"/>
                </a:solidFill>
                <a:latin typeface="Aptos"/>
              </a:rPr>
              <a:t>Simulation passing is a hypothesis. That goes double for code you did not write.</a:t>
            </a:r>
          </a:p>
        </p:txBody>
      </p:sp>
      <p:sp>
        <p:nvSpPr>
          <p:cNvPr id="23" name="Rectangle 22"/>
          <p:cNvSpPr/>
          <p:nvPr/>
        </p:nvSpPr>
        <p:spPr>
          <a:xfrm>
            <a:off x="548640" y="6236207"/>
            <a:ext cx="11064240" cy="566928"/>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dirty="0">
                <a:solidFill>
                  <a:srgbClr val="F2F2F2"/>
                </a:solidFill>
                <a:latin typeface="Aptos"/>
              </a:rPr>
              <a:t>And: 1972 engineers did all of this with 3,500 transistors, no simulator, and one shot at the mask.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extBox 1"/>
          <p:cNvSpPr txBox="1"/>
          <p:nvPr/>
        </p:nvSpPr>
        <p:spPr>
          <a:xfrm>
            <a:off x="502920" y="1737360"/>
            <a:ext cx="11155680" cy="914400"/>
          </a:xfrm>
          <a:prstGeom prst="rect">
            <a:avLst/>
          </a:prstGeom>
          <a:noFill/>
        </p:spPr>
        <p:txBody>
          <a:bodyPr wrap="square">
            <a:spAutoFit/>
          </a:bodyPr>
          <a:lstStyle/>
          <a:p>
            <a:r>
              <a:rPr sz="4400" b="1">
                <a:solidFill>
                  <a:srgbClr val="F2F2F2"/>
                </a:solidFill>
                <a:latin typeface="Aptos"/>
              </a:rPr>
              <a:t>Questions?</a:t>
            </a:r>
          </a:p>
        </p:txBody>
      </p:sp>
      <p:sp>
        <p:nvSpPr>
          <p:cNvPr id="3" name="Rectangle 2"/>
          <p:cNvSpPr/>
          <p:nvPr/>
        </p:nvSpPr>
        <p:spPr>
          <a:xfrm>
            <a:off x="548640" y="2450591"/>
            <a:ext cx="1463040" cy="508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attice_logo_ondark.png"/>
          <p:cNvPicPr>
            <a:picLocks noChangeAspect="1"/>
          </p:cNvPicPr>
          <p:nvPr/>
        </p:nvPicPr>
        <p:blipFill>
          <a:blip r:embed="rId3"/>
          <a:stretch>
            <a:fillRect/>
          </a:stretch>
        </p:blipFill>
        <p:spPr>
          <a:xfrm>
            <a:off x="9982462" y="320040"/>
            <a:ext cx="1706313" cy="310896"/>
          </a:xfrm>
          <a:prstGeom prst="rect">
            <a:avLst/>
          </a:prstGeom>
          <a:effectLst/>
        </p:spPr>
      </p:pic>
      <p:sp>
        <p:nvSpPr>
          <p:cNvPr id="5" name="TextBox 4"/>
          <p:cNvSpPr txBox="1"/>
          <p:nvPr/>
        </p:nvSpPr>
        <p:spPr>
          <a:xfrm>
            <a:off x="548640" y="2880360"/>
            <a:ext cx="6583680" cy="3017520"/>
          </a:xfrm>
          <a:prstGeom prst="rect">
            <a:avLst/>
          </a:prstGeom>
          <a:noFill/>
        </p:spPr>
        <p:txBody>
          <a:bodyPr wrap="square">
            <a:spAutoFit/>
          </a:bodyPr>
          <a:lstStyle/>
          <a:p>
            <a:pPr>
              <a:spcAft>
                <a:spcPts val="1300"/>
              </a:spcAft>
            </a:pPr>
            <a:r>
              <a:rPr sz="1550" b="0">
                <a:solidFill>
                  <a:srgbClr val="F2F2F2"/>
                </a:solidFill>
                <a:latin typeface="Aptos"/>
              </a:rPr>
              <a:t>Robert Rico</a:t>
            </a:r>
          </a:p>
          <a:p>
            <a:pPr>
              <a:spcAft>
                <a:spcPts val="1300"/>
              </a:spcAft>
            </a:pPr>
            <a:r>
              <a:rPr sz="1550" b="0">
                <a:solidFill>
                  <a:srgbClr val="F2F2F2"/>
                </a:solidFill>
                <a:latin typeface="Aptos"/>
              </a:rPr>
              <a:t>Everything is open: </a:t>
            </a:r>
            <a:r>
              <a:rPr sz="1550" b="1">
                <a:solidFill>
                  <a:srgbClr val="F2F2F2"/>
                </a:solidFill>
                <a:latin typeface="Aptos"/>
              </a:rPr>
              <a:t>VHDL, testbenches, the Makefile, the bug reports.</a:t>
            </a:r>
          </a:p>
          <a:p>
            <a:pPr>
              <a:spcAft>
                <a:spcPts val="1300"/>
              </a:spcAft>
            </a:pPr>
            <a:r>
              <a:rPr sz="1550" b="0">
                <a:solidFill>
                  <a:srgbClr val="F2F2F2"/>
                </a:solidFill>
                <a:latin typeface="Aptos"/>
              </a:rPr>
              <a:t>Start here: </a:t>
            </a:r>
            <a:r>
              <a:rPr sz="1550" b="1">
                <a:solidFill>
                  <a:srgbClr val="F2F2F2"/>
                </a:solidFill>
                <a:latin typeface="Aptos"/>
              </a:rPr>
              <a:t>“Getting Started with FPGAs”</a:t>
            </a:r>
            <a:r>
              <a:rPr sz="1550" b="0">
                <a:solidFill>
                  <a:srgbClr val="F2F2F2"/>
                </a:solidFill>
                <a:latin typeface="Aptos"/>
              </a:rPr>
              <a:t> — Russell Merrick, No Starch Press</a:t>
            </a:r>
          </a:p>
          <a:p>
            <a:pPr>
              <a:spcAft>
                <a:spcPts val="1300"/>
              </a:spcAft>
            </a:pPr>
            <a:r>
              <a:rPr sz="1550" b="0">
                <a:solidFill>
                  <a:srgbClr val="F2F2F2"/>
                </a:solidFill>
                <a:latin typeface="Aptos"/>
              </a:rPr>
              <a:t>Toolchain: GHDL · Yosys · nextpnr · Project Trellis · openFPGALoader</a:t>
            </a:r>
          </a:p>
          <a:p>
            <a:pPr>
              <a:spcAft>
                <a:spcPts val="1300"/>
              </a:spcAft>
            </a:pPr>
            <a:r>
              <a:rPr sz="1550" b="0">
                <a:solidFill>
                  <a:srgbClr val="F2F2F2"/>
                </a:solidFill>
                <a:latin typeface="Aptos"/>
              </a:rPr>
              <a:t>Period software: Mike Willegal’s SCELBI archive · SCELBAL port by Jim Loos</a:t>
            </a:r>
          </a:p>
        </p:txBody>
      </p:sp>
      <p:sp>
        <p:nvSpPr>
          <p:cNvPr id="6" name="Rectangle 5"/>
          <p:cNvSpPr/>
          <p:nvPr/>
        </p:nvSpPr>
        <p:spPr>
          <a:xfrm>
            <a:off x="548640" y="5943600"/>
            <a:ext cx="6583680" cy="73152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F2F2F2"/>
                </a:solidFill>
                <a:latin typeface="Aptos"/>
              </a:rPr>
              <a:t>The board stays up afterwards — come type at it.</a:t>
            </a:r>
          </a:p>
        </p:txBody>
      </p:sp>
      <p:pic>
        <p:nvPicPr>
          <p:cNvPr id="7" name="Picture 6" descr="tiny_os_scelbal.png"/>
          <p:cNvPicPr>
            <a:picLocks noChangeAspect="1"/>
          </p:cNvPicPr>
          <p:nvPr/>
        </p:nvPicPr>
        <p:blipFill>
          <a:blip r:embed="rId4"/>
          <a:stretch>
            <a:fillRect/>
          </a:stretch>
        </p:blipFill>
        <p:spPr>
          <a:xfrm>
            <a:off x="7498079" y="2377440"/>
            <a:ext cx="4297680" cy="3007887"/>
          </a:xfrm>
          <a:prstGeom prst="rect">
            <a:avLst/>
          </a:prstGeom>
          <a:ln w="9525">
            <a:solidFill>
              <a:srgbClr val="8D8D8D"/>
            </a:solidFill>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8059</Words>
  <Application>Microsoft Macintosh PowerPoint</Application>
  <PresentationFormat>Widescreen</PresentationFormat>
  <Paragraphs>650</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Mono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Robert Rico</cp:lastModifiedBy>
  <cp:revision>2</cp:revision>
  <dcterms:created xsi:type="dcterms:W3CDTF">2013-01-27T09:14:16Z</dcterms:created>
  <dcterms:modified xsi:type="dcterms:W3CDTF">2026-08-09T15:31:30Z</dcterms:modified>
  <cp:category/>
</cp:coreProperties>
</file>